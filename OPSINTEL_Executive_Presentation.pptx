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is OPSINTEL — our AI-Powered Automated IT Operations Reporting platform.</a:t>
            </a:r>
          </a:p>
          <a:p/>
          <a:p>
            <a:r>
              <a:t>What you'll see today is a Proof of Concept that demonstrates how we can transform the way we produce and consume operational intelligence.</a:t>
            </a:r>
          </a:p>
          <a:p/>
          <a:p>
            <a:r>
              <a:t>The core idea: take all of our fragmented ITSM data — incidents, problems, changes, SLAs — and automatically turn it into consistent, executive-ready reporting with AI-powered analysis.</a:t>
            </a:r>
          </a:p>
          <a:p/>
          <a:p>
            <a:r>
              <a:t>After this presentation, I'll show you the live system in 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point here is that our problem isn't a lack of data. The problem is the manual work required to turn that data into consistent management information.</a:t>
            </a:r>
          </a:p>
          <a:p/>
          <a:p>
            <a:r>
              <a:t>Today, producing an operational report means: someone collects data from incident queues, problem backlog, change records, and SLA trackers. They consolidate it in spreadsheets. They calculate KPIs manually. They write analysis. They format a report. They distribute it.</a:t>
            </a:r>
          </a:p>
          <a:p/>
          <a:p>
            <a:r>
              <a:t>This takes hours. It's inconsistent between teams and time periods. And by the time leadership sees it, the data is already stale.</a:t>
            </a:r>
          </a:p>
          <a:p/>
          <a:p>
            <a:r>
              <a:t>Let me show you why this matters beyond just reporting effort.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of manual reporting goes beyond just person-hours.</a:t>
            </a:r>
          </a:p>
          <a:p/>
          <a:p>
            <a:r>
              <a:t>When reporting is manual, it's inconsistent — different people calculate metrics differently. It's delayed — by the time the report reaches leadership, the operational picture has already changed. And it lacks context — without cross-domain analysis, you see numbers but not the story behind them.</a:t>
            </a:r>
          </a:p>
          <a:p/>
          <a:p>
            <a:r>
              <a:t>The fundamental problem: leadership receives information later than the operation generates it.</a:t>
            </a:r>
          </a:p>
          <a:p/>
          <a:p>
            <a:r>
              <a:t>What we want is simple: when an operational event happens, leadership should see it through automated intelligence — not through a manual reporting chain.</a:t>
            </a:r>
          </a:p>
          <a:p/>
          <a:p>
            <a:r>
              <a:t>That's what OPSINTEL delivers. Let me show you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OPSINTEL. Instead of a manual process, we've automated the entire reporting lifecycle.</a:t>
            </a:r>
          </a:p>
          <a:p/>
          <a:p>
            <a:r>
              <a:t>ITSM data — incidents, problems, changes, SLAs — is ingested, normalized into a canonical data model, analyzed through a deterministic KPI engine, enriched with AI-powered interpretation, formatted into executive reports, and delivered on schedule.</a:t>
            </a:r>
          </a:p>
          <a:p/>
          <a:p>
            <a:r>
              <a:t>Three key design principles:</a:t>
            </a:r>
          </a:p>
          <a:p>
            <a:r>
              <a:t>1. Deterministic KPIs — the same calculation, every time, no human variance.</a:t>
            </a:r>
          </a:p>
          <a:p>
            <a:r>
              <a:t>2. AI Interpretation — Google Gemini doesn't replace the metrics, it explains them in executive-ready language.</a:t>
            </a:r>
          </a:p>
          <a:p>
            <a:r>
              <a:t>3. Automated Delivery — reports generate and deliver themselves to Slack, Teams, or PDF.</a:t>
            </a:r>
          </a:p>
          <a:p/>
          <a:p>
            <a:r>
              <a:t>This is the strongest slide in terms of our value proposition. Let me walk you through what the system actually consolidates.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OPSINTEL consolidates six operational domains into a single intelligence platform.</a:t>
            </a:r>
          </a:p>
          <a:p/>
          <a:p>
            <a:r>
              <a:t>Incidents, problems, changes, services, SLAs, and operational trends all flow into the same canonical data model. From there, the system produces four outputs: an interactive dashboard, AI-powered insights, automated executive reports, and scheduled automation.</a:t>
            </a:r>
          </a:p>
          <a:p/>
          <a:p>
            <a:r>
              <a:t>For this POC, we've loaded a substantial synthetic dataset — over 30,000 incidents, 2,900 problems, 7,000 changes, and 12,500 SLA records across 20 enterprise services. This gives the system realistic data density to demonstrate real analytical value.</a:t>
            </a:r>
          </a:p>
          <a:p/>
          <a:p>
            <a:r>
              <a:t>Now let me explain how the system actually processes this data end-to-end.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end-to-end data flow at a conceptual level.</a:t>
            </a:r>
          </a:p>
          <a:p/>
          <a:p>
            <a:r>
              <a:t>Starting from the top: data enters through CSV upload — in production, this would connect to ServiceNow or other ITSM tools. The ingestion layer auto-detects what kind of data it is — incidents, problems, changes, or SLAs — and normalizes it into our canonical data model.</a:t>
            </a:r>
          </a:p>
          <a:p/>
          <a:p>
            <a:r>
              <a:t>From there, the deterministic KPI engine computes consistent metrics: a composite health score, MTTR, SLA compliance rates, change success rates, and problem backlog age. These are facts — the same calculation every time.</a:t>
            </a:r>
          </a:p>
          <a:p/>
          <a:p>
            <a:r>
              <a:t>The correlation engine then looks for patterns, like incidents that occurred shortly after a change on the same service. </a:t>
            </a:r>
          </a:p>
          <a:p/>
          <a:p>
            <a:r>
              <a:t>AI interpretation — using Google Gemini — then explains what these facts mean in executive-ready language. </a:t>
            </a:r>
          </a:p>
          <a:p/>
          <a:p>
            <a:r>
              <a:t>Finally, the reporting layer formats everything into dashboard views and PDF reports, and the scheduler automates delivery on daily, weekly, and monthly cycles.</a:t>
            </a:r>
          </a:p>
          <a:p/>
          <a:p>
            <a:r>
              <a:t>Now let me focus specifically on where AI adds value — this is a critical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arguably the most important slide in the presentation.</a:t>
            </a:r>
          </a:p>
          <a:p/>
          <a:p>
            <a:r>
              <a:t>We need to be very clear about what AI does and doesn't do in OPSINTEL.</a:t>
            </a:r>
          </a:p>
          <a:p/>
          <a:p>
            <a:r>
              <a:t>The facts — SLA compliance at 91%, MTTR at 9.63 hours, 464 active P1 incidents — these are computed deterministically. Same data, same calculation, same result every time. There's no AI involved in producing these numbers.</a:t>
            </a:r>
          </a:p>
          <a:p/>
          <a:p>
            <a:r>
              <a:t>What AI does is interpret those facts in executive-ready language. It identifies that the SLA breaches are concentrated in Payment Gateway and Database services. It correlates this with the volume of emergency changes. It forecasts risk.</a:t>
            </a:r>
          </a:p>
          <a:p/>
          <a:p>
            <a:r>
              <a:t>The management value is clear: instead of a table of numbers, leadership gets actionable recommendations — prioritize these services, freeze changes here, deploy swarming teams there.</a:t>
            </a:r>
          </a:p>
          <a:p/>
          <a:p>
            <a:r>
              <a:t>This is the critical design principle: facts are deterministic, AI adds context.</a:t>
            </a:r>
          </a:p>
          <a:p/>
          <a:p>
            <a:r>
              <a:t>Let me now show you the interactive AI assistant.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assistant allows anyone to ask operational questions in plain English.</a:t>
            </a:r>
          </a:p>
          <a:p/>
          <a:p>
            <a:r>
              <a:t>Instead of digging through dashboards or asking someone to pull data, you can simply ask: 'Why did incidents increase this week?' — and the AI responds with evidence-grounded answers based on the actual current operational metrics.</a:t>
            </a:r>
          </a:p>
          <a:p/>
          <a:p>
            <a:r>
              <a:t>Key design decisions:</a:t>
            </a:r>
          </a:p>
          <a:p>
            <a:r>
              <a:t>- Every answer is grounded in the same canonical KPI data. The AI cannot invent numbers — it only references what's in the database.</a:t>
            </a:r>
          </a:p>
          <a:p>
            <a:r>
              <a:t>- The assistant is role-aware: admins can discuss system configuration, viewers get read-only insights.</a:t>
            </a:r>
          </a:p>
          <a:p>
            <a:r>
              <a:t>- It can generate RCA reports for specific incidents, correlating them with recent changes.</a:t>
            </a:r>
          </a:p>
          <a:p/>
          <a:p>
            <a:r>
              <a:t>I'll demonstrate this live in the demo. For now, let me show you the executive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representation of the OPSINTEL dashboard. You'll see the actual live dashboard in the demo.</a:t>
            </a:r>
          </a:p>
          <a:p/>
          <a:p>
            <a:r>
              <a:t>Key sections:</a:t>
            </a:r>
          </a:p>
          <a:p>
            <a:r>
              <a:t>- Top left: Operational Health Score — a composite gauge from 0 to 100 based on SLA compliance, active P1s, problem backlog, and change success rate.</a:t>
            </a:r>
          </a:p>
          <a:p>
            <a:r>
              <a:t>- Top center: KPI cards showing total incidents, open backlog, MTTR, SLA compliance, and change success rate.</a:t>
            </a:r>
          </a:p>
          <a:p>
            <a:r>
              <a:t>- Middle: Trend charts showing incident and change volumes over the past 14 days.</a:t>
            </a:r>
          </a:p>
          <a:p>
            <a:r>
              <a:t>- Bottom left: Service Health Grid — every monitored service with its current status.</a:t>
            </a:r>
          </a:p>
          <a:p>
            <a:r>
              <a:t>- Bottom right: AI Insights panel — predictive risk forecasting and pattern detection.</a:t>
            </a:r>
          </a:p>
          <a:p/>
          <a:p>
            <a:r>
              <a:t>The dashboard is live. WebSocket connections push new incident events to the UI in real-time. You'll see this in action during the demo.</a:t>
            </a:r>
          </a:p>
          <a:p/>
          <a:p>
            <a:r>
              <a:t>Don't study every number here — you'll see the real dashboard momentarily. Let me now show the automated reporting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in OPSINTEL runs at three cadences: daily, weekly, and monthly. Each produces a 10-section executive report.</a:t>
            </a:r>
          </a:p>
          <a:p/>
          <a:p>
            <a:r>
              <a:t>The automated pipeline is simple: a schedule trigger fires, the analytics engine computes fresh KPIs, AI synthesizes the executive narrative, the report is generated in both Markdown and PDF formats, and notifications are dispatched to Slack and Teams.</a:t>
            </a:r>
          </a:p>
          <a:p/>
          <a:p>
            <a:r>
              <a:t>The same pipeline can be triggered manually — via the dashboard or the API — or it runs automatically on schedule.</a:t>
            </a:r>
          </a:p>
          <a:p/>
          <a:p>
            <a:r>
              <a:t>The scheduler maintains a complete execution history, so you can audit exactly when each report was generated and what was dispatched.</a:t>
            </a:r>
          </a:p>
          <a:p/>
          <a:p>
            <a:r>
              <a:t>The key message: the same reporting pipeline works whether you trigger it manually or let it run automatically. Consistency is guaranteed.</a:t>
            </a:r>
          </a:p>
          <a:p/>
          <a:p>
            <a:r>
              <a:t>Let me show you what an actual generated report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generated report follows a 10-section structure — from AI Executive Summary through to a remediation roadmap with linked Obsidian runbooks.</a:t>
            </a:r>
          </a:p>
          <a:p/>
          <a:p>
            <a:r>
              <a:t>The report is generated in both Markdown and PDF formats. The AI writes the executive summary dynamically based on the current operational metrics, while the KPI tables, trend charts, and service scorecards are deterministically generated from the same analytics engine that powers the dashboard.</a:t>
            </a:r>
          </a:p>
          <a:p/>
          <a:p>
            <a:r>
              <a:t>This is important: the dashboard and the reports share the same calculation engine. If you see a number on the dashboard, it matches the report. Consistency is guaranteed by design, not by manual cross-checking.</a:t>
            </a:r>
          </a:p>
          <a:p/>
          <a:p>
            <a:r>
              <a:t>During the demo, I'll generate a report live and open the PDF.</a:t>
            </a:r>
          </a:p>
          <a:p/>
          <a:p>
            <a:r>
              <a:t>Now let me show the notification and integration layer.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what's actually connected and what's architected for the future. Transparency is important.</a:t>
            </a:r>
          </a:p>
          <a:p/>
          <a:p>
            <a:r>
              <a:t>Data Input: Currently, data enters through CSV upload. The architecture supports ServiceNow API integration — the code structure is ready for it, but it's not connected in this POC. Future sources like Jira and observability tools can be added.</a:t>
            </a:r>
          </a:p>
          <a:p/>
          <a:p>
            <a:r>
              <a:t>Processing: The core pipeline — ingestion, validation, KPI engine, AI synthesis, correlation analysis, and report generation — is fully implemented and functional.</a:t>
            </a:r>
          </a:p>
          <a:p/>
          <a:p>
            <a:r>
              <a:t>Delivery: The dashboard and PDF reports are fully working. Slack and Teams integration code is written using Block Kit and Adaptive Cards respectively, and webhook URLs are configurable from the UI. Email is logged but doesn't send via SMTP yet.</a:t>
            </a:r>
          </a:p>
          <a:p/>
          <a:p>
            <a:r>
              <a:t>The key message: the architecture is extensible. Adding a new data source or delivery channel doesn't require rebuilding the system.</a:t>
            </a:r>
          </a:p>
          <a:p/>
          <a:p>
            <a:r>
              <a:t>Now let's talk about the business value this delivers.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value is straightforward.</a:t>
            </a:r>
          </a:p>
          <a:p/>
          <a:p>
            <a:r>
              <a:t>Before OPSINTEL: every aspect of operational reporting was manual. Collection, calculation, analysis, writing, distribution — all done by people, resulting in inconsistency across teams and time periods.</a:t>
            </a:r>
          </a:p>
          <a:p/>
          <a:p>
            <a:r>
              <a:t>After OPSINTEL: each of those manual steps is automated. Ingestion is automated. KPIs are calculated deterministically. Trend analysis runs continuously. Reports are AI-assisted. Delivery is scheduled. And everything uses a single source of truth.</a:t>
            </a:r>
          </a:p>
          <a:p/>
          <a:p>
            <a:r>
              <a:t>The outcomes:</a:t>
            </a:r>
          </a:p>
          <a:p>
            <a:r>
              <a:t>- Less manual effort — what used to take hours now runs automatically.</a:t>
            </a:r>
          </a:p>
          <a:p>
            <a:r>
              <a:t>- More consistent reporting — the same calculation every time.</a:t>
            </a:r>
          </a:p>
          <a:p>
            <a:r>
              <a:t>- Faster executive visibility — reports generate within seconds, not days.</a:t>
            </a:r>
          </a:p>
          <a:p>
            <a:r>
              <a:t>- Better operational context — AI connects the dots across domains.</a:t>
            </a:r>
          </a:p>
          <a:p/>
          <a:p>
            <a:r>
              <a:t>Now let me briefly touch on governance and trust, which matters for leadership adoption.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without trust doesn't get adopted. OPSINTEL is designed with six trust principles.</a:t>
            </a:r>
          </a:p>
          <a:p/>
          <a:p>
            <a:r>
              <a:t>1. Data Quality — every CSV upload is validated, schema is normalized, entity types are auto-detected. Bad data doesn't silently corrupt metrics.</a:t>
            </a:r>
          </a:p>
          <a:p/>
          <a:p>
            <a:r>
              <a:t>2. Deterministic KPIs — the health score, MTTR, SLA compliance, and change success rate are calculated the same way every time. No human variance.</a:t>
            </a:r>
          </a:p>
          <a:p/>
          <a:p>
            <a:r>
              <a:t>3. Evidence Grounding — when the AI assistant answers a question, it references actual metrics from the database. It can't invent numbers.</a:t>
            </a:r>
          </a:p>
          <a:p/>
          <a:p>
            <a:r>
              <a:t>4. AI Interpretation — Gemini adds executive-ready language and context, but the underlying facts are always deterministic.</a:t>
            </a:r>
          </a:p>
          <a:p/>
          <a:p>
            <a:r>
              <a:t>5. Audit Trail — every scheduled run, every generated report, every manual trigger is logged with timestamps and delivery status.</a:t>
            </a:r>
          </a:p>
          <a:p/>
          <a:p>
            <a:r>
              <a:t>6. Secure Access — JWT-based authentication with role-based access control. Admins can trigger reports and manage data. Viewers get read-only dashboard access.</a:t>
            </a:r>
          </a:p>
          <a:p/>
          <a:p>
            <a:r>
              <a:t>This isn't a technical security slide — it's a trust slide. Leadership can rely on the numbers because the system is designed for consistency and transparency.</a:t>
            </a:r>
          </a:p>
          <a:p/>
          <a:p>
            <a:r>
              <a:t>Now, let me set up the transition to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transition slide to the live demo.</a:t>
            </a:r>
          </a:p>
          <a:p/>
          <a:p>
            <a:r>
              <a:t>On the left: the demo flow I'll walk you through momentarily. We'll open the dashboard, upload data, watch it update in real-time, explore metrics across all ITSM domains, interact with the AI assistant, generate a report, review the scheduler, and show notification configuration.</a:t>
            </a:r>
          </a:p>
          <a:p/>
          <a:p>
            <a:r>
              <a:t>On the right: where OPSINTEL can go from here. The architecture already supports extending data sources beyond CSV — ServiceNow API integration, additional ITSM platforms, observability tools. Future capabilities include predictive intelligence using ML models, advanced AI agents, enterprise-scale deployment, and mobile leadership views.</a:t>
            </a:r>
          </a:p>
          <a:p/>
          <a:p>
            <a:r>
              <a:t>The distinction is clear: the left side is what we've built. The right side is where it can go.</a:t>
            </a:r>
          </a:p>
          <a:p/>
          <a:p>
            <a:r>
              <a:t>Rather than showing you another architecture diagram, let me show you the system actually working.</a:t>
            </a:r>
          </a:p>
          <a:p/>
          <a:p>
            <a:r>
              <a:t>[TRANSITION TO LIVE DEMO]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is simple.</a:t>
            </a:r>
          </a:p>
          <a:p/>
          <a:p>
            <a:r>
              <a:t>Today, operational reporting tells leadership what happened — after the fact, through manual effort.</a:t>
            </a:r>
          </a:p>
          <a:p/>
          <a:p>
            <a:r>
              <a:t>OPSINTEL moves us from reporting what happened to understanding what matters next.</a:t>
            </a:r>
          </a:p>
          <a:p/>
          <a:p>
            <a:r>
              <a:t>Data becomes intelligence. Intelligence informs decisions. Decisions drive action.</a:t>
            </a:r>
          </a:p>
          <a:p/>
          <a:p>
            <a:r>
              <a:t>Thank you. Let's move to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50800" cy="32004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1097280"/>
          </a:xfrm>
          <a:prstGeom prst="rect">
            <a:avLst/>
          </a:prstGeom>
          <a:noFill/>
        </p:spPr>
        <p:txBody>
          <a:bodyPr wrap="square">
            <a:spAutoFit/>
          </a:bodyPr>
          <a:lstStyle/>
          <a:p>
            <a:pPr algn="l"/>
            <a:r>
              <a:rPr sz="6000" b="1">
                <a:solidFill>
                  <a:srgbClr val="FFFFFF"/>
                </a:solidFill>
                <a:latin typeface="Calibri Light"/>
              </a:rPr>
              <a:t>OPSINTEL</a:t>
            </a:r>
          </a:p>
        </p:txBody>
      </p:sp>
      <p:sp>
        <p:nvSpPr>
          <p:cNvPr id="5" name="TextBox 4"/>
          <p:cNvSpPr txBox="1"/>
          <p:nvPr/>
        </p:nvSpPr>
        <p:spPr>
          <a:xfrm>
            <a:off x="1371600" y="2743200"/>
            <a:ext cx="9144000" cy="548640"/>
          </a:xfrm>
          <a:prstGeom prst="rect">
            <a:avLst/>
          </a:prstGeom>
          <a:noFill/>
        </p:spPr>
        <p:txBody>
          <a:bodyPr wrap="square">
            <a:spAutoFit/>
          </a:bodyPr>
          <a:lstStyle/>
          <a:p>
            <a:pPr algn="l"/>
            <a:r>
              <a:rPr sz="2400" b="0">
                <a:solidFill>
                  <a:srgbClr val="009EFF"/>
                </a:solidFill>
                <a:latin typeface="Calibri"/>
              </a:rPr>
              <a:t>AI-Powered Automated IT Operations Reporting</a:t>
            </a:r>
          </a:p>
        </p:txBody>
      </p:sp>
      <p:sp>
        <p:nvSpPr>
          <p:cNvPr id="6" name="TextBox 5"/>
          <p:cNvSpPr txBox="1"/>
          <p:nvPr/>
        </p:nvSpPr>
        <p:spPr>
          <a:xfrm>
            <a:off x="1371600" y="3474720"/>
            <a:ext cx="8229600" cy="731520"/>
          </a:xfrm>
          <a:prstGeom prst="rect">
            <a:avLst/>
          </a:prstGeom>
          <a:noFill/>
        </p:spPr>
        <p:txBody>
          <a:bodyPr wrap="square">
            <a:spAutoFit/>
          </a:bodyPr>
          <a:lstStyle/>
          <a:p>
            <a:pPr algn="l"/>
            <a:r>
              <a:rPr sz="1400" b="0">
                <a:solidFill>
                  <a:srgbClr val="B0BCD0"/>
                </a:solidFill>
                <a:latin typeface="Calibri"/>
              </a:rPr>
              <a:t>Turning fragmented ITSM operational data into timely, consistent,
executive-ready intelligence.</a:t>
            </a:r>
          </a:p>
        </p:txBody>
      </p:sp>
      <p:sp>
        <p:nvSpPr>
          <p:cNvPr id="7" name="Rectangle 6"/>
          <p:cNvSpPr/>
          <p:nvPr/>
        </p:nvSpPr>
        <p:spPr>
          <a:xfrm>
            <a:off x="0" y="6126480"/>
            <a:ext cx="12191695" cy="731520"/>
          </a:xfrm>
          <a:prstGeom prst="rect">
            <a:avLst/>
          </a:prstGeom>
          <a:solidFill>
            <a:srgbClr val="10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263640"/>
            <a:ext cx="4572000" cy="365760"/>
          </a:xfrm>
          <a:prstGeom prst="rect">
            <a:avLst/>
          </a:prstGeom>
          <a:noFill/>
        </p:spPr>
        <p:txBody>
          <a:bodyPr wrap="square">
            <a:spAutoFit/>
          </a:bodyPr>
          <a:lstStyle/>
          <a:p>
            <a:pPr algn="l"/>
            <a:r>
              <a:rPr sz="1100" b="0">
                <a:solidFill>
                  <a:srgbClr val="48526A"/>
                </a:solidFill>
                <a:latin typeface="Calibri"/>
              </a:rPr>
              <a:t>Proof of Concept  •  Executive Presentation</a:t>
            </a:r>
          </a:p>
        </p:txBody>
      </p:sp>
      <p:sp>
        <p:nvSpPr>
          <p:cNvPr id="9" name="TextBox 8"/>
          <p:cNvSpPr txBox="1"/>
          <p:nvPr/>
        </p:nvSpPr>
        <p:spPr>
          <a:xfrm>
            <a:off x="7315200" y="6263640"/>
            <a:ext cx="3657600" cy="365760"/>
          </a:xfrm>
          <a:prstGeom prst="rect">
            <a:avLst/>
          </a:prstGeom>
          <a:noFill/>
        </p:spPr>
        <p:txBody>
          <a:bodyPr wrap="square">
            <a:spAutoFit/>
          </a:bodyPr>
          <a:lstStyle/>
          <a:p>
            <a:pPr algn="r"/>
            <a:r>
              <a:rPr sz="1100" b="0">
                <a:solidFill>
                  <a:srgbClr val="48526A"/>
                </a:solidFill>
                <a:latin typeface="Calibri"/>
              </a:rPr>
              <a:t>August 2026</a:t>
            </a:r>
          </a:p>
        </p:txBody>
      </p:sp>
      <p:sp>
        <p:nvSpPr>
          <p:cNvPr id="10" name="Rounded Rectangle 9"/>
          <p:cNvSpPr/>
          <p:nvPr/>
        </p:nvSpPr>
        <p:spPr>
          <a:xfrm>
            <a:off x="1371600" y="4389120"/>
            <a:ext cx="128016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a:solidFill>
                  <a:srgbClr val="FFFFFF"/>
                </a:solidFill>
                <a:latin typeface="Calibri"/>
              </a:rPr>
              <a:t>POC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Operational Reporting Is Still Too Manual</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554480"/>
            <a:ext cx="2926080" cy="411480"/>
          </a:xfrm>
          <a:prstGeom prst="roundRect">
            <a:avLst/>
          </a:prstGeom>
          <a:solidFill>
            <a:srgbClr val="1A2035"/>
          </a:solidFill>
          <a:ln w="12700">
            <a:solidFill>
              <a:srgbClr val="707E9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B0BCD0"/>
                </a:solidFill>
                <a:latin typeface="Calibri"/>
              </a:rPr>
              <a:t>Incidents  •  Problems  •  Changes  •  SLAs</a:t>
            </a:r>
          </a:p>
        </p:txBody>
      </p:sp>
      <p:sp>
        <p:nvSpPr>
          <p:cNvPr id="6" name="Down Arrow 5"/>
          <p:cNvSpPr/>
          <p:nvPr/>
        </p:nvSpPr>
        <p:spPr>
          <a:xfrm>
            <a:off x="2450592" y="1991360"/>
            <a:ext cx="219456" cy="219456"/>
          </a:xfrm>
          <a:prstGeom prst="down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2148840"/>
            <a:ext cx="2926080" cy="411480"/>
          </a:xfrm>
          <a:prstGeom prst="roundRect">
            <a:avLst/>
          </a:prstGeom>
          <a:solidFill>
            <a:srgbClr val="2A305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Manual Data Collection</a:t>
            </a:r>
          </a:p>
        </p:txBody>
      </p:sp>
      <p:sp>
        <p:nvSpPr>
          <p:cNvPr id="8" name="Down Arrow 7"/>
          <p:cNvSpPr/>
          <p:nvPr/>
        </p:nvSpPr>
        <p:spPr>
          <a:xfrm>
            <a:off x="2450592" y="2585720"/>
            <a:ext cx="219456" cy="219456"/>
          </a:xfrm>
          <a:prstGeom prst="down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2743200"/>
            <a:ext cx="2926080" cy="411480"/>
          </a:xfrm>
          <a:prstGeom prst="roundRect">
            <a:avLst/>
          </a:prstGeom>
          <a:solidFill>
            <a:srgbClr val="2A305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Spreadsheet Consolidation</a:t>
            </a:r>
          </a:p>
        </p:txBody>
      </p:sp>
      <p:sp>
        <p:nvSpPr>
          <p:cNvPr id="10" name="Down Arrow 9"/>
          <p:cNvSpPr/>
          <p:nvPr/>
        </p:nvSpPr>
        <p:spPr>
          <a:xfrm>
            <a:off x="2450592" y="3180080"/>
            <a:ext cx="219456" cy="219456"/>
          </a:xfrm>
          <a:prstGeom prst="down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97280" y="3337560"/>
            <a:ext cx="2926080" cy="411480"/>
          </a:xfrm>
          <a:prstGeom prst="roundRect">
            <a:avLst/>
          </a:prstGeom>
          <a:solidFill>
            <a:srgbClr val="2A305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Manual KPI Calculation</a:t>
            </a:r>
          </a:p>
        </p:txBody>
      </p:sp>
      <p:sp>
        <p:nvSpPr>
          <p:cNvPr id="12" name="Down Arrow 11"/>
          <p:cNvSpPr/>
          <p:nvPr/>
        </p:nvSpPr>
        <p:spPr>
          <a:xfrm>
            <a:off x="2450592" y="3774440"/>
            <a:ext cx="219456" cy="219456"/>
          </a:xfrm>
          <a:prstGeom prst="down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7280" y="3931920"/>
            <a:ext cx="2926080" cy="411480"/>
          </a:xfrm>
          <a:prstGeom prst="roundRect">
            <a:avLst/>
          </a:prstGeom>
          <a:solidFill>
            <a:srgbClr val="2A305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Manual Analysis &amp; Report Writing</a:t>
            </a:r>
          </a:p>
        </p:txBody>
      </p:sp>
      <p:sp>
        <p:nvSpPr>
          <p:cNvPr id="14" name="Down Arrow 13"/>
          <p:cNvSpPr/>
          <p:nvPr/>
        </p:nvSpPr>
        <p:spPr>
          <a:xfrm>
            <a:off x="2450592" y="4368800"/>
            <a:ext cx="219456" cy="219456"/>
          </a:xfrm>
          <a:prstGeom prst="down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97280" y="4526280"/>
            <a:ext cx="2926080" cy="411480"/>
          </a:xfrm>
          <a:prstGeom prst="roundRect">
            <a:avLst/>
          </a:prstGeom>
          <a:solidFill>
            <a:srgbClr val="2A305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Manual Distribution</a:t>
            </a:r>
          </a:p>
        </p:txBody>
      </p:sp>
      <p:sp>
        <p:nvSpPr>
          <p:cNvPr id="16" name="TextBox 15"/>
          <p:cNvSpPr txBox="1"/>
          <p:nvPr/>
        </p:nvSpPr>
        <p:spPr>
          <a:xfrm>
            <a:off x="5943600" y="1554480"/>
            <a:ext cx="5029200" cy="457200"/>
          </a:xfrm>
          <a:prstGeom prst="rect">
            <a:avLst/>
          </a:prstGeom>
          <a:noFill/>
        </p:spPr>
        <p:txBody>
          <a:bodyPr wrap="square">
            <a:spAutoFit/>
          </a:bodyPr>
          <a:lstStyle/>
          <a:p>
            <a:pPr algn="l"/>
            <a:r>
              <a:rPr sz="1800" b="1">
                <a:solidFill>
                  <a:srgbClr val="F59E0B"/>
                </a:solidFill>
                <a:latin typeface="Calibri"/>
              </a:rPr>
              <a:t>The Result</a:t>
            </a:r>
          </a:p>
        </p:txBody>
      </p:sp>
      <p:sp>
        <p:nvSpPr>
          <p:cNvPr id="17" name="Rounded Rectangle 16"/>
          <p:cNvSpPr/>
          <p:nvPr/>
        </p:nvSpPr>
        <p:spPr>
          <a:xfrm>
            <a:off x="5943600" y="2194560"/>
            <a:ext cx="5029200" cy="64008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2240280"/>
            <a:ext cx="4572000" cy="320040"/>
          </a:xfrm>
          <a:prstGeom prst="rect">
            <a:avLst/>
          </a:prstGeom>
          <a:noFill/>
        </p:spPr>
        <p:txBody>
          <a:bodyPr wrap="square">
            <a:spAutoFit/>
          </a:bodyPr>
          <a:lstStyle/>
          <a:p>
            <a:pPr algn="l"/>
            <a:r>
              <a:rPr sz="1300" b="1">
                <a:solidFill>
                  <a:srgbClr val="FFFFFF"/>
                </a:solidFill>
                <a:latin typeface="Calibri"/>
              </a:rPr>
              <a:t>⏱  Hours of manual effort</a:t>
            </a:r>
          </a:p>
        </p:txBody>
      </p:sp>
      <p:sp>
        <p:nvSpPr>
          <p:cNvPr id="19" name="TextBox 18"/>
          <p:cNvSpPr txBox="1"/>
          <p:nvPr/>
        </p:nvSpPr>
        <p:spPr>
          <a:xfrm>
            <a:off x="6126480" y="2514600"/>
            <a:ext cx="4572000" cy="274320"/>
          </a:xfrm>
          <a:prstGeom prst="rect">
            <a:avLst/>
          </a:prstGeom>
          <a:noFill/>
        </p:spPr>
        <p:txBody>
          <a:bodyPr wrap="square">
            <a:spAutoFit/>
          </a:bodyPr>
          <a:lstStyle/>
          <a:p>
            <a:pPr algn="l"/>
            <a:r>
              <a:rPr sz="1000" b="0">
                <a:solidFill>
                  <a:srgbClr val="707E96"/>
                </a:solidFill>
                <a:latin typeface="Calibri"/>
              </a:rPr>
              <a:t>per reporting cycle</a:t>
            </a:r>
          </a:p>
        </p:txBody>
      </p:sp>
      <p:sp>
        <p:nvSpPr>
          <p:cNvPr id="20" name="Rounded Rectangle 19"/>
          <p:cNvSpPr/>
          <p:nvPr/>
        </p:nvSpPr>
        <p:spPr>
          <a:xfrm>
            <a:off x="5943600" y="2971800"/>
            <a:ext cx="5029200" cy="64008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3017520"/>
            <a:ext cx="4572000" cy="320040"/>
          </a:xfrm>
          <a:prstGeom prst="rect">
            <a:avLst/>
          </a:prstGeom>
          <a:noFill/>
        </p:spPr>
        <p:txBody>
          <a:bodyPr wrap="square">
            <a:spAutoFit/>
          </a:bodyPr>
          <a:lstStyle/>
          <a:p>
            <a:pPr algn="l"/>
            <a:r>
              <a:rPr sz="1300" b="1">
                <a:solidFill>
                  <a:srgbClr val="FFFFFF"/>
                </a:solidFill>
                <a:latin typeface="Calibri"/>
              </a:rPr>
              <a:t>⚠  Inconsistent calculations</a:t>
            </a:r>
          </a:p>
        </p:txBody>
      </p:sp>
      <p:sp>
        <p:nvSpPr>
          <p:cNvPr id="22" name="TextBox 21"/>
          <p:cNvSpPr txBox="1"/>
          <p:nvPr/>
        </p:nvSpPr>
        <p:spPr>
          <a:xfrm>
            <a:off x="6126480" y="3291840"/>
            <a:ext cx="4572000" cy="274320"/>
          </a:xfrm>
          <a:prstGeom prst="rect">
            <a:avLst/>
          </a:prstGeom>
          <a:noFill/>
        </p:spPr>
        <p:txBody>
          <a:bodyPr wrap="square">
            <a:spAutoFit/>
          </a:bodyPr>
          <a:lstStyle/>
          <a:p>
            <a:pPr algn="l"/>
            <a:r>
              <a:rPr sz="1000" b="0">
                <a:solidFill>
                  <a:srgbClr val="707E96"/>
                </a:solidFill>
                <a:latin typeface="Calibri"/>
              </a:rPr>
              <a:t>across teams &amp; periods</a:t>
            </a:r>
          </a:p>
        </p:txBody>
      </p:sp>
      <p:sp>
        <p:nvSpPr>
          <p:cNvPr id="23" name="Rounded Rectangle 22"/>
          <p:cNvSpPr/>
          <p:nvPr/>
        </p:nvSpPr>
        <p:spPr>
          <a:xfrm>
            <a:off x="5943600" y="3749040"/>
            <a:ext cx="5029200" cy="64008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3794760"/>
            <a:ext cx="4572000" cy="320040"/>
          </a:xfrm>
          <a:prstGeom prst="rect">
            <a:avLst/>
          </a:prstGeom>
          <a:noFill/>
        </p:spPr>
        <p:txBody>
          <a:bodyPr wrap="square">
            <a:spAutoFit/>
          </a:bodyPr>
          <a:lstStyle/>
          <a:p>
            <a:pPr algn="l"/>
            <a:r>
              <a:rPr sz="1300" b="1">
                <a:solidFill>
                  <a:srgbClr val="FFFFFF"/>
                </a:solidFill>
                <a:latin typeface="Calibri"/>
              </a:rPr>
              <a:t>📅  Delayed reporting</a:t>
            </a:r>
          </a:p>
        </p:txBody>
      </p:sp>
      <p:sp>
        <p:nvSpPr>
          <p:cNvPr id="25" name="TextBox 24"/>
          <p:cNvSpPr txBox="1"/>
          <p:nvPr/>
        </p:nvSpPr>
        <p:spPr>
          <a:xfrm>
            <a:off x="6126480" y="4069080"/>
            <a:ext cx="4572000" cy="274320"/>
          </a:xfrm>
          <a:prstGeom prst="rect">
            <a:avLst/>
          </a:prstGeom>
          <a:noFill/>
        </p:spPr>
        <p:txBody>
          <a:bodyPr wrap="square">
            <a:spAutoFit/>
          </a:bodyPr>
          <a:lstStyle/>
          <a:p>
            <a:pPr algn="l"/>
            <a:r>
              <a:rPr sz="1000" b="0">
                <a:solidFill>
                  <a:srgbClr val="707E96"/>
                </a:solidFill>
                <a:latin typeface="Calibri"/>
              </a:rPr>
              <a:t>days or weeks behind operations</a:t>
            </a:r>
          </a:p>
        </p:txBody>
      </p:sp>
      <p:sp>
        <p:nvSpPr>
          <p:cNvPr id="26" name="Rounded Rectangle 25"/>
          <p:cNvSpPr/>
          <p:nvPr/>
        </p:nvSpPr>
        <p:spPr>
          <a:xfrm>
            <a:off x="5943600" y="4526280"/>
            <a:ext cx="5029200" cy="64008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4572000"/>
            <a:ext cx="4572000" cy="320040"/>
          </a:xfrm>
          <a:prstGeom prst="rect">
            <a:avLst/>
          </a:prstGeom>
          <a:noFill/>
        </p:spPr>
        <p:txBody>
          <a:bodyPr wrap="square">
            <a:spAutoFit/>
          </a:bodyPr>
          <a:lstStyle/>
          <a:p>
            <a:pPr algn="l"/>
            <a:r>
              <a:rPr sz="1300" b="1">
                <a:solidFill>
                  <a:srgbClr val="FFFFFF"/>
                </a:solidFill>
                <a:latin typeface="Calibri"/>
              </a:rPr>
              <a:t>🔀  Fragmented operational view</a:t>
            </a:r>
          </a:p>
        </p:txBody>
      </p:sp>
      <p:sp>
        <p:nvSpPr>
          <p:cNvPr id="28" name="TextBox 27"/>
          <p:cNvSpPr txBox="1"/>
          <p:nvPr/>
        </p:nvSpPr>
        <p:spPr>
          <a:xfrm>
            <a:off x="6126480" y="4846320"/>
            <a:ext cx="4572000" cy="274320"/>
          </a:xfrm>
          <a:prstGeom prst="rect">
            <a:avLst/>
          </a:prstGeom>
          <a:noFill/>
        </p:spPr>
        <p:txBody>
          <a:bodyPr wrap="square">
            <a:spAutoFit/>
          </a:bodyPr>
          <a:lstStyle/>
          <a:p>
            <a:pPr algn="l"/>
            <a:r>
              <a:rPr sz="1000" b="0">
                <a:solidFill>
                  <a:srgbClr val="707E96"/>
                </a:solidFill>
                <a:latin typeface="Calibri"/>
              </a:rPr>
              <a:t>no single source of truth</a:t>
            </a:r>
          </a:p>
        </p:txBody>
      </p:sp>
      <p:sp>
        <p:nvSpPr>
          <p:cNvPr id="29" name="Rounded Rectangle 28"/>
          <p:cNvSpPr/>
          <p:nvPr/>
        </p:nvSpPr>
        <p:spPr>
          <a:xfrm>
            <a:off x="5943600" y="5303520"/>
            <a:ext cx="5029200" cy="64008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5349240"/>
            <a:ext cx="4572000" cy="320040"/>
          </a:xfrm>
          <a:prstGeom prst="rect">
            <a:avLst/>
          </a:prstGeom>
          <a:noFill/>
        </p:spPr>
        <p:txBody>
          <a:bodyPr wrap="square">
            <a:spAutoFit/>
          </a:bodyPr>
          <a:lstStyle/>
          <a:p>
            <a:pPr algn="l"/>
            <a:r>
              <a:rPr sz="1300" b="1">
                <a:solidFill>
                  <a:srgbClr val="FFFFFF"/>
                </a:solidFill>
                <a:latin typeface="Calibri"/>
              </a:rPr>
              <a:t>🔄  Repetitive work</a:t>
            </a:r>
          </a:p>
        </p:txBody>
      </p:sp>
      <p:sp>
        <p:nvSpPr>
          <p:cNvPr id="31" name="TextBox 30"/>
          <p:cNvSpPr txBox="1"/>
          <p:nvPr/>
        </p:nvSpPr>
        <p:spPr>
          <a:xfrm>
            <a:off x="6126480" y="5623560"/>
            <a:ext cx="4572000" cy="274320"/>
          </a:xfrm>
          <a:prstGeom prst="rect">
            <a:avLst/>
          </a:prstGeom>
          <a:noFill/>
        </p:spPr>
        <p:txBody>
          <a:bodyPr wrap="square">
            <a:spAutoFit/>
          </a:bodyPr>
          <a:lstStyle/>
          <a:p>
            <a:pPr algn="l"/>
            <a:r>
              <a:rPr sz="1000" b="0">
                <a:solidFill>
                  <a:srgbClr val="707E96"/>
                </a:solidFill>
                <a:latin typeface="Calibri"/>
              </a:rPr>
              <a:t>same process, every cycle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The Cost Isn't Just Reporting Effort</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2377440" cy="109728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1828800" cy="365760"/>
          </a:xfrm>
          <a:prstGeom prst="rect">
            <a:avLst/>
          </a:prstGeom>
          <a:noFill/>
        </p:spPr>
        <p:txBody>
          <a:bodyPr wrap="square">
            <a:spAutoFit/>
          </a:bodyPr>
          <a:lstStyle/>
          <a:p>
            <a:pPr algn="ctr"/>
            <a:r>
              <a:rPr sz="2800" b="0">
                <a:solidFill>
                  <a:srgbClr val="F59E0B"/>
                </a:solidFill>
                <a:latin typeface="Calibri"/>
              </a:rPr>
              <a:t>⏱</a:t>
            </a:r>
          </a:p>
        </p:txBody>
      </p:sp>
      <p:sp>
        <p:nvSpPr>
          <p:cNvPr id="7" name="TextBox 6"/>
          <p:cNvSpPr txBox="1"/>
          <p:nvPr/>
        </p:nvSpPr>
        <p:spPr>
          <a:xfrm>
            <a:off x="1005840" y="2011680"/>
            <a:ext cx="1828800" cy="548640"/>
          </a:xfrm>
          <a:prstGeom prst="rect">
            <a:avLst/>
          </a:prstGeom>
          <a:noFill/>
        </p:spPr>
        <p:txBody>
          <a:bodyPr wrap="square">
            <a:spAutoFit/>
          </a:bodyPr>
          <a:lstStyle/>
          <a:p>
            <a:pPr algn="ctr"/>
            <a:r>
              <a:rPr sz="1400" b="1">
                <a:solidFill>
                  <a:srgbClr val="FFFFFF"/>
                </a:solidFill>
                <a:latin typeface="Calibri"/>
              </a:rPr>
              <a:t>Manual
Effort</a:t>
            </a:r>
          </a:p>
        </p:txBody>
      </p:sp>
      <p:sp>
        <p:nvSpPr>
          <p:cNvPr id="8" name="Rounded Rectangle 7"/>
          <p:cNvSpPr/>
          <p:nvPr/>
        </p:nvSpPr>
        <p:spPr>
          <a:xfrm>
            <a:off x="3474720" y="1554480"/>
            <a:ext cx="2377440" cy="109728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0" y="1645920"/>
            <a:ext cx="1828800" cy="365760"/>
          </a:xfrm>
          <a:prstGeom prst="rect">
            <a:avLst/>
          </a:prstGeom>
          <a:noFill/>
        </p:spPr>
        <p:txBody>
          <a:bodyPr wrap="square">
            <a:spAutoFit/>
          </a:bodyPr>
          <a:lstStyle/>
          <a:p>
            <a:pPr algn="ctr"/>
            <a:r>
              <a:rPr sz="2800" b="0">
                <a:solidFill>
                  <a:srgbClr val="EF4444"/>
                </a:solidFill>
                <a:latin typeface="Calibri"/>
              </a:rPr>
              <a:t>⚠</a:t>
            </a:r>
          </a:p>
        </p:txBody>
      </p:sp>
      <p:sp>
        <p:nvSpPr>
          <p:cNvPr id="10" name="TextBox 9"/>
          <p:cNvSpPr txBox="1"/>
          <p:nvPr/>
        </p:nvSpPr>
        <p:spPr>
          <a:xfrm>
            <a:off x="3749040" y="2011680"/>
            <a:ext cx="1828800" cy="548640"/>
          </a:xfrm>
          <a:prstGeom prst="rect">
            <a:avLst/>
          </a:prstGeom>
          <a:noFill/>
        </p:spPr>
        <p:txBody>
          <a:bodyPr wrap="square">
            <a:spAutoFit/>
          </a:bodyPr>
          <a:lstStyle/>
          <a:p>
            <a:pPr algn="ctr"/>
            <a:r>
              <a:rPr sz="1400" b="1">
                <a:solidFill>
                  <a:srgbClr val="FFFFFF"/>
                </a:solidFill>
                <a:latin typeface="Calibri"/>
              </a:rPr>
              <a:t>Inconsistent
Data</a:t>
            </a:r>
          </a:p>
        </p:txBody>
      </p:sp>
      <p:sp>
        <p:nvSpPr>
          <p:cNvPr id="11" name="Rounded Rectangle 10"/>
          <p:cNvSpPr/>
          <p:nvPr/>
        </p:nvSpPr>
        <p:spPr>
          <a:xfrm>
            <a:off x="6217920" y="1554480"/>
            <a:ext cx="2377440" cy="109728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45920"/>
            <a:ext cx="1828800" cy="365760"/>
          </a:xfrm>
          <a:prstGeom prst="rect">
            <a:avLst/>
          </a:prstGeom>
          <a:noFill/>
        </p:spPr>
        <p:txBody>
          <a:bodyPr wrap="square">
            <a:spAutoFit/>
          </a:bodyPr>
          <a:lstStyle/>
          <a:p>
            <a:pPr algn="ctr"/>
            <a:r>
              <a:rPr sz="2800" b="0">
                <a:solidFill>
                  <a:srgbClr val="F59E0B"/>
                </a:solidFill>
                <a:latin typeface="Calibri"/>
              </a:rPr>
              <a:t>📅</a:t>
            </a:r>
          </a:p>
        </p:txBody>
      </p:sp>
      <p:sp>
        <p:nvSpPr>
          <p:cNvPr id="13" name="TextBox 12"/>
          <p:cNvSpPr txBox="1"/>
          <p:nvPr/>
        </p:nvSpPr>
        <p:spPr>
          <a:xfrm>
            <a:off x="6492240" y="2011680"/>
            <a:ext cx="1828800" cy="548640"/>
          </a:xfrm>
          <a:prstGeom prst="rect">
            <a:avLst/>
          </a:prstGeom>
          <a:noFill/>
        </p:spPr>
        <p:txBody>
          <a:bodyPr wrap="square">
            <a:spAutoFit/>
          </a:bodyPr>
          <a:lstStyle/>
          <a:p>
            <a:pPr algn="ctr"/>
            <a:r>
              <a:rPr sz="1400" b="1">
                <a:solidFill>
                  <a:srgbClr val="FFFFFF"/>
                </a:solidFill>
                <a:latin typeface="Calibri"/>
              </a:rPr>
              <a:t>Delayed
Visibility</a:t>
            </a:r>
          </a:p>
        </p:txBody>
      </p:sp>
      <p:sp>
        <p:nvSpPr>
          <p:cNvPr id="14" name="Rounded Rectangle 13"/>
          <p:cNvSpPr/>
          <p:nvPr/>
        </p:nvSpPr>
        <p:spPr>
          <a:xfrm>
            <a:off x="8961120" y="1554480"/>
            <a:ext cx="2377440" cy="109728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645920"/>
            <a:ext cx="1828800" cy="365760"/>
          </a:xfrm>
          <a:prstGeom prst="rect">
            <a:avLst/>
          </a:prstGeom>
          <a:noFill/>
        </p:spPr>
        <p:txBody>
          <a:bodyPr wrap="square">
            <a:spAutoFit/>
          </a:bodyPr>
          <a:lstStyle/>
          <a:p>
            <a:pPr algn="ctr"/>
            <a:r>
              <a:rPr sz="2800" b="0">
                <a:solidFill>
                  <a:srgbClr val="8B5CF6"/>
                </a:solidFill>
                <a:latin typeface="Calibri"/>
              </a:rPr>
              <a:t>🔀</a:t>
            </a:r>
          </a:p>
        </p:txBody>
      </p:sp>
      <p:sp>
        <p:nvSpPr>
          <p:cNvPr id="16" name="TextBox 15"/>
          <p:cNvSpPr txBox="1"/>
          <p:nvPr/>
        </p:nvSpPr>
        <p:spPr>
          <a:xfrm>
            <a:off x="9235440" y="2011680"/>
            <a:ext cx="1828800" cy="548640"/>
          </a:xfrm>
          <a:prstGeom prst="rect">
            <a:avLst/>
          </a:prstGeom>
          <a:noFill/>
        </p:spPr>
        <p:txBody>
          <a:bodyPr wrap="square">
            <a:spAutoFit/>
          </a:bodyPr>
          <a:lstStyle/>
          <a:p>
            <a:pPr algn="ctr"/>
            <a:r>
              <a:rPr sz="1400" b="1">
                <a:solidFill>
                  <a:srgbClr val="FFFFFF"/>
                </a:solidFill>
                <a:latin typeface="Calibri"/>
              </a:rPr>
              <a:t>Limited
Context</a:t>
            </a:r>
          </a:p>
        </p:txBody>
      </p:sp>
      <p:sp>
        <p:nvSpPr>
          <p:cNvPr id="17" name="Rounded Rectangle 16"/>
          <p:cNvSpPr/>
          <p:nvPr/>
        </p:nvSpPr>
        <p:spPr>
          <a:xfrm>
            <a:off x="1371600" y="3017520"/>
            <a:ext cx="9144000" cy="640080"/>
          </a:xfrm>
          <a:prstGeom prst="roundRect">
            <a:avLst/>
          </a:prstGeom>
          <a:solidFill>
            <a:srgbClr val="2A3050"/>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3108960"/>
            <a:ext cx="8686800" cy="457200"/>
          </a:xfrm>
          <a:prstGeom prst="rect">
            <a:avLst/>
          </a:prstGeom>
          <a:noFill/>
        </p:spPr>
        <p:txBody>
          <a:bodyPr wrap="square">
            <a:spAutoFit/>
          </a:bodyPr>
          <a:lstStyle/>
          <a:p>
            <a:pPr algn="ctr"/>
            <a:r>
              <a:rPr sz="1600" b="1">
                <a:solidFill>
                  <a:srgbClr val="FFFFFF"/>
                </a:solidFill>
                <a:latin typeface="Calibri"/>
              </a:rPr>
              <a:t>Leadership receives information later than the operation generates it.</a:t>
            </a:r>
          </a:p>
        </p:txBody>
      </p:sp>
      <p:sp>
        <p:nvSpPr>
          <p:cNvPr id="19" name="TextBox 18"/>
          <p:cNvSpPr txBox="1"/>
          <p:nvPr/>
        </p:nvSpPr>
        <p:spPr>
          <a:xfrm>
            <a:off x="1371600" y="4023360"/>
            <a:ext cx="4114800" cy="365760"/>
          </a:xfrm>
          <a:prstGeom prst="rect">
            <a:avLst/>
          </a:prstGeom>
          <a:noFill/>
        </p:spPr>
        <p:txBody>
          <a:bodyPr wrap="square">
            <a:spAutoFit/>
          </a:bodyPr>
          <a:lstStyle/>
          <a:p>
            <a:pPr algn="ctr"/>
            <a:r>
              <a:rPr sz="1400" b="1">
                <a:solidFill>
                  <a:srgbClr val="F59E0B"/>
                </a:solidFill>
                <a:latin typeface="Calibri"/>
              </a:rPr>
              <a:t>TODAY</a:t>
            </a:r>
          </a:p>
        </p:txBody>
      </p:sp>
      <p:sp>
        <p:nvSpPr>
          <p:cNvPr id="20" name="TextBox 19"/>
          <p:cNvSpPr txBox="1"/>
          <p:nvPr/>
        </p:nvSpPr>
        <p:spPr>
          <a:xfrm>
            <a:off x="1828800" y="4480560"/>
            <a:ext cx="3200400" cy="320040"/>
          </a:xfrm>
          <a:prstGeom prst="rect">
            <a:avLst/>
          </a:prstGeom>
          <a:noFill/>
        </p:spPr>
        <p:txBody>
          <a:bodyPr wrap="square">
            <a:spAutoFit/>
          </a:bodyPr>
          <a:lstStyle/>
          <a:p>
            <a:pPr algn="ctr"/>
            <a:r>
              <a:rPr sz="1200" b="0">
                <a:solidFill>
                  <a:srgbClr val="B0BCD0"/>
                </a:solidFill>
                <a:latin typeface="Calibri"/>
              </a:rPr>
              <a:t>   Operational Event</a:t>
            </a:r>
          </a:p>
        </p:txBody>
      </p:sp>
      <p:sp>
        <p:nvSpPr>
          <p:cNvPr id="21" name="TextBox 20"/>
          <p:cNvSpPr txBox="1"/>
          <p:nvPr/>
        </p:nvSpPr>
        <p:spPr>
          <a:xfrm>
            <a:off x="1828800" y="4937760"/>
            <a:ext cx="3200400" cy="320040"/>
          </a:xfrm>
          <a:prstGeom prst="rect">
            <a:avLst/>
          </a:prstGeom>
          <a:noFill/>
        </p:spPr>
        <p:txBody>
          <a:bodyPr wrap="square">
            <a:spAutoFit/>
          </a:bodyPr>
          <a:lstStyle/>
          <a:p>
            <a:pPr algn="ctr"/>
            <a:r>
              <a:rPr sz="1200" b="0">
                <a:solidFill>
                  <a:srgbClr val="EF4444"/>
                </a:solidFill>
                <a:latin typeface="Calibri"/>
              </a:rPr>
              <a:t>↓  ???</a:t>
            </a:r>
          </a:p>
        </p:txBody>
      </p:sp>
      <p:sp>
        <p:nvSpPr>
          <p:cNvPr id="22" name="TextBox 21"/>
          <p:cNvSpPr txBox="1"/>
          <p:nvPr/>
        </p:nvSpPr>
        <p:spPr>
          <a:xfrm>
            <a:off x="1828800" y="5394960"/>
            <a:ext cx="3200400" cy="320040"/>
          </a:xfrm>
          <a:prstGeom prst="rect">
            <a:avLst/>
          </a:prstGeom>
          <a:noFill/>
        </p:spPr>
        <p:txBody>
          <a:bodyPr wrap="square">
            <a:spAutoFit/>
          </a:bodyPr>
          <a:lstStyle/>
          <a:p>
            <a:pPr algn="ctr"/>
            <a:r>
              <a:rPr sz="1200" b="0">
                <a:solidFill>
                  <a:srgbClr val="B0BCD0"/>
                </a:solidFill>
                <a:latin typeface="Calibri"/>
              </a:rPr>
              <a:t>↓  Manual Reporting</a:t>
            </a:r>
          </a:p>
        </p:txBody>
      </p:sp>
      <p:sp>
        <p:nvSpPr>
          <p:cNvPr id="23" name="TextBox 22"/>
          <p:cNvSpPr txBox="1"/>
          <p:nvPr/>
        </p:nvSpPr>
        <p:spPr>
          <a:xfrm>
            <a:off x="1828800" y="5852160"/>
            <a:ext cx="3200400" cy="320040"/>
          </a:xfrm>
          <a:prstGeom prst="rect">
            <a:avLst/>
          </a:prstGeom>
          <a:noFill/>
        </p:spPr>
        <p:txBody>
          <a:bodyPr wrap="square">
            <a:spAutoFit/>
          </a:bodyPr>
          <a:lstStyle/>
          <a:p>
            <a:pPr algn="ctr"/>
            <a:r>
              <a:rPr sz="1200" b="0">
                <a:solidFill>
                  <a:srgbClr val="B0BCD0"/>
                </a:solidFill>
                <a:latin typeface="Calibri"/>
              </a:rPr>
              <a:t>↓  Leadership Sees It</a:t>
            </a:r>
          </a:p>
        </p:txBody>
      </p:sp>
      <p:sp>
        <p:nvSpPr>
          <p:cNvPr id="24" name="TextBox 23"/>
          <p:cNvSpPr txBox="1"/>
          <p:nvPr/>
        </p:nvSpPr>
        <p:spPr>
          <a:xfrm>
            <a:off x="6675120" y="4023360"/>
            <a:ext cx="4114800" cy="365760"/>
          </a:xfrm>
          <a:prstGeom prst="rect">
            <a:avLst/>
          </a:prstGeom>
          <a:noFill/>
        </p:spPr>
        <p:txBody>
          <a:bodyPr wrap="square">
            <a:spAutoFit/>
          </a:bodyPr>
          <a:lstStyle/>
          <a:p>
            <a:pPr algn="ctr"/>
            <a:r>
              <a:rPr sz="1400" b="1">
                <a:solidFill>
                  <a:srgbClr val="10B981"/>
                </a:solidFill>
                <a:latin typeface="Calibri"/>
              </a:rPr>
              <a:t>WITH OPSINTEL</a:t>
            </a:r>
          </a:p>
        </p:txBody>
      </p:sp>
      <p:sp>
        <p:nvSpPr>
          <p:cNvPr id="25" name="TextBox 24"/>
          <p:cNvSpPr txBox="1"/>
          <p:nvPr/>
        </p:nvSpPr>
        <p:spPr>
          <a:xfrm>
            <a:off x="7132320" y="4480560"/>
            <a:ext cx="3200400" cy="320040"/>
          </a:xfrm>
          <a:prstGeom prst="rect">
            <a:avLst/>
          </a:prstGeom>
          <a:noFill/>
        </p:spPr>
        <p:txBody>
          <a:bodyPr wrap="square">
            <a:spAutoFit/>
          </a:bodyPr>
          <a:lstStyle/>
          <a:p>
            <a:pPr algn="ctr"/>
            <a:r>
              <a:rPr sz="1200" b="0">
                <a:solidFill>
                  <a:srgbClr val="B0BCD0"/>
                </a:solidFill>
                <a:latin typeface="Calibri"/>
              </a:rPr>
              <a:t>   Operational Event</a:t>
            </a:r>
          </a:p>
        </p:txBody>
      </p:sp>
      <p:sp>
        <p:nvSpPr>
          <p:cNvPr id="26" name="TextBox 25"/>
          <p:cNvSpPr txBox="1"/>
          <p:nvPr/>
        </p:nvSpPr>
        <p:spPr>
          <a:xfrm>
            <a:off x="7132320" y="5029200"/>
            <a:ext cx="3200400" cy="320040"/>
          </a:xfrm>
          <a:prstGeom prst="rect">
            <a:avLst/>
          </a:prstGeom>
          <a:noFill/>
        </p:spPr>
        <p:txBody>
          <a:bodyPr wrap="square">
            <a:spAutoFit/>
          </a:bodyPr>
          <a:lstStyle/>
          <a:p>
            <a:pPr algn="ctr"/>
            <a:r>
              <a:rPr sz="1200" b="0">
                <a:solidFill>
                  <a:srgbClr val="10B981"/>
                </a:solidFill>
                <a:latin typeface="Calibri"/>
              </a:rPr>
              <a:t>↓  Automated Intelligence</a:t>
            </a:r>
          </a:p>
        </p:txBody>
      </p:sp>
      <p:sp>
        <p:nvSpPr>
          <p:cNvPr id="27" name="TextBox 26"/>
          <p:cNvSpPr txBox="1"/>
          <p:nvPr/>
        </p:nvSpPr>
        <p:spPr>
          <a:xfrm>
            <a:off x="7132320" y="5577840"/>
            <a:ext cx="3200400" cy="320040"/>
          </a:xfrm>
          <a:prstGeom prst="rect">
            <a:avLst/>
          </a:prstGeom>
          <a:noFill/>
        </p:spPr>
        <p:txBody>
          <a:bodyPr wrap="square">
            <a:spAutoFit/>
          </a:bodyPr>
          <a:lstStyle/>
          <a:p>
            <a:pPr algn="ctr"/>
            <a:r>
              <a:rPr sz="1200" b="0">
                <a:solidFill>
                  <a:srgbClr val="B0BCD0"/>
                </a:solidFill>
                <a:latin typeface="Calibri"/>
              </a:rPr>
              <a:t>↓  Leadership Sees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OPSINTEL Automates the Reporting Lifecycle</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828800"/>
            <a:ext cx="1143000" cy="91440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09EFF"/>
                </a:solidFill>
                <a:latin typeface="Calibri"/>
              </a:rPr>
              <a:t>ITSM
DATA</a:t>
            </a:r>
          </a:p>
        </p:txBody>
      </p:sp>
      <p:sp>
        <p:nvSpPr>
          <p:cNvPr id="6" name="Right Arrow 5"/>
          <p:cNvSpPr/>
          <p:nvPr/>
        </p:nvSpPr>
        <p:spPr>
          <a:xfrm>
            <a:off x="2016760" y="2194560"/>
            <a:ext cx="94342" cy="182880"/>
          </a:xfrm>
          <a:prstGeom prst="rightArrow">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61902" y="1828800"/>
            <a:ext cx="1143000" cy="91440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0E5D0"/>
                </a:solidFill>
                <a:latin typeface="Calibri"/>
              </a:rPr>
              <a:t>INGEST</a:t>
            </a:r>
          </a:p>
        </p:txBody>
      </p:sp>
      <p:sp>
        <p:nvSpPr>
          <p:cNvPr id="8" name="Right Arrow 7"/>
          <p:cNvSpPr/>
          <p:nvPr/>
        </p:nvSpPr>
        <p:spPr>
          <a:xfrm>
            <a:off x="3355702" y="2194560"/>
            <a:ext cx="94342" cy="182880"/>
          </a:xfrm>
          <a:prstGeom prst="rightArrow">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00845" y="1828800"/>
            <a:ext cx="1143000" cy="91440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0E5D0"/>
                </a:solidFill>
                <a:latin typeface="Calibri"/>
              </a:rPr>
              <a:t>NORMALIZE</a:t>
            </a:r>
          </a:p>
        </p:txBody>
      </p:sp>
      <p:sp>
        <p:nvSpPr>
          <p:cNvPr id="10" name="Right Arrow 9"/>
          <p:cNvSpPr/>
          <p:nvPr/>
        </p:nvSpPr>
        <p:spPr>
          <a:xfrm>
            <a:off x="4694645" y="2194560"/>
            <a:ext cx="94342" cy="182880"/>
          </a:xfrm>
          <a:prstGeom prst="rightArrow">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39788" y="1828800"/>
            <a:ext cx="1143000" cy="91440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8B5CF6"/>
                </a:solidFill>
                <a:latin typeface="Calibri"/>
              </a:rPr>
              <a:t>ANALYZE</a:t>
            </a:r>
          </a:p>
        </p:txBody>
      </p:sp>
      <p:sp>
        <p:nvSpPr>
          <p:cNvPr id="12" name="Right Arrow 11"/>
          <p:cNvSpPr/>
          <p:nvPr/>
        </p:nvSpPr>
        <p:spPr>
          <a:xfrm>
            <a:off x="6033588" y="2194560"/>
            <a:ext cx="94342" cy="18288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8731" y="1828800"/>
            <a:ext cx="1143000" cy="91440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8B5CF6"/>
                </a:solidFill>
                <a:latin typeface="Calibri"/>
              </a:rPr>
              <a:t>AI
INSIGHT</a:t>
            </a:r>
          </a:p>
        </p:txBody>
      </p:sp>
      <p:sp>
        <p:nvSpPr>
          <p:cNvPr id="14" name="Right Arrow 13"/>
          <p:cNvSpPr/>
          <p:nvPr/>
        </p:nvSpPr>
        <p:spPr>
          <a:xfrm>
            <a:off x="7372531" y="2194560"/>
            <a:ext cx="94342" cy="18288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17674" y="1828800"/>
            <a:ext cx="1143000" cy="9144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0B981"/>
                </a:solidFill>
                <a:latin typeface="Calibri"/>
              </a:rPr>
              <a:t>EXECUTIVE
REPORT</a:t>
            </a:r>
          </a:p>
        </p:txBody>
      </p:sp>
      <p:sp>
        <p:nvSpPr>
          <p:cNvPr id="16" name="Right Arrow 15"/>
          <p:cNvSpPr/>
          <p:nvPr/>
        </p:nvSpPr>
        <p:spPr>
          <a:xfrm>
            <a:off x="8711474" y="2194560"/>
            <a:ext cx="94342" cy="182880"/>
          </a:xfrm>
          <a:prstGeom prs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56617" y="1828800"/>
            <a:ext cx="1143000" cy="9144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0B981"/>
                </a:solidFill>
                <a:latin typeface="Calibri"/>
              </a:rPr>
              <a:t>SCHEDULE</a:t>
            </a:r>
          </a:p>
        </p:txBody>
      </p:sp>
      <p:sp>
        <p:nvSpPr>
          <p:cNvPr id="18" name="Right Arrow 17"/>
          <p:cNvSpPr/>
          <p:nvPr/>
        </p:nvSpPr>
        <p:spPr>
          <a:xfrm>
            <a:off x="10050417" y="2194560"/>
            <a:ext cx="94342" cy="182880"/>
          </a:xfrm>
          <a:prstGeom prs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95560" y="1828800"/>
            <a:ext cx="1143000" cy="9144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0B981"/>
                </a:solidFill>
                <a:latin typeface="Calibri"/>
              </a:rPr>
              <a:t>DELIVER</a:t>
            </a:r>
          </a:p>
        </p:txBody>
      </p:sp>
      <p:sp>
        <p:nvSpPr>
          <p:cNvPr id="20" name="Rounded Rectangle 19"/>
          <p:cNvSpPr/>
          <p:nvPr/>
        </p:nvSpPr>
        <p:spPr>
          <a:xfrm>
            <a:off x="1371600" y="3291840"/>
            <a:ext cx="9144000" cy="731520"/>
          </a:xfrm>
          <a:prstGeom prst="roundRect">
            <a:avLst/>
          </a:prstGeom>
          <a:solidFill>
            <a:srgbClr val="2A3050"/>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45920" y="3383280"/>
            <a:ext cx="8686800" cy="548640"/>
          </a:xfrm>
          <a:prstGeom prst="rect">
            <a:avLst/>
          </a:prstGeom>
          <a:noFill/>
        </p:spPr>
        <p:txBody>
          <a:bodyPr wrap="square">
            <a:spAutoFit/>
          </a:bodyPr>
          <a:lstStyle/>
          <a:p>
            <a:pPr algn="ctr"/>
            <a:r>
              <a:rPr sz="1600" b="0">
                <a:solidFill>
                  <a:srgbClr val="FFFFFF"/>
                </a:solidFill>
                <a:latin typeface="Calibri"/>
              </a:rPr>
              <a:t>OPSINTEL transforms operational data into automated,
evidence-backed management intelligence.</a:t>
            </a:r>
          </a:p>
        </p:txBody>
      </p:sp>
      <p:sp>
        <p:nvSpPr>
          <p:cNvPr id="22" name="Rounded Rectangle 21"/>
          <p:cNvSpPr/>
          <p:nvPr/>
        </p:nvSpPr>
        <p:spPr>
          <a:xfrm>
            <a:off x="914400" y="4572000"/>
            <a:ext cx="3291840" cy="146304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709160"/>
            <a:ext cx="2926080" cy="365760"/>
          </a:xfrm>
          <a:prstGeom prst="rect">
            <a:avLst/>
          </a:prstGeom>
          <a:noFill/>
        </p:spPr>
        <p:txBody>
          <a:bodyPr wrap="square">
            <a:spAutoFit/>
          </a:bodyPr>
          <a:lstStyle/>
          <a:p>
            <a:pPr algn="ctr"/>
            <a:r>
              <a:rPr sz="1500" b="1">
                <a:solidFill>
                  <a:srgbClr val="009EFF"/>
                </a:solidFill>
                <a:latin typeface="Calibri"/>
              </a:rPr>
              <a:t>Deterministic KPIs</a:t>
            </a:r>
          </a:p>
        </p:txBody>
      </p:sp>
      <p:sp>
        <p:nvSpPr>
          <p:cNvPr id="24" name="Rectangle 23"/>
          <p:cNvSpPr/>
          <p:nvPr/>
        </p:nvSpPr>
        <p:spPr>
          <a:xfrm>
            <a:off x="1371600" y="5074920"/>
            <a:ext cx="2377440" cy="254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212080"/>
            <a:ext cx="2926080" cy="640080"/>
          </a:xfrm>
          <a:prstGeom prst="rect">
            <a:avLst/>
          </a:prstGeom>
          <a:noFill/>
        </p:spPr>
        <p:txBody>
          <a:bodyPr wrap="square">
            <a:spAutoFit/>
          </a:bodyPr>
          <a:lstStyle/>
          <a:p>
            <a:pPr algn="ctr"/>
            <a:r>
              <a:rPr sz="1100" b="0">
                <a:solidFill>
                  <a:srgbClr val="B0BCD0"/>
                </a:solidFill>
                <a:latin typeface="Calibri"/>
              </a:rPr>
              <a:t>Consistent, repeatable
calculations every time</a:t>
            </a:r>
          </a:p>
        </p:txBody>
      </p:sp>
      <p:sp>
        <p:nvSpPr>
          <p:cNvPr id="26" name="Rounded Rectangle 25"/>
          <p:cNvSpPr/>
          <p:nvPr/>
        </p:nvSpPr>
        <p:spPr>
          <a:xfrm>
            <a:off x="4572000" y="4572000"/>
            <a:ext cx="3291840" cy="146304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4709160"/>
            <a:ext cx="2926080" cy="365760"/>
          </a:xfrm>
          <a:prstGeom prst="rect">
            <a:avLst/>
          </a:prstGeom>
          <a:noFill/>
        </p:spPr>
        <p:txBody>
          <a:bodyPr wrap="square">
            <a:spAutoFit/>
          </a:bodyPr>
          <a:lstStyle/>
          <a:p>
            <a:pPr algn="ctr"/>
            <a:r>
              <a:rPr sz="1500" b="1">
                <a:solidFill>
                  <a:srgbClr val="8B5CF6"/>
                </a:solidFill>
                <a:latin typeface="Calibri"/>
              </a:rPr>
              <a:t>AI Interpretation</a:t>
            </a:r>
          </a:p>
        </p:txBody>
      </p:sp>
      <p:sp>
        <p:nvSpPr>
          <p:cNvPr id="28" name="Rectangle 27"/>
          <p:cNvSpPr/>
          <p:nvPr/>
        </p:nvSpPr>
        <p:spPr>
          <a:xfrm>
            <a:off x="5029200" y="5074920"/>
            <a:ext cx="2377440" cy="254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0" y="5212080"/>
            <a:ext cx="2926080" cy="640080"/>
          </a:xfrm>
          <a:prstGeom prst="rect">
            <a:avLst/>
          </a:prstGeom>
          <a:noFill/>
        </p:spPr>
        <p:txBody>
          <a:bodyPr wrap="square">
            <a:spAutoFit/>
          </a:bodyPr>
          <a:lstStyle/>
          <a:p>
            <a:pPr algn="ctr"/>
            <a:r>
              <a:rPr sz="1100" b="0">
                <a:solidFill>
                  <a:srgbClr val="B0BCD0"/>
                </a:solidFill>
                <a:latin typeface="Calibri"/>
              </a:rPr>
              <a:t>Gemini explains what the
numbers actually mean</a:t>
            </a:r>
          </a:p>
        </p:txBody>
      </p:sp>
      <p:sp>
        <p:nvSpPr>
          <p:cNvPr id="30" name="Rounded Rectangle 29"/>
          <p:cNvSpPr/>
          <p:nvPr/>
        </p:nvSpPr>
        <p:spPr>
          <a:xfrm>
            <a:off x="8229600" y="4572000"/>
            <a:ext cx="3291840" cy="146304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4709160"/>
            <a:ext cx="2926080" cy="365760"/>
          </a:xfrm>
          <a:prstGeom prst="rect">
            <a:avLst/>
          </a:prstGeom>
          <a:noFill/>
        </p:spPr>
        <p:txBody>
          <a:bodyPr wrap="square">
            <a:spAutoFit/>
          </a:bodyPr>
          <a:lstStyle/>
          <a:p>
            <a:pPr algn="ctr"/>
            <a:r>
              <a:rPr sz="1500" b="1">
                <a:solidFill>
                  <a:srgbClr val="10B981"/>
                </a:solidFill>
                <a:latin typeface="Calibri"/>
              </a:rPr>
              <a:t>Automated Delivery</a:t>
            </a:r>
          </a:p>
        </p:txBody>
      </p:sp>
      <p:sp>
        <p:nvSpPr>
          <p:cNvPr id="32" name="Rectangle 31"/>
          <p:cNvSpPr/>
          <p:nvPr/>
        </p:nvSpPr>
        <p:spPr>
          <a:xfrm>
            <a:off x="8686800" y="5074920"/>
            <a:ext cx="2377440" cy="25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5212080"/>
            <a:ext cx="2926080" cy="640080"/>
          </a:xfrm>
          <a:prstGeom prst="rect">
            <a:avLst/>
          </a:prstGeom>
          <a:noFill/>
        </p:spPr>
        <p:txBody>
          <a:bodyPr wrap="square">
            <a:spAutoFit/>
          </a:bodyPr>
          <a:lstStyle/>
          <a:p>
            <a:pPr algn="ctr"/>
            <a:r>
              <a:rPr sz="1100" b="0">
                <a:solidFill>
                  <a:srgbClr val="B0BCD0"/>
                </a:solidFill>
                <a:latin typeface="Calibri"/>
              </a:rPr>
              <a:t>Scheduled reports delivered
to Slack, Teams, PDF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One Operational View Across ITSM Domains</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937760" y="2926080"/>
            <a:ext cx="2286000" cy="914400"/>
          </a:xfrm>
          <a:prstGeom prst="roundRect">
            <a:avLst/>
          </a:prstGeom>
          <a:solidFill>
            <a:srgbClr val="009E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3017520"/>
            <a:ext cx="2286000" cy="731520"/>
          </a:xfrm>
          <a:prstGeom prst="rect">
            <a:avLst/>
          </a:prstGeom>
          <a:noFill/>
        </p:spPr>
        <p:txBody>
          <a:bodyPr wrap="square">
            <a:spAutoFit/>
          </a:bodyPr>
          <a:lstStyle/>
          <a:p>
            <a:pPr algn="ctr"/>
            <a:r>
              <a:rPr sz="2200" b="1">
                <a:solidFill>
                  <a:srgbClr val="FFFFFF"/>
                </a:solidFill>
                <a:latin typeface="Calibri"/>
              </a:rPr>
              <a:t>OPSINTEL</a:t>
            </a:r>
          </a:p>
        </p:txBody>
      </p:sp>
      <p:sp>
        <p:nvSpPr>
          <p:cNvPr id="7" name="Rounded Rectangle 6"/>
          <p:cNvSpPr/>
          <p:nvPr/>
        </p:nvSpPr>
        <p:spPr>
          <a:xfrm>
            <a:off x="914400" y="1463040"/>
            <a:ext cx="1828800" cy="64008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828800" cy="457200"/>
          </a:xfrm>
          <a:prstGeom prst="rect">
            <a:avLst/>
          </a:prstGeom>
          <a:noFill/>
        </p:spPr>
        <p:txBody>
          <a:bodyPr wrap="square">
            <a:spAutoFit/>
          </a:bodyPr>
          <a:lstStyle/>
          <a:p>
            <a:pPr algn="ctr"/>
            <a:r>
              <a:rPr sz="1300" b="1">
                <a:solidFill>
                  <a:srgbClr val="EF4444"/>
                </a:solidFill>
                <a:latin typeface="Calibri"/>
              </a:rPr>
              <a:t>INCIDENTS</a:t>
            </a:r>
          </a:p>
        </p:txBody>
      </p:sp>
      <p:sp>
        <p:nvSpPr>
          <p:cNvPr id="9" name="Rounded Rectangle 8"/>
          <p:cNvSpPr/>
          <p:nvPr/>
        </p:nvSpPr>
        <p:spPr>
          <a:xfrm>
            <a:off x="3840480" y="1463040"/>
            <a:ext cx="1828800" cy="64008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1554480"/>
            <a:ext cx="1828800" cy="457200"/>
          </a:xfrm>
          <a:prstGeom prst="rect">
            <a:avLst/>
          </a:prstGeom>
          <a:noFill/>
        </p:spPr>
        <p:txBody>
          <a:bodyPr wrap="square">
            <a:spAutoFit/>
          </a:bodyPr>
          <a:lstStyle/>
          <a:p>
            <a:pPr algn="ctr"/>
            <a:r>
              <a:rPr sz="1300" b="1">
                <a:solidFill>
                  <a:srgbClr val="F59E0B"/>
                </a:solidFill>
                <a:latin typeface="Calibri"/>
              </a:rPr>
              <a:t>PROBLEMS</a:t>
            </a:r>
          </a:p>
        </p:txBody>
      </p:sp>
      <p:sp>
        <p:nvSpPr>
          <p:cNvPr id="11" name="Rounded Rectangle 10"/>
          <p:cNvSpPr/>
          <p:nvPr/>
        </p:nvSpPr>
        <p:spPr>
          <a:xfrm>
            <a:off x="7132320" y="1463040"/>
            <a:ext cx="1828800" cy="64008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1554480"/>
            <a:ext cx="1828800" cy="457200"/>
          </a:xfrm>
          <a:prstGeom prst="rect">
            <a:avLst/>
          </a:prstGeom>
          <a:noFill/>
        </p:spPr>
        <p:txBody>
          <a:bodyPr wrap="square">
            <a:spAutoFit/>
          </a:bodyPr>
          <a:lstStyle/>
          <a:p>
            <a:pPr algn="ctr"/>
            <a:r>
              <a:rPr sz="1300" b="1">
                <a:solidFill>
                  <a:srgbClr val="8B5CF6"/>
                </a:solidFill>
                <a:latin typeface="Calibri"/>
              </a:rPr>
              <a:t>CHANGES</a:t>
            </a:r>
          </a:p>
        </p:txBody>
      </p:sp>
      <p:sp>
        <p:nvSpPr>
          <p:cNvPr id="13" name="Rounded Rectangle 12"/>
          <p:cNvSpPr/>
          <p:nvPr/>
        </p:nvSpPr>
        <p:spPr>
          <a:xfrm>
            <a:off x="9601200" y="1463040"/>
            <a:ext cx="1828800" cy="64008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0" y="1554480"/>
            <a:ext cx="1828800" cy="457200"/>
          </a:xfrm>
          <a:prstGeom prst="rect">
            <a:avLst/>
          </a:prstGeom>
          <a:noFill/>
        </p:spPr>
        <p:txBody>
          <a:bodyPr wrap="square">
            <a:spAutoFit/>
          </a:bodyPr>
          <a:lstStyle/>
          <a:p>
            <a:pPr algn="ctr"/>
            <a:r>
              <a:rPr sz="1300" b="1">
                <a:solidFill>
                  <a:srgbClr val="00E5D0"/>
                </a:solidFill>
                <a:latin typeface="Calibri"/>
              </a:rPr>
              <a:t>SERVICES</a:t>
            </a:r>
          </a:p>
        </p:txBody>
      </p:sp>
      <p:sp>
        <p:nvSpPr>
          <p:cNvPr id="15" name="Rounded Rectangle 14"/>
          <p:cNvSpPr/>
          <p:nvPr/>
        </p:nvSpPr>
        <p:spPr>
          <a:xfrm>
            <a:off x="914400" y="4572000"/>
            <a:ext cx="1828800" cy="64008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63440"/>
            <a:ext cx="1828800" cy="457200"/>
          </a:xfrm>
          <a:prstGeom prst="rect">
            <a:avLst/>
          </a:prstGeom>
          <a:noFill/>
        </p:spPr>
        <p:txBody>
          <a:bodyPr wrap="square">
            <a:spAutoFit/>
          </a:bodyPr>
          <a:lstStyle/>
          <a:p>
            <a:pPr algn="ctr"/>
            <a:r>
              <a:rPr sz="1300" b="1">
                <a:solidFill>
                  <a:srgbClr val="10B981"/>
                </a:solidFill>
                <a:latin typeface="Calibri"/>
              </a:rPr>
              <a:t>SLA</a:t>
            </a:r>
          </a:p>
        </p:txBody>
      </p:sp>
      <p:sp>
        <p:nvSpPr>
          <p:cNvPr id="17" name="Rounded Rectangle 16"/>
          <p:cNvSpPr/>
          <p:nvPr/>
        </p:nvSpPr>
        <p:spPr>
          <a:xfrm>
            <a:off x="3840480" y="4572000"/>
            <a:ext cx="1828800" cy="64008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0" y="4663440"/>
            <a:ext cx="1828800" cy="457200"/>
          </a:xfrm>
          <a:prstGeom prst="rect">
            <a:avLst/>
          </a:prstGeom>
          <a:noFill/>
        </p:spPr>
        <p:txBody>
          <a:bodyPr wrap="square">
            <a:spAutoFit/>
          </a:bodyPr>
          <a:lstStyle/>
          <a:p>
            <a:pPr algn="ctr"/>
            <a:r>
              <a:rPr sz="1300" b="1">
                <a:solidFill>
                  <a:srgbClr val="009EFF"/>
                </a:solidFill>
                <a:latin typeface="Calibri"/>
              </a:rPr>
              <a:t>TRENDS</a:t>
            </a:r>
          </a:p>
        </p:txBody>
      </p:sp>
      <p:sp>
        <p:nvSpPr>
          <p:cNvPr id="19" name="Rounded Rectangle 18"/>
          <p:cNvSpPr/>
          <p:nvPr/>
        </p:nvSpPr>
        <p:spPr>
          <a:xfrm>
            <a:off x="7132320" y="4572000"/>
            <a:ext cx="1097280" cy="64008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4663440"/>
            <a:ext cx="1097280" cy="457200"/>
          </a:xfrm>
          <a:prstGeom prst="rect">
            <a:avLst/>
          </a:prstGeom>
          <a:noFill/>
        </p:spPr>
        <p:txBody>
          <a:bodyPr wrap="square">
            <a:spAutoFit/>
          </a:bodyPr>
          <a:lstStyle/>
          <a:p>
            <a:pPr algn="ctr"/>
            <a:r>
              <a:rPr sz="1000" b="1">
                <a:solidFill>
                  <a:srgbClr val="009EFF"/>
                </a:solidFill>
                <a:latin typeface="Calibri"/>
              </a:rPr>
              <a:t>Dashboard</a:t>
            </a:r>
          </a:p>
        </p:txBody>
      </p:sp>
      <p:sp>
        <p:nvSpPr>
          <p:cNvPr id="21" name="Rounded Rectangle 20"/>
          <p:cNvSpPr/>
          <p:nvPr/>
        </p:nvSpPr>
        <p:spPr>
          <a:xfrm>
            <a:off x="8229600" y="4572000"/>
            <a:ext cx="1097280" cy="64008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663440"/>
            <a:ext cx="1097280" cy="457200"/>
          </a:xfrm>
          <a:prstGeom prst="rect">
            <a:avLst/>
          </a:prstGeom>
          <a:noFill/>
        </p:spPr>
        <p:txBody>
          <a:bodyPr wrap="square">
            <a:spAutoFit/>
          </a:bodyPr>
          <a:lstStyle/>
          <a:p>
            <a:pPr algn="ctr"/>
            <a:r>
              <a:rPr sz="1000" b="1">
                <a:solidFill>
                  <a:srgbClr val="8B5CF6"/>
                </a:solidFill>
                <a:latin typeface="Calibri"/>
              </a:rPr>
              <a:t>AI Insights</a:t>
            </a:r>
          </a:p>
        </p:txBody>
      </p:sp>
      <p:sp>
        <p:nvSpPr>
          <p:cNvPr id="23" name="Rounded Rectangle 22"/>
          <p:cNvSpPr/>
          <p:nvPr/>
        </p:nvSpPr>
        <p:spPr>
          <a:xfrm>
            <a:off x="9326880" y="4572000"/>
            <a:ext cx="1097280" cy="64008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4663440"/>
            <a:ext cx="1097280" cy="457200"/>
          </a:xfrm>
          <a:prstGeom prst="rect">
            <a:avLst/>
          </a:prstGeom>
          <a:noFill/>
        </p:spPr>
        <p:txBody>
          <a:bodyPr wrap="square">
            <a:spAutoFit/>
          </a:bodyPr>
          <a:lstStyle/>
          <a:p>
            <a:pPr algn="ctr"/>
            <a:r>
              <a:rPr sz="1000" b="1">
                <a:solidFill>
                  <a:srgbClr val="10B981"/>
                </a:solidFill>
                <a:latin typeface="Calibri"/>
              </a:rPr>
              <a:t>Reports</a:t>
            </a:r>
          </a:p>
        </p:txBody>
      </p:sp>
      <p:sp>
        <p:nvSpPr>
          <p:cNvPr id="25" name="Rounded Rectangle 24"/>
          <p:cNvSpPr/>
          <p:nvPr/>
        </p:nvSpPr>
        <p:spPr>
          <a:xfrm>
            <a:off x="10424160" y="4572000"/>
            <a:ext cx="1097280" cy="64008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0" y="4663440"/>
            <a:ext cx="1097280" cy="457200"/>
          </a:xfrm>
          <a:prstGeom prst="rect">
            <a:avLst/>
          </a:prstGeom>
          <a:noFill/>
        </p:spPr>
        <p:txBody>
          <a:bodyPr wrap="square">
            <a:spAutoFit/>
          </a:bodyPr>
          <a:lstStyle/>
          <a:p>
            <a:pPr algn="ctr"/>
            <a:r>
              <a:rPr sz="1000" b="1">
                <a:solidFill>
                  <a:srgbClr val="00E5D0"/>
                </a:solidFill>
                <a:latin typeface="Calibri"/>
              </a:rPr>
              <a:t>Automation</a:t>
            </a:r>
          </a:p>
        </p:txBody>
      </p:sp>
      <p:sp>
        <p:nvSpPr>
          <p:cNvPr id="27" name="TextBox 26"/>
          <p:cNvSpPr txBox="1"/>
          <p:nvPr/>
        </p:nvSpPr>
        <p:spPr>
          <a:xfrm>
            <a:off x="7132320" y="4114800"/>
            <a:ext cx="4114800" cy="320040"/>
          </a:xfrm>
          <a:prstGeom prst="rect">
            <a:avLst/>
          </a:prstGeom>
          <a:noFill/>
        </p:spPr>
        <p:txBody>
          <a:bodyPr wrap="square">
            <a:spAutoFit/>
          </a:bodyPr>
          <a:lstStyle/>
          <a:p>
            <a:pPr algn="ctr"/>
            <a:r>
              <a:rPr sz="1200" b="1">
                <a:solidFill>
                  <a:srgbClr val="009EFF"/>
                </a:solidFill>
                <a:latin typeface="Calibri"/>
              </a:rPr>
              <a:t>→  Operational Intelligence  →</a:t>
            </a:r>
          </a:p>
        </p:txBody>
      </p:sp>
      <p:sp>
        <p:nvSpPr>
          <p:cNvPr id="28" name="Rounded Rectangle 27"/>
          <p:cNvSpPr/>
          <p:nvPr/>
        </p:nvSpPr>
        <p:spPr>
          <a:xfrm>
            <a:off x="914400" y="5760720"/>
            <a:ext cx="10332720" cy="640080"/>
          </a:xfrm>
          <a:prstGeom prst="roundRect">
            <a:avLst/>
          </a:prstGeom>
          <a:solidFill>
            <a:srgbClr val="2A3050"/>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5852160"/>
            <a:ext cx="9601200" cy="457200"/>
          </a:xfrm>
          <a:prstGeom prst="rect">
            <a:avLst/>
          </a:prstGeom>
          <a:noFill/>
        </p:spPr>
        <p:txBody>
          <a:bodyPr wrap="square">
            <a:spAutoFit/>
          </a:bodyPr>
          <a:lstStyle/>
          <a:p>
            <a:pPr algn="ctr"/>
            <a:r>
              <a:rPr sz="1200" b="0">
                <a:solidFill>
                  <a:srgbClr val="B0BCD0"/>
                </a:solidFill>
                <a:latin typeface="Calibri"/>
              </a:rPr>
              <a:t>POC Dataset:  30,000+ Incidents  •  2,900+ Problems  •  7,000+ Changes  •  12,500+ SLA Records  •  20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From Raw ITSM Data to Executive Intelligence</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0698480" cy="530352"/>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89888"/>
            <a:ext cx="3200400" cy="274320"/>
          </a:xfrm>
          <a:prstGeom prst="rect">
            <a:avLst/>
          </a:prstGeom>
          <a:noFill/>
        </p:spPr>
        <p:txBody>
          <a:bodyPr wrap="square">
            <a:spAutoFit/>
          </a:bodyPr>
          <a:lstStyle/>
          <a:p>
            <a:pPr algn="l"/>
            <a:r>
              <a:rPr sz="1200" b="1">
                <a:solidFill>
                  <a:srgbClr val="009EFF"/>
                </a:solidFill>
                <a:latin typeface="Calibri"/>
              </a:rPr>
              <a:t>DATA SOURCES</a:t>
            </a:r>
          </a:p>
        </p:txBody>
      </p:sp>
      <p:sp>
        <p:nvSpPr>
          <p:cNvPr id="7" name="TextBox 6"/>
          <p:cNvSpPr txBox="1"/>
          <p:nvPr/>
        </p:nvSpPr>
        <p:spPr>
          <a:xfrm>
            <a:off x="4114800" y="1417320"/>
            <a:ext cx="7132320" cy="411480"/>
          </a:xfrm>
          <a:prstGeom prst="rect">
            <a:avLst/>
          </a:prstGeom>
          <a:noFill/>
        </p:spPr>
        <p:txBody>
          <a:bodyPr wrap="square">
            <a:spAutoFit/>
          </a:bodyPr>
          <a:lstStyle/>
          <a:p>
            <a:pPr algn="l"/>
            <a:r>
              <a:rPr sz="1000" b="0">
                <a:solidFill>
                  <a:srgbClr val="B0BCD0"/>
                </a:solidFill>
                <a:latin typeface="Calibri"/>
              </a:rPr>
              <a:t>CSV Upload  •  Synthetic Datasets  •  ServiceNow (Future)</a:t>
            </a:r>
          </a:p>
        </p:txBody>
      </p:sp>
      <p:sp>
        <p:nvSpPr>
          <p:cNvPr id="8" name="Down Arrow 7"/>
          <p:cNvSpPr/>
          <p:nvPr/>
        </p:nvSpPr>
        <p:spPr>
          <a:xfrm>
            <a:off x="5760720" y="1901952"/>
            <a:ext cx="182880" cy="182880"/>
          </a:xfrm>
          <a:prstGeom prst="downArrow">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975104"/>
            <a:ext cx="10698480" cy="530352"/>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3200400" cy="274320"/>
          </a:xfrm>
          <a:prstGeom prst="rect">
            <a:avLst/>
          </a:prstGeom>
          <a:noFill/>
        </p:spPr>
        <p:txBody>
          <a:bodyPr wrap="square">
            <a:spAutoFit/>
          </a:bodyPr>
          <a:lstStyle/>
          <a:p>
            <a:pPr algn="l"/>
            <a:r>
              <a:rPr sz="1200" b="1">
                <a:solidFill>
                  <a:srgbClr val="00E5D0"/>
                </a:solidFill>
                <a:latin typeface="Calibri"/>
              </a:rPr>
              <a:t>INGESTION &amp; VALIDATION</a:t>
            </a:r>
          </a:p>
        </p:txBody>
      </p:sp>
      <p:sp>
        <p:nvSpPr>
          <p:cNvPr id="11" name="TextBox 10"/>
          <p:cNvSpPr txBox="1"/>
          <p:nvPr/>
        </p:nvSpPr>
        <p:spPr>
          <a:xfrm>
            <a:off x="4114800" y="2020824"/>
            <a:ext cx="7132320" cy="411480"/>
          </a:xfrm>
          <a:prstGeom prst="rect">
            <a:avLst/>
          </a:prstGeom>
          <a:noFill/>
        </p:spPr>
        <p:txBody>
          <a:bodyPr wrap="square">
            <a:spAutoFit/>
          </a:bodyPr>
          <a:lstStyle/>
          <a:p>
            <a:pPr algn="l"/>
            <a:r>
              <a:rPr sz="1000" b="0">
                <a:solidFill>
                  <a:srgbClr val="B0BCD0"/>
                </a:solidFill>
                <a:latin typeface="Calibri"/>
              </a:rPr>
              <a:t>Auto-detect entity type  •  Schema normalization  •  Data quality checks</a:t>
            </a:r>
          </a:p>
        </p:txBody>
      </p:sp>
      <p:sp>
        <p:nvSpPr>
          <p:cNvPr id="12" name="Down Arrow 11"/>
          <p:cNvSpPr/>
          <p:nvPr/>
        </p:nvSpPr>
        <p:spPr>
          <a:xfrm>
            <a:off x="5760720" y="2505456"/>
            <a:ext cx="182880" cy="182880"/>
          </a:xfrm>
          <a:prstGeom prst="downArrow">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578608"/>
            <a:ext cx="10698480" cy="530352"/>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596896"/>
            <a:ext cx="3200400" cy="274320"/>
          </a:xfrm>
          <a:prstGeom prst="rect">
            <a:avLst/>
          </a:prstGeom>
          <a:noFill/>
        </p:spPr>
        <p:txBody>
          <a:bodyPr wrap="square">
            <a:spAutoFit/>
          </a:bodyPr>
          <a:lstStyle/>
          <a:p>
            <a:pPr algn="l"/>
            <a:r>
              <a:rPr sz="1200" b="1">
                <a:solidFill>
                  <a:srgbClr val="00E5D0"/>
                </a:solidFill>
                <a:latin typeface="Calibri"/>
              </a:rPr>
              <a:t>CANONICAL DATA MODEL</a:t>
            </a:r>
          </a:p>
        </p:txBody>
      </p:sp>
      <p:sp>
        <p:nvSpPr>
          <p:cNvPr id="15" name="TextBox 14"/>
          <p:cNvSpPr txBox="1"/>
          <p:nvPr/>
        </p:nvSpPr>
        <p:spPr>
          <a:xfrm>
            <a:off x="4114800" y="2624328"/>
            <a:ext cx="7132320" cy="411480"/>
          </a:xfrm>
          <a:prstGeom prst="rect">
            <a:avLst/>
          </a:prstGeom>
          <a:noFill/>
        </p:spPr>
        <p:txBody>
          <a:bodyPr wrap="square">
            <a:spAutoFit/>
          </a:bodyPr>
          <a:lstStyle/>
          <a:p>
            <a:pPr algn="l"/>
            <a:r>
              <a:rPr sz="1000" b="0">
                <a:solidFill>
                  <a:srgbClr val="B0BCD0"/>
                </a:solidFill>
                <a:latin typeface="Calibri"/>
              </a:rPr>
              <a:t>Incidents  •  Problems  •  Changes  •  SLAs  •  Services  (SQLAlchemy ORM)</a:t>
            </a:r>
          </a:p>
        </p:txBody>
      </p:sp>
      <p:sp>
        <p:nvSpPr>
          <p:cNvPr id="16" name="Down Arrow 15"/>
          <p:cNvSpPr/>
          <p:nvPr/>
        </p:nvSpPr>
        <p:spPr>
          <a:xfrm>
            <a:off x="5760720" y="3108960"/>
            <a:ext cx="182880" cy="182880"/>
          </a:xfrm>
          <a:prstGeom prst="downArrow">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182112"/>
            <a:ext cx="10698480" cy="530352"/>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00400"/>
            <a:ext cx="3200400" cy="274320"/>
          </a:xfrm>
          <a:prstGeom prst="rect">
            <a:avLst/>
          </a:prstGeom>
          <a:noFill/>
        </p:spPr>
        <p:txBody>
          <a:bodyPr wrap="square">
            <a:spAutoFit/>
          </a:bodyPr>
          <a:lstStyle/>
          <a:p>
            <a:pPr algn="l"/>
            <a:r>
              <a:rPr sz="1200" b="1">
                <a:solidFill>
                  <a:srgbClr val="8B5CF6"/>
                </a:solidFill>
                <a:latin typeface="Calibri"/>
              </a:rPr>
              <a:t>DETERMINISTIC KPI ENGINE</a:t>
            </a:r>
          </a:p>
        </p:txBody>
      </p:sp>
      <p:sp>
        <p:nvSpPr>
          <p:cNvPr id="19" name="TextBox 18"/>
          <p:cNvSpPr txBox="1"/>
          <p:nvPr/>
        </p:nvSpPr>
        <p:spPr>
          <a:xfrm>
            <a:off x="4114800" y="3227832"/>
            <a:ext cx="7132320" cy="411480"/>
          </a:xfrm>
          <a:prstGeom prst="rect">
            <a:avLst/>
          </a:prstGeom>
          <a:noFill/>
        </p:spPr>
        <p:txBody>
          <a:bodyPr wrap="square">
            <a:spAutoFit/>
          </a:bodyPr>
          <a:lstStyle/>
          <a:p>
            <a:pPr algn="l"/>
            <a:r>
              <a:rPr sz="1000" b="0">
                <a:solidFill>
                  <a:srgbClr val="B0BCD0"/>
                </a:solidFill>
                <a:latin typeface="Calibri"/>
              </a:rPr>
              <a:t>Health Score  •  MTTR  •  SLA Compliance %  •  Change Success Rate  •  Problem Backlog</a:t>
            </a:r>
          </a:p>
        </p:txBody>
      </p:sp>
      <p:sp>
        <p:nvSpPr>
          <p:cNvPr id="20" name="Down Arrow 19"/>
          <p:cNvSpPr/>
          <p:nvPr/>
        </p:nvSpPr>
        <p:spPr>
          <a:xfrm>
            <a:off x="5760720" y="3712464"/>
            <a:ext cx="182880" cy="18288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3785616"/>
            <a:ext cx="10698480" cy="530352"/>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803904"/>
            <a:ext cx="3200400" cy="274320"/>
          </a:xfrm>
          <a:prstGeom prst="rect">
            <a:avLst/>
          </a:prstGeom>
          <a:noFill/>
        </p:spPr>
        <p:txBody>
          <a:bodyPr wrap="square">
            <a:spAutoFit/>
          </a:bodyPr>
          <a:lstStyle/>
          <a:p>
            <a:pPr algn="l"/>
            <a:r>
              <a:rPr sz="1200" b="1">
                <a:solidFill>
                  <a:srgbClr val="8B5CF6"/>
                </a:solidFill>
                <a:latin typeface="Calibri"/>
              </a:rPr>
              <a:t>CORRELATION &amp; INSIGHT</a:t>
            </a:r>
          </a:p>
        </p:txBody>
      </p:sp>
      <p:sp>
        <p:nvSpPr>
          <p:cNvPr id="23" name="TextBox 22"/>
          <p:cNvSpPr txBox="1"/>
          <p:nvPr/>
        </p:nvSpPr>
        <p:spPr>
          <a:xfrm>
            <a:off x="4114800" y="3831336"/>
            <a:ext cx="7132320" cy="411480"/>
          </a:xfrm>
          <a:prstGeom prst="rect">
            <a:avLst/>
          </a:prstGeom>
          <a:noFill/>
        </p:spPr>
        <p:txBody>
          <a:bodyPr wrap="square">
            <a:spAutoFit/>
          </a:bodyPr>
          <a:lstStyle/>
          <a:p>
            <a:pPr algn="l"/>
            <a:r>
              <a:rPr sz="1000" b="0">
                <a:solidFill>
                  <a:srgbClr val="B0BCD0"/>
                </a:solidFill>
                <a:latin typeface="Calibri"/>
              </a:rPr>
              <a:t>Change-Incident correlation  •  Service health scoring  •  Trend analysis</a:t>
            </a:r>
          </a:p>
        </p:txBody>
      </p:sp>
      <p:sp>
        <p:nvSpPr>
          <p:cNvPr id="24" name="Down Arrow 23"/>
          <p:cNvSpPr/>
          <p:nvPr/>
        </p:nvSpPr>
        <p:spPr>
          <a:xfrm>
            <a:off x="5760720" y="4315968"/>
            <a:ext cx="182880" cy="18288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389120"/>
            <a:ext cx="10698480" cy="530352"/>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07408"/>
            <a:ext cx="3200400" cy="274320"/>
          </a:xfrm>
          <a:prstGeom prst="rect">
            <a:avLst/>
          </a:prstGeom>
          <a:noFill/>
        </p:spPr>
        <p:txBody>
          <a:bodyPr wrap="square">
            <a:spAutoFit/>
          </a:bodyPr>
          <a:lstStyle/>
          <a:p>
            <a:pPr algn="l"/>
            <a:r>
              <a:rPr sz="1200" b="1">
                <a:solidFill>
                  <a:srgbClr val="8B5CF6"/>
                </a:solidFill>
                <a:latin typeface="Calibri"/>
              </a:rPr>
              <a:t>AI INTERPRETATION</a:t>
            </a:r>
          </a:p>
        </p:txBody>
      </p:sp>
      <p:sp>
        <p:nvSpPr>
          <p:cNvPr id="27" name="TextBox 26"/>
          <p:cNvSpPr txBox="1"/>
          <p:nvPr/>
        </p:nvSpPr>
        <p:spPr>
          <a:xfrm>
            <a:off x="4114800" y="4434840"/>
            <a:ext cx="7132320" cy="411480"/>
          </a:xfrm>
          <a:prstGeom prst="rect">
            <a:avLst/>
          </a:prstGeom>
          <a:noFill/>
        </p:spPr>
        <p:txBody>
          <a:bodyPr wrap="square">
            <a:spAutoFit/>
          </a:bodyPr>
          <a:lstStyle/>
          <a:p>
            <a:pPr algn="l"/>
            <a:r>
              <a:rPr sz="1000" b="0">
                <a:solidFill>
                  <a:srgbClr val="B0BCD0"/>
                </a:solidFill>
                <a:latin typeface="Calibri"/>
              </a:rPr>
              <a:t>Google Gemini  •  Executive summaries  •  Interactive Q&amp;A  •  RCA  •  Risk forecast</a:t>
            </a:r>
          </a:p>
        </p:txBody>
      </p:sp>
      <p:sp>
        <p:nvSpPr>
          <p:cNvPr id="28" name="Down Arrow 27"/>
          <p:cNvSpPr/>
          <p:nvPr/>
        </p:nvSpPr>
        <p:spPr>
          <a:xfrm>
            <a:off x="5760720" y="4919472"/>
            <a:ext cx="182880" cy="18288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1520" y="4992624"/>
            <a:ext cx="10698480" cy="53035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010912"/>
            <a:ext cx="3200400" cy="274320"/>
          </a:xfrm>
          <a:prstGeom prst="rect">
            <a:avLst/>
          </a:prstGeom>
          <a:noFill/>
        </p:spPr>
        <p:txBody>
          <a:bodyPr wrap="square">
            <a:spAutoFit/>
          </a:bodyPr>
          <a:lstStyle/>
          <a:p>
            <a:pPr algn="l"/>
            <a:r>
              <a:rPr sz="1200" b="1">
                <a:solidFill>
                  <a:srgbClr val="10B981"/>
                </a:solidFill>
                <a:latin typeface="Calibri"/>
              </a:rPr>
              <a:t>REPORTING &amp; DASHBOARD</a:t>
            </a:r>
          </a:p>
        </p:txBody>
      </p:sp>
      <p:sp>
        <p:nvSpPr>
          <p:cNvPr id="31" name="TextBox 30"/>
          <p:cNvSpPr txBox="1"/>
          <p:nvPr/>
        </p:nvSpPr>
        <p:spPr>
          <a:xfrm>
            <a:off x="4114800" y="5038344"/>
            <a:ext cx="7132320" cy="411480"/>
          </a:xfrm>
          <a:prstGeom prst="rect">
            <a:avLst/>
          </a:prstGeom>
          <a:noFill/>
        </p:spPr>
        <p:txBody>
          <a:bodyPr wrap="square">
            <a:spAutoFit/>
          </a:bodyPr>
          <a:lstStyle/>
          <a:p>
            <a:pPr algn="l"/>
            <a:r>
              <a:rPr sz="1000" b="0">
                <a:solidFill>
                  <a:srgbClr val="B0BCD0"/>
                </a:solidFill>
                <a:latin typeface="Calibri"/>
              </a:rPr>
              <a:t>React Dashboard  •  PDF Reports  •  Markdown  •  10-section executive format</a:t>
            </a:r>
          </a:p>
        </p:txBody>
      </p:sp>
      <p:sp>
        <p:nvSpPr>
          <p:cNvPr id="32" name="Down Arrow 31"/>
          <p:cNvSpPr/>
          <p:nvPr/>
        </p:nvSpPr>
        <p:spPr>
          <a:xfrm>
            <a:off x="5760720" y="5522976"/>
            <a:ext cx="182880" cy="182880"/>
          </a:xfrm>
          <a:prstGeom prst="down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1520" y="5596128"/>
            <a:ext cx="10698480" cy="53035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614416"/>
            <a:ext cx="3200400" cy="274320"/>
          </a:xfrm>
          <a:prstGeom prst="rect">
            <a:avLst/>
          </a:prstGeom>
          <a:noFill/>
        </p:spPr>
        <p:txBody>
          <a:bodyPr wrap="square">
            <a:spAutoFit/>
          </a:bodyPr>
          <a:lstStyle/>
          <a:p>
            <a:pPr algn="l"/>
            <a:r>
              <a:rPr sz="1200" b="1">
                <a:solidFill>
                  <a:srgbClr val="10B981"/>
                </a:solidFill>
                <a:latin typeface="Calibri"/>
              </a:rPr>
              <a:t>SCHEDULER &amp; NOTIFICATIONS</a:t>
            </a:r>
          </a:p>
        </p:txBody>
      </p:sp>
      <p:sp>
        <p:nvSpPr>
          <p:cNvPr id="35" name="TextBox 34"/>
          <p:cNvSpPr txBox="1"/>
          <p:nvPr/>
        </p:nvSpPr>
        <p:spPr>
          <a:xfrm>
            <a:off x="4114800" y="5641848"/>
            <a:ext cx="7132320" cy="411480"/>
          </a:xfrm>
          <a:prstGeom prst="rect">
            <a:avLst/>
          </a:prstGeom>
          <a:noFill/>
        </p:spPr>
        <p:txBody>
          <a:bodyPr wrap="square">
            <a:spAutoFit/>
          </a:bodyPr>
          <a:lstStyle/>
          <a:p>
            <a:pPr algn="l"/>
            <a:r>
              <a:rPr sz="1000" b="0">
                <a:solidFill>
                  <a:srgbClr val="B0BCD0"/>
                </a:solidFill>
                <a:latin typeface="Calibri"/>
              </a:rPr>
              <a:t>Automated daily/weekly/monthly  •  Slack Block Kit  •  Teams Adaptive Cards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000" b="1">
                <a:solidFill>
                  <a:srgbClr val="FFFFFF"/>
                </a:solidFill>
                <a:latin typeface="Calibri"/>
              </a:rPr>
              <a:t>AI Doesn't Replace the Metrics — It Explains Them</a:t>
            </a:r>
          </a:p>
        </p:txBody>
      </p:sp>
      <p:sp>
        <p:nvSpPr>
          <p:cNvPr id="4" name="Rectangle 3"/>
          <p:cNvSpPr/>
          <p:nvPr/>
        </p:nvSpPr>
        <p:spPr>
          <a:xfrm>
            <a:off x="731520" y="1097280"/>
            <a:ext cx="274320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2560320" cy="457200"/>
          </a:xfrm>
          <a:prstGeom prst="roundRect">
            <a:avLst/>
          </a:prstGeom>
          <a:solidFill>
            <a:srgbClr val="1A2035"/>
          </a:solidFill>
          <a:ln w="12700">
            <a:solidFill>
              <a:srgbClr val="B0BC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00200"/>
            <a:ext cx="2560320" cy="365760"/>
          </a:xfrm>
          <a:prstGeom prst="rect">
            <a:avLst/>
          </a:prstGeom>
          <a:noFill/>
        </p:spPr>
        <p:txBody>
          <a:bodyPr wrap="square">
            <a:spAutoFit/>
          </a:bodyPr>
          <a:lstStyle/>
          <a:p>
            <a:pPr algn="ctr"/>
            <a:r>
              <a:rPr sz="1200" b="1">
                <a:solidFill>
                  <a:srgbClr val="B0BCD0"/>
                </a:solidFill>
                <a:latin typeface="Calibri"/>
              </a:rPr>
              <a:t>RAW DATA</a:t>
            </a:r>
          </a:p>
        </p:txBody>
      </p:sp>
      <p:sp>
        <p:nvSpPr>
          <p:cNvPr id="7" name="Down Arrow 6"/>
          <p:cNvSpPr/>
          <p:nvPr/>
        </p:nvSpPr>
        <p:spPr>
          <a:xfrm>
            <a:off x="1828800" y="2029968"/>
            <a:ext cx="182880" cy="182880"/>
          </a:xfrm>
          <a:prstGeom prst="downArrow">
            <a:avLst/>
          </a:prstGeom>
          <a:solidFill>
            <a:srgbClr val="B0BC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286000"/>
            <a:ext cx="2560320" cy="45720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31720"/>
            <a:ext cx="2560320" cy="365760"/>
          </a:xfrm>
          <a:prstGeom prst="rect">
            <a:avLst/>
          </a:prstGeom>
          <a:noFill/>
        </p:spPr>
        <p:txBody>
          <a:bodyPr wrap="square">
            <a:spAutoFit/>
          </a:bodyPr>
          <a:lstStyle/>
          <a:p>
            <a:pPr algn="ctr"/>
            <a:r>
              <a:rPr sz="1200" b="1">
                <a:solidFill>
                  <a:srgbClr val="00E5D0"/>
                </a:solidFill>
                <a:latin typeface="Calibri"/>
              </a:rPr>
              <a:t>DETERMINISTIC ANALYTICS</a:t>
            </a:r>
          </a:p>
        </p:txBody>
      </p:sp>
      <p:sp>
        <p:nvSpPr>
          <p:cNvPr id="10" name="Down Arrow 9"/>
          <p:cNvSpPr/>
          <p:nvPr/>
        </p:nvSpPr>
        <p:spPr>
          <a:xfrm>
            <a:off x="1828800" y="2761488"/>
            <a:ext cx="182880" cy="182880"/>
          </a:xfrm>
          <a:prstGeom prst="downArrow">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017520"/>
            <a:ext cx="2560320" cy="45720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063240"/>
            <a:ext cx="2560320" cy="365760"/>
          </a:xfrm>
          <a:prstGeom prst="rect">
            <a:avLst/>
          </a:prstGeom>
          <a:noFill/>
        </p:spPr>
        <p:txBody>
          <a:bodyPr wrap="square">
            <a:spAutoFit/>
          </a:bodyPr>
          <a:lstStyle/>
          <a:p>
            <a:pPr algn="ctr"/>
            <a:r>
              <a:rPr sz="1200" b="1">
                <a:solidFill>
                  <a:srgbClr val="009EFF"/>
                </a:solidFill>
                <a:latin typeface="Calibri"/>
              </a:rPr>
              <a:t>FACTS</a:t>
            </a:r>
          </a:p>
        </p:txBody>
      </p:sp>
      <p:sp>
        <p:nvSpPr>
          <p:cNvPr id="13" name="Down Arrow 12"/>
          <p:cNvSpPr/>
          <p:nvPr/>
        </p:nvSpPr>
        <p:spPr>
          <a:xfrm>
            <a:off x="1828800" y="3493008"/>
            <a:ext cx="182880" cy="182880"/>
          </a:xfrm>
          <a:prstGeom prst="downArrow">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749040"/>
            <a:ext cx="2560320" cy="45720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794760"/>
            <a:ext cx="2560320" cy="365760"/>
          </a:xfrm>
          <a:prstGeom prst="rect">
            <a:avLst/>
          </a:prstGeom>
          <a:noFill/>
        </p:spPr>
        <p:txBody>
          <a:bodyPr wrap="square">
            <a:spAutoFit/>
          </a:bodyPr>
          <a:lstStyle/>
          <a:p>
            <a:pPr algn="ctr"/>
            <a:r>
              <a:rPr sz="1200" b="1">
                <a:solidFill>
                  <a:srgbClr val="8B5CF6"/>
                </a:solidFill>
                <a:latin typeface="Calibri"/>
              </a:rPr>
              <a:t>AI (GEMINI)</a:t>
            </a:r>
          </a:p>
        </p:txBody>
      </p:sp>
      <p:sp>
        <p:nvSpPr>
          <p:cNvPr id="16" name="Down Arrow 15"/>
          <p:cNvSpPr/>
          <p:nvPr/>
        </p:nvSpPr>
        <p:spPr>
          <a:xfrm>
            <a:off x="1828800" y="4224528"/>
            <a:ext cx="182880" cy="18288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480560"/>
            <a:ext cx="256032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526280"/>
            <a:ext cx="2560320" cy="365760"/>
          </a:xfrm>
          <a:prstGeom prst="rect">
            <a:avLst/>
          </a:prstGeom>
          <a:noFill/>
        </p:spPr>
        <p:txBody>
          <a:bodyPr wrap="square">
            <a:spAutoFit/>
          </a:bodyPr>
          <a:lstStyle/>
          <a:p>
            <a:pPr algn="ctr"/>
            <a:r>
              <a:rPr sz="1200" b="1">
                <a:solidFill>
                  <a:srgbClr val="10B981"/>
                </a:solidFill>
                <a:latin typeface="Calibri"/>
              </a:rPr>
              <a:t>INSIGHT</a:t>
            </a:r>
          </a:p>
        </p:txBody>
      </p:sp>
      <p:sp>
        <p:nvSpPr>
          <p:cNvPr id="19" name="Down Arrow 18"/>
          <p:cNvSpPr/>
          <p:nvPr/>
        </p:nvSpPr>
        <p:spPr>
          <a:xfrm>
            <a:off x="1828800" y="4956048"/>
            <a:ext cx="182880" cy="182880"/>
          </a:xfrm>
          <a:prstGeom prst="down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5212080"/>
            <a:ext cx="256032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257800"/>
            <a:ext cx="2560320" cy="365760"/>
          </a:xfrm>
          <a:prstGeom prst="rect">
            <a:avLst/>
          </a:prstGeom>
          <a:noFill/>
        </p:spPr>
        <p:txBody>
          <a:bodyPr wrap="square">
            <a:spAutoFit/>
          </a:bodyPr>
          <a:lstStyle/>
          <a:p>
            <a:pPr algn="ctr"/>
            <a:r>
              <a:rPr sz="1200" b="1">
                <a:solidFill>
                  <a:srgbClr val="10B981"/>
                </a:solidFill>
                <a:latin typeface="Calibri"/>
              </a:rPr>
              <a:t>RECOMMENDATION</a:t>
            </a:r>
          </a:p>
        </p:txBody>
      </p:sp>
      <p:sp>
        <p:nvSpPr>
          <p:cNvPr id="22" name="TextBox 21"/>
          <p:cNvSpPr txBox="1"/>
          <p:nvPr/>
        </p:nvSpPr>
        <p:spPr>
          <a:xfrm>
            <a:off x="4114800" y="1554480"/>
            <a:ext cx="2743200" cy="320040"/>
          </a:xfrm>
          <a:prstGeom prst="rect">
            <a:avLst/>
          </a:prstGeom>
          <a:noFill/>
        </p:spPr>
        <p:txBody>
          <a:bodyPr wrap="square">
            <a:spAutoFit/>
          </a:bodyPr>
          <a:lstStyle/>
          <a:p>
            <a:pPr algn="l"/>
            <a:r>
              <a:rPr sz="1400" b="1">
                <a:solidFill>
                  <a:srgbClr val="009EFF"/>
                </a:solidFill>
                <a:latin typeface="Calibri"/>
              </a:rPr>
              <a:t>FACT</a:t>
            </a:r>
          </a:p>
        </p:txBody>
      </p:sp>
      <p:sp>
        <p:nvSpPr>
          <p:cNvPr id="23" name="Rounded Rectangle 22"/>
          <p:cNvSpPr/>
          <p:nvPr/>
        </p:nvSpPr>
        <p:spPr>
          <a:xfrm>
            <a:off x="4114800" y="1920240"/>
            <a:ext cx="7132320" cy="73152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1965960"/>
            <a:ext cx="6583680" cy="640080"/>
          </a:xfrm>
          <a:prstGeom prst="rect">
            <a:avLst/>
          </a:prstGeom>
          <a:noFill/>
        </p:spPr>
        <p:txBody>
          <a:bodyPr wrap="square">
            <a:spAutoFit/>
          </a:bodyPr>
          <a:lstStyle/>
          <a:p>
            <a:pPr algn="l"/>
            <a:r>
              <a:rPr sz="1200" b="0">
                <a:solidFill>
                  <a:srgbClr val="B0BCD0"/>
                </a:solidFill>
                <a:latin typeface="Calibri"/>
              </a:rPr>
              <a:t>SLA compliance dropped to 91.07%.  MTTR increased to 9.63 hours.
464 active P1 incidents across 20 services.</a:t>
            </a:r>
          </a:p>
        </p:txBody>
      </p:sp>
      <p:sp>
        <p:nvSpPr>
          <p:cNvPr id="25" name="TextBox 24"/>
          <p:cNvSpPr txBox="1"/>
          <p:nvPr/>
        </p:nvSpPr>
        <p:spPr>
          <a:xfrm>
            <a:off x="4114800" y="2926080"/>
            <a:ext cx="2743200" cy="320040"/>
          </a:xfrm>
          <a:prstGeom prst="rect">
            <a:avLst/>
          </a:prstGeom>
          <a:noFill/>
        </p:spPr>
        <p:txBody>
          <a:bodyPr wrap="square">
            <a:spAutoFit/>
          </a:bodyPr>
          <a:lstStyle/>
          <a:p>
            <a:pPr algn="l"/>
            <a:r>
              <a:rPr sz="1400" b="1">
                <a:solidFill>
                  <a:srgbClr val="8B5CF6"/>
                </a:solidFill>
                <a:latin typeface="Calibri"/>
              </a:rPr>
              <a:t>AI INTERPRETATION</a:t>
            </a:r>
          </a:p>
        </p:txBody>
      </p:sp>
      <p:sp>
        <p:nvSpPr>
          <p:cNvPr id="26" name="Rounded Rectangle 25"/>
          <p:cNvSpPr/>
          <p:nvPr/>
        </p:nvSpPr>
        <p:spPr>
          <a:xfrm>
            <a:off x="4114800" y="3291840"/>
            <a:ext cx="7132320" cy="118872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3337560"/>
            <a:ext cx="6583680" cy="1097280"/>
          </a:xfrm>
          <a:prstGeom prst="rect">
            <a:avLst/>
          </a:prstGeom>
          <a:noFill/>
        </p:spPr>
        <p:txBody>
          <a:bodyPr wrap="square">
            <a:spAutoFit/>
          </a:bodyPr>
          <a:lstStyle/>
          <a:p>
            <a:pPr algn="l"/>
            <a:r>
              <a:rPr sz="1100" b="0">
                <a:solidFill>
                  <a:srgbClr val="B0BCD0"/>
                </a:solidFill>
                <a:latin typeface="Calibri"/>
              </a:rPr>
              <a:t>"The SLA breach concentration maps primarily to Payment Gateway and
Core Database Cluster, both of which experienced elevated emergency
change volumes in the preceding 48 hours. Cross-correlation analysis
indicates a 32% probability of continued degradation during upcoming
maintenance windows unless change governance is tightened."</a:t>
            </a:r>
          </a:p>
        </p:txBody>
      </p:sp>
      <p:sp>
        <p:nvSpPr>
          <p:cNvPr id="28" name="TextBox 27"/>
          <p:cNvSpPr txBox="1"/>
          <p:nvPr/>
        </p:nvSpPr>
        <p:spPr>
          <a:xfrm>
            <a:off x="4114800" y="4754880"/>
            <a:ext cx="2743200" cy="320040"/>
          </a:xfrm>
          <a:prstGeom prst="rect">
            <a:avLst/>
          </a:prstGeom>
          <a:noFill/>
        </p:spPr>
        <p:txBody>
          <a:bodyPr wrap="square">
            <a:spAutoFit/>
          </a:bodyPr>
          <a:lstStyle/>
          <a:p>
            <a:pPr algn="l"/>
            <a:r>
              <a:rPr sz="1400" b="1">
                <a:solidFill>
                  <a:srgbClr val="10B981"/>
                </a:solidFill>
                <a:latin typeface="Calibri"/>
              </a:rPr>
              <a:t>MANAGEMENT VALUE</a:t>
            </a:r>
          </a:p>
        </p:txBody>
      </p:sp>
      <p:sp>
        <p:nvSpPr>
          <p:cNvPr id="29" name="Rounded Rectangle 28"/>
          <p:cNvSpPr/>
          <p:nvPr/>
        </p:nvSpPr>
        <p:spPr>
          <a:xfrm>
            <a:off x="4114800" y="5120640"/>
            <a:ext cx="7132320" cy="73152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0" y="5166360"/>
            <a:ext cx="6583680" cy="640080"/>
          </a:xfrm>
          <a:prstGeom prst="rect">
            <a:avLst/>
          </a:prstGeom>
          <a:noFill/>
        </p:spPr>
        <p:txBody>
          <a:bodyPr wrap="square">
            <a:spAutoFit/>
          </a:bodyPr>
          <a:lstStyle/>
          <a:p>
            <a:pPr algn="l"/>
            <a:r>
              <a:rPr sz="1200" b="0">
                <a:solidFill>
                  <a:srgbClr val="10B981"/>
                </a:solidFill>
                <a:latin typeface="Calibri"/>
              </a:rPr>
              <a:t>Prioritize Payment Gateway and Database Cluster investigation.
Freeze non-essential changes during maintenance windows.
Deploy dedicated incident swarming teams for active P1 resolution.</a:t>
            </a:r>
          </a:p>
        </p:txBody>
      </p:sp>
      <p:sp>
        <p:nvSpPr>
          <p:cNvPr id="31" name="Rounded Rectangle 30"/>
          <p:cNvSpPr/>
          <p:nvPr/>
        </p:nvSpPr>
        <p:spPr>
          <a:xfrm>
            <a:off x="4114800" y="6126480"/>
            <a:ext cx="7132320" cy="365760"/>
          </a:xfrm>
          <a:prstGeom prst="roundRect">
            <a:avLst/>
          </a:prstGeom>
          <a:solidFill>
            <a:srgbClr val="2A305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6144768"/>
            <a:ext cx="6583680" cy="320040"/>
          </a:xfrm>
          <a:prstGeom prst="rect">
            <a:avLst/>
          </a:prstGeom>
          <a:noFill/>
        </p:spPr>
        <p:txBody>
          <a:bodyPr wrap="square">
            <a:spAutoFit/>
          </a:bodyPr>
          <a:lstStyle/>
          <a:p>
            <a:pPr algn="ctr"/>
            <a:r>
              <a:rPr sz="1100" b="0">
                <a:solidFill>
                  <a:srgbClr val="B0BCD0"/>
                </a:solidFill>
                <a:latin typeface="Calibri"/>
              </a:rPr>
              <a:t>Facts are deterministic  →  AI adds context, correlation, and actionable language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Ask Operations Questions in Natural Language</a:t>
            </a:r>
          </a:p>
        </p:txBody>
      </p:sp>
      <p:sp>
        <p:nvSpPr>
          <p:cNvPr id="4" name="Rectangle 3"/>
          <p:cNvSpPr/>
          <p:nvPr/>
        </p:nvSpPr>
        <p:spPr>
          <a:xfrm>
            <a:off x="731520" y="1097280"/>
            <a:ext cx="274320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6400800" cy="475488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6400800" cy="457200"/>
          </a:xfrm>
          <a:prstGeom prst="roundRect">
            <a:avLst/>
          </a:prstGeom>
          <a:solidFill>
            <a:srgbClr val="2A305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572000" cy="365760"/>
          </a:xfrm>
          <a:prstGeom prst="rect">
            <a:avLst/>
          </a:prstGeom>
          <a:noFill/>
        </p:spPr>
        <p:txBody>
          <a:bodyPr wrap="square">
            <a:spAutoFit/>
          </a:bodyPr>
          <a:lstStyle/>
          <a:p>
            <a:pPr algn="l"/>
            <a:r>
              <a:rPr sz="1200" b="1">
                <a:solidFill>
                  <a:srgbClr val="8B5CF6"/>
                </a:solidFill>
                <a:latin typeface="Calibri"/>
              </a:rPr>
              <a:t>🤖  OPSINTEL AI Operational Analyst</a:t>
            </a:r>
          </a:p>
        </p:txBody>
      </p:sp>
      <p:sp>
        <p:nvSpPr>
          <p:cNvPr id="8" name="Rounded Rectangle 7"/>
          <p:cNvSpPr/>
          <p:nvPr/>
        </p:nvSpPr>
        <p:spPr>
          <a:xfrm>
            <a:off x="2743200" y="2194560"/>
            <a:ext cx="4114800" cy="457200"/>
          </a:xfrm>
          <a:prstGeom prst="round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2240280"/>
            <a:ext cx="3840480" cy="365760"/>
          </a:xfrm>
          <a:prstGeom prst="rect">
            <a:avLst/>
          </a:prstGeom>
          <a:noFill/>
        </p:spPr>
        <p:txBody>
          <a:bodyPr wrap="square">
            <a:spAutoFit/>
          </a:bodyPr>
          <a:lstStyle/>
          <a:p>
            <a:pPr algn="l"/>
            <a:r>
              <a:rPr sz="1200" b="0">
                <a:solidFill>
                  <a:srgbClr val="FFFFFF"/>
                </a:solidFill>
                <a:latin typeface="Calibri"/>
              </a:rPr>
              <a:t>Why did incidents increase this week?</a:t>
            </a:r>
          </a:p>
        </p:txBody>
      </p:sp>
      <p:sp>
        <p:nvSpPr>
          <p:cNvPr id="10" name="Rounded Rectangle 9"/>
          <p:cNvSpPr/>
          <p:nvPr/>
        </p:nvSpPr>
        <p:spPr>
          <a:xfrm>
            <a:off x="914400" y="2834640"/>
            <a:ext cx="5943600" cy="1828800"/>
          </a:xfrm>
          <a:prstGeom prst="roundRect">
            <a:avLst/>
          </a:prstGeom>
          <a:solidFill>
            <a:srgbClr val="10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926080"/>
            <a:ext cx="5577840" cy="1645920"/>
          </a:xfrm>
          <a:prstGeom prst="rect">
            <a:avLst/>
          </a:prstGeom>
          <a:noFill/>
        </p:spPr>
        <p:txBody>
          <a:bodyPr wrap="square">
            <a:spAutoFit/>
          </a:bodyPr>
          <a:lstStyle/>
          <a:p>
            <a:pPr algn="l"/>
            <a:r>
              <a:rPr sz="1000" b="0">
                <a:solidFill>
                  <a:srgbClr val="B0BCD0"/>
                </a:solidFill>
                <a:latin typeface="Calibri"/>
              </a:rPr>
              <a:t>Based on current metrics, we have 32,403 total incidents
with 5,085 currently open. The increase is concentrated in
Payment Gateway and Authentication Service, coinciding
with 1,125 emergency changes executed this period.
MTTR stands at 9.63 hours against a 4.0-hour target.
SLA compliance has dropped to 91.07%.
📊 Sources: Incidents DB, SLA Engine, Problem Backlog</a:t>
            </a:r>
          </a:p>
        </p:txBody>
      </p:sp>
      <p:sp>
        <p:nvSpPr>
          <p:cNvPr id="12" name="Rounded Rectangle 11"/>
          <p:cNvSpPr/>
          <p:nvPr/>
        </p:nvSpPr>
        <p:spPr>
          <a:xfrm>
            <a:off x="914400" y="4754880"/>
            <a:ext cx="1828800"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a:solidFill>
                  <a:srgbClr val="FFFFFF"/>
                </a:solidFill>
                <a:latin typeface="Calibri"/>
              </a:rPr>
              <a:t>Evidence-Grounded</a:t>
            </a:r>
          </a:p>
        </p:txBody>
      </p:sp>
      <p:sp>
        <p:nvSpPr>
          <p:cNvPr id="13" name="TextBox 12"/>
          <p:cNvSpPr txBox="1"/>
          <p:nvPr/>
        </p:nvSpPr>
        <p:spPr>
          <a:xfrm>
            <a:off x="7772400" y="1463040"/>
            <a:ext cx="3657600" cy="365760"/>
          </a:xfrm>
          <a:prstGeom prst="rect">
            <a:avLst/>
          </a:prstGeom>
          <a:noFill/>
        </p:spPr>
        <p:txBody>
          <a:bodyPr wrap="square">
            <a:spAutoFit/>
          </a:bodyPr>
          <a:lstStyle/>
          <a:p>
            <a:pPr algn="l"/>
            <a:r>
              <a:rPr sz="1600" b="1">
                <a:solidFill>
                  <a:srgbClr val="8B5CF6"/>
                </a:solidFill>
                <a:latin typeface="Calibri"/>
              </a:rPr>
              <a:t>Example Questions</a:t>
            </a:r>
          </a:p>
        </p:txBody>
      </p:sp>
      <p:sp>
        <p:nvSpPr>
          <p:cNvPr id="14" name="Rounded Rectangle 13"/>
          <p:cNvSpPr/>
          <p:nvPr/>
        </p:nvSpPr>
        <p:spPr>
          <a:xfrm>
            <a:off x="7772400" y="2011680"/>
            <a:ext cx="3840480" cy="4572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2057400"/>
            <a:ext cx="3474720" cy="365760"/>
          </a:xfrm>
          <a:prstGeom prst="rect">
            <a:avLst/>
          </a:prstGeom>
          <a:noFill/>
        </p:spPr>
        <p:txBody>
          <a:bodyPr wrap="square">
            <a:spAutoFit/>
          </a:bodyPr>
          <a:lstStyle/>
          <a:p>
            <a:pPr algn="l"/>
            <a:r>
              <a:rPr sz="1000" b="0">
                <a:solidFill>
                  <a:srgbClr val="B0BCD0"/>
                </a:solidFill>
                <a:latin typeface="Calibri"/>
              </a:rPr>
              <a:t>💬  Why did incidents increase this week?</a:t>
            </a:r>
          </a:p>
        </p:txBody>
      </p:sp>
      <p:sp>
        <p:nvSpPr>
          <p:cNvPr id="16" name="Rounded Rectangle 15"/>
          <p:cNvSpPr/>
          <p:nvPr/>
        </p:nvSpPr>
        <p:spPr>
          <a:xfrm>
            <a:off x="7772400" y="2606040"/>
            <a:ext cx="3840480" cy="4572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2651760"/>
            <a:ext cx="3474720" cy="365760"/>
          </a:xfrm>
          <a:prstGeom prst="rect">
            <a:avLst/>
          </a:prstGeom>
          <a:noFill/>
        </p:spPr>
        <p:txBody>
          <a:bodyPr wrap="square">
            <a:spAutoFit/>
          </a:bodyPr>
          <a:lstStyle/>
          <a:p>
            <a:pPr algn="l"/>
            <a:r>
              <a:rPr sz="1000" b="0">
                <a:solidFill>
                  <a:srgbClr val="B0BCD0"/>
                </a:solidFill>
                <a:latin typeface="Calibri"/>
              </a:rPr>
              <a:t>💬  Which service is most at risk?</a:t>
            </a:r>
          </a:p>
        </p:txBody>
      </p:sp>
      <p:sp>
        <p:nvSpPr>
          <p:cNvPr id="18" name="Rounded Rectangle 17"/>
          <p:cNvSpPr/>
          <p:nvPr/>
        </p:nvSpPr>
        <p:spPr>
          <a:xfrm>
            <a:off x="7772400" y="3200400"/>
            <a:ext cx="3840480" cy="4572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79" y="3246120"/>
            <a:ext cx="3474720" cy="365760"/>
          </a:xfrm>
          <a:prstGeom prst="rect">
            <a:avLst/>
          </a:prstGeom>
          <a:noFill/>
        </p:spPr>
        <p:txBody>
          <a:bodyPr wrap="square">
            <a:spAutoFit/>
          </a:bodyPr>
          <a:lstStyle/>
          <a:p>
            <a:pPr algn="l"/>
            <a:r>
              <a:rPr sz="1000" b="0">
                <a:solidFill>
                  <a:srgbClr val="B0BCD0"/>
                </a:solidFill>
                <a:latin typeface="Calibri"/>
              </a:rPr>
              <a:t>💬  What changed compared with last week?</a:t>
            </a:r>
          </a:p>
        </p:txBody>
      </p:sp>
      <p:sp>
        <p:nvSpPr>
          <p:cNvPr id="20" name="Rounded Rectangle 19"/>
          <p:cNvSpPr/>
          <p:nvPr/>
        </p:nvSpPr>
        <p:spPr>
          <a:xfrm>
            <a:off x="7772400" y="3794760"/>
            <a:ext cx="3840480" cy="4572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79" y="3840480"/>
            <a:ext cx="3474720" cy="365760"/>
          </a:xfrm>
          <a:prstGeom prst="rect">
            <a:avLst/>
          </a:prstGeom>
          <a:noFill/>
        </p:spPr>
        <p:txBody>
          <a:bodyPr wrap="square">
            <a:spAutoFit/>
          </a:bodyPr>
          <a:lstStyle/>
          <a:p>
            <a:pPr algn="l"/>
            <a:r>
              <a:rPr sz="1000" b="0">
                <a:solidFill>
                  <a:srgbClr val="B0BCD0"/>
                </a:solidFill>
                <a:latin typeface="Calibri"/>
              </a:rPr>
              <a:t>💬  What are the top operational concerns?</a:t>
            </a:r>
          </a:p>
        </p:txBody>
      </p:sp>
      <p:sp>
        <p:nvSpPr>
          <p:cNvPr id="22" name="Rounded Rectangle 21"/>
          <p:cNvSpPr/>
          <p:nvPr/>
        </p:nvSpPr>
        <p:spPr>
          <a:xfrm>
            <a:off x="7772400" y="4389120"/>
            <a:ext cx="3840480" cy="4572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79" y="4434840"/>
            <a:ext cx="3474720" cy="365760"/>
          </a:xfrm>
          <a:prstGeom prst="rect">
            <a:avLst/>
          </a:prstGeom>
          <a:noFill/>
        </p:spPr>
        <p:txBody>
          <a:bodyPr wrap="square">
            <a:spAutoFit/>
          </a:bodyPr>
          <a:lstStyle/>
          <a:p>
            <a:pPr algn="l"/>
            <a:r>
              <a:rPr sz="1000" b="0">
                <a:solidFill>
                  <a:srgbClr val="B0BCD0"/>
                </a:solidFill>
                <a:latin typeface="Calibri"/>
              </a:rPr>
              <a:t>💬  Summarize this month's operational health.</a:t>
            </a:r>
          </a:p>
        </p:txBody>
      </p:sp>
      <p:sp>
        <p:nvSpPr>
          <p:cNvPr id="24" name="Rounded Rectangle 23"/>
          <p:cNvSpPr/>
          <p:nvPr/>
        </p:nvSpPr>
        <p:spPr>
          <a:xfrm>
            <a:off x="7772400" y="4983480"/>
            <a:ext cx="3840480" cy="4572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79" y="5029200"/>
            <a:ext cx="3474720" cy="365760"/>
          </a:xfrm>
          <a:prstGeom prst="rect">
            <a:avLst/>
          </a:prstGeom>
          <a:noFill/>
        </p:spPr>
        <p:txBody>
          <a:bodyPr wrap="square">
            <a:spAutoFit/>
          </a:bodyPr>
          <a:lstStyle/>
          <a:p>
            <a:pPr algn="l"/>
            <a:r>
              <a:rPr sz="1000" b="0">
                <a:solidFill>
                  <a:srgbClr val="B0BCD0"/>
                </a:solidFill>
                <a:latin typeface="Calibri"/>
              </a:rPr>
              <a:t>💬  What is our current SLA breach rate?</a:t>
            </a:r>
          </a:p>
        </p:txBody>
      </p:sp>
      <p:sp>
        <p:nvSpPr>
          <p:cNvPr id="26" name="Rounded Rectangle 25"/>
          <p:cNvSpPr/>
          <p:nvPr/>
        </p:nvSpPr>
        <p:spPr>
          <a:xfrm>
            <a:off x="7772400" y="5577840"/>
            <a:ext cx="3840480" cy="4572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5623560"/>
            <a:ext cx="3474720" cy="365760"/>
          </a:xfrm>
          <a:prstGeom prst="rect">
            <a:avLst/>
          </a:prstGeom>
          <a:noFill/>
        </p:spPr>
        <p:txBody>
          <a:bodyPr wrap="square">
            <a:spAutoFit/>
          </a:bodyPr>
          <a:lstStyle/>
          <a:p>
            <a:pPr algn="l"/>
            <a:r>
              <a:rPr sz="1000" b="0">
                <a:solidFill>
                  <a:srgbClr val="B0BCD0"/>
                </a:solidFill>
                <a:latin typeface="Calibri"/>
              </a:rPr>
              <a:t>💬  Generate an RCA for the Payment Gateway.</a:t>
            </a:r>
          </a:p>
        </p:txBody>
      </p:sp>
      <p:sp>
        <p:nvSpPr>
          <p:cNvPr id="28" name="Rounded Rectangle 27"/>
          <p:cNvSpPr/>
          <p:nvPr/>
        </p:nvSpPr>
        <p:spPr>
          <a:xfrm>
            <a:off x="7772400" y="5760720"/>
            <a:ext cx="3840480" cy="457200"/>
          </a:xfrm>
          <a:prstGeom prst="roundRect">
            <a:avLst/>
          </a:prstGeom>
          <a:solidFill>
            <a:srgbClr val="2A305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79" y="5806440"/>
            <a:ext cx="3474720" cy="365760"/>
          </a:xfrm>
          <a:prstGeom prst="rect">
            <a:avLst/>
          </a:prstGeom>
          <a:noFill/>
        </p:spPr>
        <p:txBody>
          <a:bodyPr wrap="square">
            <a:spAutoFit/>
          </a:bodyPr>
          <a:lstStyle/>
          <a:p>
            <a:pPr algn="ctr"/>
            <a:r>
              <a:rPr sz="1000" b="0">
                <a:solidFill>
                  <a:srgbClr val="B0BCD0"/>
                </a:solidFill>
                <a:latin typeface="Calibri"/>
              </a:rPr>
              <a:t>All answers grounded in actual KPI data
Role-aware: Admin vs Viewer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One Screen for Operational Health</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00400" cy="201168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3200400" cy="274320"/>
          </a:xfrm>
          <a:prstGeom prst="rect">
            <a:avLst/>
          </a:prstGeom>
          <a:noFill/>
        </p:spPr>
        <p:txBody>
          <a:bodyPr wrap="square">
            <a:spAutoFit/>
          </a:bodyPr>
          <a:lstStyle/>
          <a:p>
            <a:pPr algn="ctr"/>
            <a:r>
              <a:rPr sz="1000" b="0">
                <a:solidFill>
                  <a:srgbClr val="707E96"/>
                </a:solidFill>
                <a:latin typeface="Calibri"/>
              </a:rPr>
              <a:t>OPERATIONAL HEALTH</a:t>
            </a:r>
          </a:p>
        </p:txBody>
      </p:sp>
      <p:sp>
        <p:nvSpPr>
          <p:cNvPr id="7" name="TextBox 6"/>
          <p:cNvSpPr txBox="1"/>
          <p:nvPr/>
        </p:nvSpPr>
        <p:spPr>
          <a:xfrm>
            <a:off x="731520" y="1920240"/>
            <a:ext cx="3200400" cy="731520"/>
          </a:xfrm>
          <a:prstGeom prst="rect">
            <a:avLst/>
          </a:prstGeom>
          <a:noFill/>
        </p:spPr>
        <p:txBody>
          <a:bodyPr wrap="square">
            <a:spAutoFit/>
          </a:bodyPr>
          <a:lstStyle/>
          <a:p>
            <a:pPr algn="ctr"/>
            <a:r>
              <a:rPr sz="4800" b="1">
                <a:solidFill>
                  <a:srgbClr val="EF4444"/>
                </a:solidFill>
                <a:latin typeface="Calibri"/>
              </a:rPr>
              <a:t>41.3</a:t>
            </a:r>
          </a:p>
        </p:txBody>
      </p:sp>
      <p:sp>
        <p:nvSpPr>
          <p:cNvPr id="8" name="TextBox 7"/>
          <p:cNvSpPr txBox="1"/>
          <p:nvPr/>
        </p:nvSpPr>
        <p:spPr>
          <a:xfrm>
            <a:off x="731520" y="2651760"/>
            <a:ext cx="3200400" cy="274320"/>
          </a:xfrm>
          <a:prstGeom prst="rect">
            <a:avLst/>
          </a:prstGeom>
          <a:noFill/>
        </p:spPr>
        <p:txBody>
          <a:bodyPr wrap="square">
            <a:spAutoFit/>
          </a:bodyPr>
          <a:lstStyle/>
          <a:p>
            <a:pPr algn="ctr"/>
            <a:r>
              <a:rPr sz="1400" b="1">
                <a:solidFill>
                  <a:srgbClr val="EF4444"/>
                </a:solidFill>
                <a:latin typeface="Calibri"/>
              </a:rPr>
              <a:t>CRITICAL</a:t>
            </a:r>
          </a:p>
        </p:txBody>
      </p:sp>
      <p:sp>
        <p:nvSpPr>
          <p:cNvPr id="9" name="TextBox 8"/>
          <p:cNvSpPr txBox="1"/>
          <p:nvPr/>
        </p:nvSpPr>
        <p:spPr>
          <a:xfrm>
            <a:off x="731520" y="3017520"/>
            <a:ext cx="3200400" cy="274320"/>
          </a:xfrm>
          <a:prstGeom prst="rect">
            <a:avLst/>
          </a:prstGeom>
          <a:noFill/>
        </p:spPr>
        <p:txBody>
          <a:bodyPr wrap="square">
            <a:spAutoFit/>
          </a:bodyPr>
          <a:lstStyle/>
          <a:p>
            <a:pPr algn="ctr"/>
            <a:r>
              <a:rPr sz="1200" b="0">
                <a:solidFill>
                  <a:srgbClr val="707E96"/>
                </a:solidFill>
                <a:latin typeface="Calibri"/>
              </a:rPr>
              <a:t>/ 100</a:t>
            </a:r>
          </a:p>
        </p:txBody>
      </p:sp>
      <p:sp>
        <p:nvSpPr>
          <p:cNvPr id="10" name="Rounded Rectangle 9"/>
          <p:cNvSpPr/>
          <p:nvPr/>
        </p:nvSpPr>
        <p:spPr>
          <a:xfrm>
            <a:off x="4389120" y="1463040"/>
            <a:ext cx="1417320" cy="9144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508760"/>
            <a:ext cx="1325880" cy="228600"/>
          </a:xfrm>
          <a:prstGeom prst="rect">
            <a:avLst/>
          </a:prstGeom>
          <a:noFill/>
        </p:spPr>
        <p:txBody>
          <a:bodyPr wrap="square">
            <a:spAutoFit/>
          </a:bodyPr>
          <a:lstStyle/>
          <a:p>
            <a:pPr algn="ctr"/>
            <a:r>
              <a:rPr sz="800" b="0">
                <a:solidFill>
                  <a:srgbClr val="707E96"/>
                </a:solidFill>
                <a:latin typeface="Calibri"/>
              </a:rPr>
              <a:t>Total Incidents</a:t>
            </a:r>
          </a:p>
        </p:txBody>
      </p:sp>
      <p:sp>
        <p:nvSpPr>
          <p:cNvPr id="12" name="TextBox 11"/>
          <p:cNvSpPr txBox="1"/>
          <p:nvPr/>
        </p:nvSpPr>
        <p:spPr>
          <a:xfrm>
            <a:off x="4434840" y="1783080"/>
            <a:ext cx="1325880" cy="457200"/>
          </a:xfrm>
          <a:prstGeom prst="rect">
            <a:avLst/>
          </a:prstGeom>
          <a:noFill/>
        </p:spPr>
        <p:txBody>
          <a:bodyPr wrap="square">
            <a:spAutoFit/>
          </a:bodyPr>
          <a:lstStyle/>
          <a:p>
            <a:pPr algn="ctr"/>
            <a:r>
              <a:rPr sz="1800" b="1">
                <a:solidFill>
                  <a:srgbClr val="EF4444"/>
                </a:solidFill>
                <a:latin typeface="Calibri"/>
              </a:rPr>
              <a:t>32,403</a:t>
            </a:r>
          </a:p>
        </p:txBody>
      </p:sp>
      <p:sp>
        <p:nvSpPr>
          <p:cNvPr id="13" name="Rounded Rectangle 12"/>
          <p:cNvSpPr/>
          <p:nvPr/>
        </p:nvSpPr>
        <p:spPr>
          <a:xfrm>
            <a:off x="5943600" y="1463040"/>
            <a:ext cx="1417320" cy="91440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1508760"/>
            <a:ext cx="1325880" cy="228600"/>
          </a:xfrm>
          <a:prstGeom prst="rect">
            <a:avLst/>
          </a:prstGeom>
          <a:noFill/>
        </p:spPr>
        <p:txBody>
          <a:bodyPr wrap="square">
            <a:spAutoFit/>
          </a:bodyPr>
          <a:lstStyle/>
          <a:p>
            <a:pPr algn="ctr"/>
            <a:r>
              <a:rPr sz="800" b="0">
                <a:solidFill>
                  <a:srgbClr val="707E96"/>
                </a:solidFill>
                <a:latin typeface="Calibri"/>
              </a:rPr>
              <a:t>Open Backlog</a:t>
            </a:r>
          </a:p>
        </p:txBody>
      </p:sp>
      <p:sp>
        <p:nvSpPr>
          <p:cNvPr id="15" name="TextBox 14"/>
          <p:cNvSpPr txBox="1"/>
          <p:nvPr/>
        </p:nvSpPr>
        <p:spPr>
          <a:xfrm>
            <a:off x="5989320" y="1783080"/>
            <a:ext cx="1325880" cy="457200"/>
          </a:xfrm>
          <a:prstGeom prst="rect">
            <a:avLst/>
          </a:prstGeom>
          <a:noFill/>
        </p:spPr>
        <p:txBody>
          <a:bodyPr wrap="square">
            <a:spAutoFit/>
          </a:bodyPr>
          <a:lstStyle/>
          <a:p>
            <a:pPr algn="ctr"/>
            <a:r>
              <a:rPr sz="1800" b="1">
                <a:solidFill>
                  <a:srgbClr val="F59E0B"/>
                </a:solidFill>
                <a:latin typeface="Calibri"/>
              </a:rPr>
              <a:t>5,085</a:t>
            </a:r>
          </a:p>
        </p:txBody>
      </p:sp>
      <p:sp>
        <p:nvSpPr>
          <p:cNvPr id="16" name="Rounded Rectangle 15"/>
          <p:cNvSpPr/>
          <p:nvPr/>
        </p:nvSpPr>
        <p:spPr>
          <a:xfrm>
            <a:off x="7498080" y="1463040"/>
            <a:ext cx="1417320" cy="91440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0" y="1508760"/>
            <a:ext cx="1325880" cy="228600"/>
          </a:xfrm>
          <a:prstGeom prst="rect">
            <a:avLst/>
          </a:prstGeom>
          <a:noFill/>
        </p:spPr>
        <p:txBody>
          <a:bodyPr wrap="square">
            <a:spAutoFit/>
          </a:bodyPr>
          <a:lstStyle/>
          <a:p>
            <a:pPr algn="ctr"/>
            <a:r>
              <a:rPr sz="800" b="0">
                <a:solidFill>
                  <a:srgbClr val="707E96"/>
                </a:solidFill>
                <a:latin typeface="Calibri"/>
              </a:rPr>
              <a:t>MTTR</a:t>
            </a:r>
          </a:p>
        </p:txBody>
      </p:sp>
      <p:sp>
        <p:nvSpPr>
          <p:cNvPr id="18" name="TextBox 17"/>
          <p:cNvSpPr txBox="1"/>
          <p:nvPr/>
        </p:nvSpPr>
        <p:spPr>
          <a:xfrm>
            <a:off x="7543800" y="1783080"/>
            <a:ext cx="1325880" cy="457200"/>
          </a:xfrm>
          <a:prstGeom prst="rect">
            <a:avLst/>
          </a:prstGeom>
          <a:noFill/>
        </p:spPr>
        <p:txBody>
          <a:bodyPr wrap="square">
            <a:spAutoFit/>
          </a:bodyPr>
          <a:lstStyle/>
          <a:p>
            <a:pPr algn="ctr"/>
            <a:r>
              <a:rPr sz="1800" b="1">
                <a:solidFill>
                  <a:srgbClr val="F59E0B"/>
                </a:solidFill>
                <a:latin typeface="Calibri"/>
              </a:rPr>
              <a:t>9.63 hrs</a:t>
            </a:r>
          </a:p>
        </p:txBody>
      </p:sp>
      <p:sp>
        <p:nvSpPr>
          <p:cNvPr id="19" name="Rounded Rectangle 18"/>
          <p:cNvSpPr/>
          <p:nvPr/>
        </p:nvSpPr>
        <p:spPr>
          <a:xfrm>
            <a:off x="9052560" y="1463040"/>
            <a:ext cx="1417320" cy="9144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1508760"/>
            <a:ext cx="1325880" cy="228600"/>
          </a:xfrm>
          <a:prstGeom prst="rect">
            <a:avLst/>
          </a:prstGeom>
          <a:noFill/>
        </p:spPr>
        <p:txBody>
          <a:bodyPr wrap="square">
            <a:spAutoFit/>
          </a:bodyPr>
          <a:lstStyle/>
          <a:p>
            <a:pPr algn="ctr"/>
            <a:r>
              <a:rPr sz="800" b="0">
                <a:solidFill>
                  <a:srgbClr val="707E96"/>
                </a:solidFill>
                <a:latin typeface="Calibri"/>
              </a:rPr>
              <a:t>SLA Compliance</a:t>
            </a:r>
          </a:p>
        </p:txBody>
      </p:sp>
      <p:sp>
        <p:nvSpPr>
          <p:cNvPr id="21" name="TextBox 20"/>
          <p:cNvSpPr txBox="1"/>
          <p:nvPr/>
        </p:nvSpPr>
        <p:spPr>
          <a:xfrm>
            <a:off x="9098280" y="1783080"/>
            <a:ext cx="1325880" cy="457200"/>
          </a:xfrm>
          <a:prstGeom prst="rect">
            <a:avLst/>
          </a:prstGeom>
          <a:noFill/>
        </p:spPr>
        <p:txBody>
          <a:bodyPr wrap="square">
            <a:spAutoFit/>
          </a:bodyPr>
          <a:lstStyle/>
          <a:p>
            <a:pPr algn="ctr"/>
            <a:r>
              <a:rPr sz="1800" b="1">
                <a:solidFill>
                  <a:srgbClr val="EF4444"/>
                </a:solidFill>
                <a:latin typeface="Calibri"/>
              </a:rPr>
              <a:t>91.07%</a:t>
            </a:r>
          </a:p>
        </p:txBody>
      </p:sp>
      <p:sp>
        <p:nvSpPr>
          <p:cNvPr id="22" name="Rounded Rectangle 21"/>
          <p:cNvSpPr/>
          <p:nvPr/>
        </p:nvSpPr>
        <p:spPr>
          <a:xfrm>
            <a:off x="10607040" y="1463040"/>
            <a:ext cx="1417320" cy="91440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52760" y="1508760"/>
            <a:ext cx="1325880" cy="228600"/>
          </a:xfrm>
          <a:prstGeom prst="rect">
            <a:avLst/>
          </a:prstGeom>
          <a:noFill/>
        </p:spPr>
        <p:txBody>
          <a:bodyPr wrap="square">
            <a:spAutoFit/>
          </a:bodyPr>
          <a:lstStyle/>
          <a:p>
            <a:pPr algn="ctr"/>
            <a:r>
              <a:rPr sz="800" b="0">
                <a:solidFill>
                  <a:srgbClr val="707E96"/>
                </a:solidFill>
                <a:latin typeface="Calibri"/>
              </a:rPr>
              <a:t>Change Success</a:t>
            </a:r>
          </a:p>
        </p:txBody>
      </p:sp>
      <p:sp>
        <p:nvSpPr>
          <p:cNvPr id="24" name="TextBox 23"/>
          <p:cNvSpPr txBox="1"/>
          <p:nvPr/>
        </p:nvSpPr>
        <p:spPr>
          <a:xfrm>
            <a:off x="10652760" y="1783080"/>
            <a:ext cx="1325880" cy="457200"/>
          </a:xfrm>
          <a:prstGeom prst="rect">
            <a:avLst/>
          </a:prstGeom>
          <a:noFill/>
        </p:spPr>
        <p:txBody>
          <a:bodyPr wrap="square">
            <a:spAutoFit/>
          </a:bodyPr>
          <a:lstStyle/>
          <a:p>
            <a:pPr algn="ctr"/>
            <a:r>
              <a:rPr sz="1800" b="1">
                <a:solidFill>
                  <a:srgbClr val="F59E0B"/>
                </a:solidFill>
                <a:latin typeface="Calibri"/>
              </a:rPr>
              <a:t>91.86%</a:t>
            </a:r>
          </a:p>
        </p:txBody>
      </p:sp>
      <p:sp>
        <p:nvSpPr>
          <p:cNvPr id="25" name="Rounded Rectangle 24"/>
          <p:cNvSpPr/>
          <p:nvPr/>
        </p:nvSpPr>
        <p:spPr>
          <a:xfrm>
            <a:off x="4389120" y="2560320"/>
            <a:ext cx="7315200" cy="9144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2606040"/>
            <a:ext cx="2743200" cy="228600"/>
          </a:xfrm>
          <a:prstGeom prst="rect">
            <a:avLst/>
          </a:prstGeom>
          <a:noFill/>
        </p:spPr>
        <p:txBody>
          <a:bodyPr wrap="square">
            <a:spAutoFit/>
          </a:bodyPr>
          <a:lstStyle/>
          <a:p>
            <a:pPr algn="l"/>
            <a:r>
              <a:rPr sz="900" b="0">
                <a:solidFill>
                  <a:srgbClr val="707E96"/>
                </a:solidFill>
                <a:latin typeface="Calibri"/>
              </a:rPr>
              <a:t>📈  INCIDENT &amp; CHANGE TRENDS</a:t>
            </a:r>
          </a:p>
        </p:txBody>
      </p:sp>
      <p:sp>
        <p:nvSpPr>
          <p:cNvPr id="27" name="Rectangle 26"/>
          <p:cNvSpPr/>
          <p:nvPr/>
        </p:nvSpPr>
        <p:spPr>
          <a:xfrm>
            <a:off x="4572000" y="3063240"/>
            <a:ext cx="320040" cy="27432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0" y="3017520"/>
            <a:ext cx="320040" cy="32004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108960"/>
            <a:ext cx="320040" cy="2286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0" y="2971800"/>
            <a:ext cx="3200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2926080"/>
            <a:ext cx="32004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0" y="3040380"/>
            <a:ext cx="320040" cy="29718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0" y="2994660"/>
            <a:ext cx="320040" cy="3429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0" y="2948940"/>
            <a:ext cx="320040" cy="3886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0" y="3017520"/>
            <a:ext cx="320040" cy="32004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86800" y="3063240"/>
            <a:ext cx="320040" cy="27432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44000" y="3108960"/>
            <a:ext cx="320040" cy="2286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601200" y="3017520"/>
            <a:ext cx="320040" cy="32004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58400" y="2971800"/>
            <a:ext cx="320040"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515600" y="2926080"/>
            <a:ext cx="32004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31520" y="3749039"/>
            <a:ext cx="5486400" cy="228600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3794760"/>
            <a:ext cx="3657600" cy="274320"/>
          </a:xfrm>
          <a:prstGeom prst="rect">
            <a:avLst/>
          </a:prstGeom>
          <a:noFill/>
        </p:spPr>
        <p:txBody>
          <a:bodyPr wrap="square">
            <a:spAutoFit/>
          </a:bodyPr>
          <a:lstStyle/>
          <a:p>
            <a:pPr algn="l"/>
            <a:r>
              <a:rPr sz="1000" b="0">
                <a:solidFill>
                  <a:srgbClr val="707E96"/>
                </a:solidFill>
                <a:latin typeface="Calibri"/>
              </a:rPr>
              <a:t>🛡  SERVICE HEALTH GRID</a:t>
            </a:r>
          </a:p>
        </p:txBody>
      </p:sp>
      <p:sp>
        <p:nvSpPr>
          <p:cNvPr id="43" name="TextBox 42"/>
          <p:cNvSpPr txBox="1"/>
          <p:nvPr/>
        </p:nvSpPr>
        <p:spPr>
          <a:xfrm>
            <a:off x="914400" y="4114800"/>
            <a:ext cx="1645920" cy="274320"/>
          </a:xfrm>
          <a:prstGeom prst="rect">
            <a:avLst/>
          </a:prstGeom>
          <a:noFill/>
        </p:spPr>
        <p:txBody>
          <a:bodyPr wrap="square">
            <a:spAutoFit/>
          </a:bodyPr>
          <a:lstStyle/>
          <a:p>
            <a:pPr algn="l"/>
            <a:r>
              <a:rPr sz="900" b="0">
                <a:solidFill>
                  <a:srgbClr val="B0BCD0"/>
                </a:solidFill>
                <a:latin typeface="Calibri"/>
              </a:rPr>
              <a:t>Payment Gateway</a:t>
            </a:r>
          </a:p>
        </p:txBody>
      </p:sp>
      <p:sp>
        <p:nvSpPr>
          <p:cNvPr id="44" name="Rounded Rectangle 43"/>
          <p:cNvSpPr/>
          <p:nvPr/>
        </p:nvSpPr>
        <p:spPr>
          <a:xfrm>
            <a:off x="2743200" y="4114800"/>
            <a:ext cx="731520" cy="2286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CRITICAL</a:t>
            </a:r>
          </a:p>
        </p:txBody>
      </p:sp>
      <p:sp>
        <p:nvSpPr>
          <p:cNvPr id="45" name="TextBox 44"/>
          <p:cNvSpPr txBox="1"/>
          <p:nvPr/>
        </p:nvSpPr>
        <p:spPr>
          <a:xfrm>
            <a:off x="3657600" y="4114800"/>
            <a:ext cx="1645920" cy="274320"/>
          </a:xfrm>
          <a:prstGeom prst="rect">
            <a:avLst/>
          </a:prstGeom>
          <a:noFill/>
        </p:spPr>
        <p:txBody>
          <a:bodyPr wrap="square">
            <a:spAutoFit/>
          </a:bodyPr>
          <a:lstStyle/>
          <a:p>
            <a:pPr algn="l"/>
            <a:r>
              <a:rPr sz="900" b="0">
                <a:solidFill>
                  <a:srgbClr val="B0BCD0"/>
                </a:solidFill>
                <a:latin typeface="Calibri"/>
              </a:rPr>
              <a:t>Auth Service</a:t>
            </a:r>
          </a:p>
        </p:txBody>
      </p:sp>
      <p:sp>
        <p:nvSpPr>
          <p:cNvPr id="46" name="Rounded Rectangle 45"/>
          <p:cNvSpPr/>
          <p:nvPr/>
        </p:nvSpPr>
        <p:spPr>
          <a:xfrm>
            <a:off x="5486400" y="4114800"/>
            <a:ext cx="73152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WARNING</a:t>
            </a:r>
          </a:p>
        </p:txBody>
      </p:sp>
      <p:sp>
        <p:nvSpPr>
          <p:cNvPr id="47" name="TextBox 46"/>
          <p:cNvSpPr txBox="1"/>
          <p:nvPr/>
        </p:nvSpPr>
        <p:spPr>
          <a:xfrm>
            <a:off x="914400" y="4572000"/>
            <a:ext cx="1645920" cy="274320"/>
          </a:xfrm>
          <a:prstGeom prst="rect">
            <a:avLst/>
          </a:prstGeom>
          <a:noFill/>
        </p:spPr>
        <p:txBody>
          <a:bodyPr wrap="square">
            <a:spAutoFit/>
          </a:bodyPr>
          <a:lstStyle/>
          <a:p>
            <a:pPr algn="l"/>
            <a:r>
              <a:rPr sz="900" b="0">
                <a:solidFill>
                  <a:srgbClr val="B0BCD0"/>
                </a:solidFill>
                <a:latin typeface="Calibri"/>
              </a:rPr>
              <a:t>Core Database</a:t>
            </a:r>
          </a:p>
        </p:txBody>
      </p:sp>
      <p:sp>
        <p:nvSpPr>
          <p:cNvPr id="48" name="Rounded Rectangle 47"/>
          <p:cNvSpPr/>
          <p:nvPr/>
        </p:nvSpPr>
        <p:spPr>
          <a:xfrm>
            <a:off x="2743200" y="4572000"/>
            <a:ext cx="731520" cy="2286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CRITICAL</a:t>
            </a:r>
          </a:p>
        </p:txBody>
      </p:sp>
      <p:sp>
        <p:nvSpPr>
          <p:cNvPr id="49" name="TextBox 48"/>
          <p:cNvSpPr txBox="1"/>
          <p:nvPr/>
        </p:nvSpPr>
        <p:spPr>
          <a:xfrm>
            <a:off x="3657600" y="4572000"/>
            <a:ext cx="1645920" cy="274320"/>
          </a:xfrm>
          <a:prstGeom prst="rect">
            <a:avLst/>
          </a:prstGeom>
          <a:noFill/>
        </p:spPr>
        <p:txBody>
          <a:bodyPr wrap="square">
            <a:spAutoFit/>
          </a:bodyPr>
          <a:lstStyle/>
          <a:p>
            <a:pPr algn="l"/>
            <a:r>
              <a:rPr sz="900" b="0">
                <a:solidFill>
                  <a:srgbClr val="B0BCD0"/>
                </a:solidFill>
                <a:latin typeface="Calibri"/>
              </a:rPr>
              <a:t>E-Commerce</a:t>
            </a:r>
          </a:p>
        </p:txBody>
      </p:sp>
      <p:sp>
        <p:nvSpPr>
          <p:cNvPr id="50" name="Rounded Rectangle 49"/>
          <p:cNvSpPr/>
          <p:nvPr/>
        </p:nvSpPr>
        <p:spPr>
          <a:xfrm>
            <a:off x="5486400" y="4572000"/>
            <a:ext cx="73152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WARNING</a:t>
            </a:r>
          </a:p>
        </p:txBody>
      </p:sp>
      <p:sp>
        <p:nvSpPr>
          <p:cNvPr id="51" name="TextBox 50"/>
          <p:cNvSpPr txBox="1"/>
          <p:nvPr/>
        </p:nvSpPr>
        <p:spPr>
          <a:xfrm>
            <a:off x="914400" y="5029200"/>
            <a:ext cx="1645920" cy="274320"/>
          </a:xfrm>
          <a:prstGeom prst="rect">
            <a:avLst/>
          </a:prstGeom>
          <a:noFill/>
        </p:spPr>
        <p:txBody>
          <a:bodyPr wrap="square">
            <a:spAutoFit/>
          </a:bodyPr>
          <a:lstStyle/>
          <a:p>
            <a:pPr algn="l"/>
            <a:r>
              <a:rPr sz="900" b="0">
                <a:solidFill>
                  <a:srgbClr val="B0BCD0"/>
                </a:solidFill>
                <a:latin typeface="Calibri"/>
              </a:rPr>
              <a:t>Order Mgmt</a:t>
            </a:r>
          </a:p>
        </p:txBody>
      </p:sp>
      <p:sp>
        <p:nvSpPr>
          <p:cNvPr id="52" name="Rounded Rectangle 51"/>
          <p:cNvSpPr/>
          <p:nvPr/>
        </p:nvSpPr>
        <p:spPr>
          <a:xfrm>
            <a:off x="2743200" y="5029200"/>
            <a:ext cx="731520" cy="228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HEALTHY</a:t>
            </a:r>
          </a:p>
        </p:txBody>
      </p:sp>
      <p:sp>
        <p:nvSpPr>
          <p:cNvPr id="53" name="TextBox 52"/>
          <p:cNvSpPr txBox="1"/>
          <p:nvPr/>
        </p:nvSpPr>
        <p:spPr>
          <a:xfrm>
            <a:off x="3657600" y="5029200"/>
            <a:ext cx="1645920" cy="274320"/>
          </a:xfrm>
          <a:prstGeom prst="rect">
            <a:avLst/>
          </a:prstGeom>
          <a:noFill/>
        </p:spPr>
        <p:txBody>
          <a:bodyPr wrap="square">
            <a:spAutoFit/>
          </a:bodyPr>
          <a:lstStyle/>
          <a:p>
            <a:pPr algn="l"/>
            <a:r>
              <a:rPr sz="900" b="0">
                <a:solidFill>
                  <a:srgbClr val="B0BCD0"/>
                </a:solidFill>
                <a:latin typeface="Calibri"/>
              </a:rPr>
              <a:t>API Gateway</a:t>
            </a:r>
          </a:p>
        </p:txBody>
      </p:sp>
      <p:sp>
        <p:nvSpPr>
          <p:cNvPr id="54" name="Rounded Rectangle 53"/>
          <p:cNvSpPr/>
          <p:nvPr/>
        </p:nvSpPr>
        <p:spPr>
          <a:xfrm>
            <a:off x="5486400" y="5029200"/>
            <a:ext cx="731520" cy="2286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CRITICAL</a:t>
            </a:r>
          </a:p>
        </p:txBody>
      </p:sp>
      <p:sp>
        <p:nvSpPr>
          <p:cNvPr id="55" name="TextBox 54"/>
          <p:cNvSpPr txBox="1"/>
          <p:nvPr/>
        </p:nvSpPr>
        <p:spPr>
          <a:xfrm>
            <a:off x="914400" y="5486400"/>
            <a:ext cx="1645920" cy="274320"/>
          </a:xfrm>
          <a:prstGeom prst="rect">
            <a:avLst/>
          </a:prstGeom>
          <a:noFill/>
        </p:spPr>
        <p:txBody>
          <a:bodyPr wrap="square">
            <a:spAutoFit/>
          </a:bodyPr>
          <a:lstStyle/>
          <a:p>
            <a:pPr algn="l"/>
            <a:r>
              <a:rPr sz="900" b="0">
                <a:solidFill>
                  <a:srgbClr val="B0BCD0"/>
                </a:solidFill>
                <a:latin typeface="Calibri"/>
              </a:rPr>
              <a:t>Network Switch</a:t>
            </a:r>
          </a:p>
        </p:txBody>
      </p:sp>
      <p:sp>
        <p:nvSpPr>
          <p:cNvPr id="56" name="Rounded Rectangle 55"/>
          <p:cNvSpPr/>
          <p:nvPr/>
        </p:nvSpPr>
        <p:spPr>
          <a:xfrm>
            <a:off x="2743200" y="5486400"/>
            <a:ext cx="731520"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WARNING</a:t>
            </a:r>
          </a:p>
        </p:txBody>
      </p:sp>
      <p:sp>
        <p:nvSpPr>
          <p:cNvPr id="57" name="TextBox 56"/>
          <p:cNvSpPr txBox="1"/>
          <p:nvPr/>
        </p:nvSpPr>
        <p:spPr>
          <a:xfrm>
            <a:off x="3657600" y="5486400"/>
            <a:ext cx="1645920" cy="274320"/>
          </a:xfrm>
          <a:prstGeom prst="rect">
            <a:avLst/>
          </a:prstGeom>
          <a:noFill/>
        </p:spPr>
        <p:txBody>
          <a:bodyPr wrap="square">
            <a:spAutoFit/>
          </a:bodyPr>
          <a:lstStyle/>
          <a:p>
            <a:pPr algn="l"/>
            <a:r>
              <a:rPr sz="900" b="0">
                <a:solidFill>
                  <a:srgbClr val="B0BCD0"/>
                </a:solidFill>
                <a:latin typeface="Calibri"/>
              </a:rPr>
              <a:t>Inventory</a:t>
            </a:r>
          </a:p>
        </p:txBody>
      </p:sp>
      <p:sp>
        <p:nvSpPr>
          <p:cNvPr id="58" name="Rounded Rectangle 57"/>
          <p:cNvSpPr/>
          <p:nvPr/>
        </p:nvSpPr>
        <p:spPr>
          <a:xfrm>
            <a:off x="5486400" y="5486400"/>
            <a:ext cx="731520" cy="228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00" b="1">
                <a:solidFill>
                  <a:srgbClr val="FFFFFF"/>
                </a:solidFill>
                <a:latin typeface="Calibri"/>
              </a:rPr>
              <a:t>HEALTHY</a:t>
            </a:r>
          </a:p>
        </p:txBody>
      </p:sp>
      <p:sp>
        <p:nvSpPr>
          <p:cNvPr id="59" name="Rounded Rectangle 58"/>
          <p:cNvSpPr/>
          <p:nvPr/>
        </p:nvSpPr>
        <p:spPr>
          <a:xfrm>
            <a:off x="6583680" y="3749039"/>
            <a:ext cx="5029200" cy="228600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66560" y="3794760"/>
            <a:ext cx="3657600" cy="274320"/>
          </a:xfrm>
          <a:prstGeom prst="rect">
            <a:avLst/>
          </a:prstGeom>
          <a:noFill/>
        </p:spPr>
        <p:txBody>
          <a:bodyPr wrap="square">
            <a:spAutoFit/>
          </a:bodyPr>
          <a:lstStyle/>
          <a:p>
            <a:pPr algn="l"/>
            <a:r>
              <a:rPr sz="1000" b="0">
                <a:solidFill>
                  <a:srgbClr val="8B5CF6"/>
                </a:solidFill>
                <a:latin typeface="Calibri"/>
              </a:rPr>
              <a:t>🤖  AI INSIGHTS &amp; RISK FORECAST</a:t>
            </a:r>
          </a:p>
        </p:txBody>
      </p:sp>
      <p:sp>
        <p:nvSpPr>
          <p:cNvPr id="61" name="TextBox 60"/>
          <p:cNvSpPr txBox="1"/>
          <p:nvPr/>
        </p:nvSpPr>
        <p:spPr>
          <a:xfrm>
            <a:off x="6766560" y="4114800"/>
            <a:ext cx="4572000" cy="1645920"/>
          </a:xfrm>
          <a:prstGeom prst="rect">
            <a:avLst/>
          </a:prstGeom>
          <a:noFill/>
        </p:spPr>
        <p:txBody>
          <a:bodyPr wrap="square">
            <a:spAutoFit/>
          </a:bodyPr>
          <a:lstStyle/>
          <a:p>
            <a:pPr algn="l"/>
            <a:r>
              <a:rPr sz="900" b="0">
                <a:solidFill>
                  <a:srgbClr val="B0BCD0"/>
                </a:solidFill>
                <a:latin typeface="Calibri"/>
              </a:rPr>
              <a:t>⚡ High Risk: Payment Gateway predicted
   32% SLA breach probability this week
⚠ Medium Risk: Auth Service memory
   growth pattern after deployments
✅ Improving: Change success rate up
   3.2% over last 14 days</a:t>
            </a:r>
          </a:p>
        </p:txBody>
      </p:sp>
      <p:sp>
        <p:nvSpPr>
          <p:cNvPr id="62" name="Rounded Rectangle 61"/>
          <p:cNvSpPr/>
          <p:nvPr/>
        </p:nvSpPr>
        <p:spPr>
          <a:xfrm>
            <a:off x="731520" y="6217920"/>
            <a:ext cx="1463040" cy="27432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a:solidFill>
                  <a:srgbClr val="FFFFFF"/>
                </a:solidFill>
                <a:latin typeface="Calibri"/>
              </a:rPr>
              <a:t>● LIVE FEED</a:t>
            </a:r>
          </a:p>
        </p:txBody>
      </p:sp>
      <p:sp>
        <p:nvSpPr>
          <p:cNvPr id="63" name="TextBox 62"/>
          <p:cNvSpPr txBox="1"/>
          <p:nvPr/>
        </p:nvSpPr>
        <p:spPr>
          <a:xfrm>
            <a:off x="2377440" y="6236208"/>
            <a:ext cx="5486400" cy="274320"/>
          </a:xfrm>
          <a:prstGeom prst="rect">
            <a:avLst/>
          </a:prstGeom>
          <a:noFill/>
        </p:spPr>
        <p:txBody>
          <a:bodyPr wrap="square">
            <a:spAutoFit/>
          </a:bodyPr>
          <a:lstStyle/>
          <a:p>
            <a:pPr algn="l"/>
            <a:r>
              <a:rPr sz="1000" b="0">
                <a:solidFill>
                  <a:srgbClr val="48526A"/>
                </a:solidFill>
                <a:latin typeface="Calibri"/>
              </a:rPr>
              <a:t>Real-time WebSocket incident feed  •  Auto-refreshing KPIs  •  Live NOC ticker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Daily. Weekly. Monthly. Automatically.</a:t>
            </a:r>
          </a:p>
        </p:txBody>
      </p:sp>
      <p:sp>
        <p:nvSpPr>
          <p:cNvPr id="4" name="Rectangle 3"/>
          <p:cNvSpPr/>
          <p:nvPr/>
        </p:nvSpPr>
        <p:spPr>
          <a:xfrm>
            <a:off x="731520" y="1097280"/>
            <a:ext cx="274320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474720" cy="128016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108960" cy="365760"/>
          </a:xfrm>
          <a:prstGeom prst="rect">
            <a:avLst/>
          </a:prstGeom>
          <a:noFill/>
        </p:spPr>
        <p:txBody>
          <a:bodyPr wrap="square">
            <a:spAutoFit/>
          </a:bodyPr>
          <a:lstStyle/>
          <a:p>
            <a:pPr algn="ctr"/>
            <a:r>
              <a:rPr sz="2200" b="1">
                <a:solidFill>
                  <a:srgbClr val="009EFF"/>
                </a:solidFill>
                <a:latin typeface="Calibri"/>
              </a:rPr>
              <a:t>DAILY</a:t>
            </a:r>
          </a:p>
        </p:txBody>
      </p:sp>
      <p:sp>
        <p:nvSpPr>
          <p:cNvPr id="7" name="Rectangle 6"/>
          <p:cNvSpPr/>
          <p:nvPr/>
        </p:nvSpPr>
        <p:spPr>
          <a:xfrm>
            <a:off x="1188720" y="2103120"/>
            <a:ext cx="2560320" cy="254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3108960" cy="548640"/>
          </a:xfrm>
          <a:prstGeom prst="rect">
            <a:avLst/>
          </a:prstGeom>
          <a:noFill/>
        </p:spPr>
        <p:txBody>
          <a:bodyPr wrap="square">
            <a:spAutoFit/>
          </a:bodyPr>
          <a:lstStyle/>
          <a:p>
            <a:pPr algn="ctr"/>
            <a:r>
              <a:rPr sz="1000" b="0">
                <a:solidFill>
                  <a:srgbClr val="B0BCD0"/>
                </a:solidFill>
                <a:latin typeface="Calibri"/>
              </a:rPr>
              <a:t>Operational pulse check
Incident volumes, active P1s, MTTR</a:t>
            </a:r>
          </a:p>
        </p:txBody>
      </p:sp>
      <p:sp>
        <p:nvSpPr>
          <p:cNvPr id="9" name="Rounded Rectangle 8"/>
          <p:cNvSpPr/>
          <p:nvPr/>
        </p:nvSpPr>
        <p:spPr>
          <a:xfrm>
            <a:off x="4572000" y="1554480"/>
            <a:ext cx="3474720" cy="128016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645920"/>
            <a:ext cx="3108960" cy="365760"/>
          </a:xfrm>
          <a:prstGeom prst="rect">
            <a:avLst/>
          </a:prstGeom>
          <a:noFill/>
        </p:spPr>
        <p:txBody>
          <a:bodyPr wrap="square">
            <a:spAutoFit/>
          </a:bodyPr>
          <a:lstStyle/>
          <a:p>
            <a:pPr algn="ctr"/>
            <a:r>
              <a:rPr sz="2200" b="1">
                <a:solidFill>
                  <a:srgbClr val="00E5D0"/>
                </a:solidFill>
                <a:latin typeface="Calibri"/>
              </a:rPr>
              <a:t>WEEKLY</a:t>
            </a:r>
          </a:p>
        </p:txBody>
      </p:sp>
      <p:sp>
        <p:nvSpPr>
          <p:cNvPr id="11" name="Rectangle 10"/>
          <p:cNvSpPr/>
          <p:nvPr/>
        </p:nvSpPr>
        <p:spPr>
          <a:xfrm>
            <a:off x="5029200" y="2103120"/>
            <a:ext cx="2560320" cy="25400"/>
          </a:xfrm>
          <a:prstGeom prst="rect">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2194560"/>
            <a:ext cx="3108960" cy="548640"/>
          </a:xfrm>
          <a:prstGeom prst="rect">
            <a:avLst/>
          </a:prstGeom>
          <a:noFill/>
        </p:spPr>
        <p:txBody>
          <a:bodyPr wrap="square">
            <a:spAutoFit/>
          </a:bodyPr>
          <a:lstStyle/>
          <a:p>
            <a:pPr algn="ctr"/>
            <a:r>
              <a:rPr sz="1000" b="0">
                <a:solidFill>
                  <a:srgbClr val="B0BCD0"/>
                </a:solidFill>
                <a:latin typeface="Calibri"/>
              </a:rPr>
              <a:t>Performance review
Trend analysis, SLA compliance, change audit</a:t>
            </a:r>
          </a:p>
        </p:txBody>
      </p:sp>
      <p:sp>
        <p:nvSpPr>
          <p:cNvPr id="13" name="Rounded Rectangle 12"/>
          <p:cNvSpPr/>
          <p:nvPr/>
        </p:nvSpPr>
        <p:spPr>
          <a:xfrm>
            <a:off x="8412480" y="1554480"/>
            <a:ext cx="3474720" cy="128016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1645920"/>
            <a:ext cx="3108960" cy="365760"/>
          </a:xfrm>
          <a:prstGeom prst="rect">
            <a:avLst/>
          </a:prstGeom>
          <a:noFill/>
        </p:spPr>
        <p:txBody>
          <a:bodyPr wrap="square">
            <a:spAutoFit/>
          </a:bodyPr>
          <a:lstStyle/>
          <a:p>
            <a:pPr algn="ctr"/>
            <a:r>
              <a:rPr sz="2200" b="1">
                <a:solidFill>
                  <a:srgbClr val="8B5CF6"/>
                </a:solidFill>
                <a:latin typeface="Calibri"/>
              </a:rPr>
              <a:t>MONTHLY</a:t>
            </a:r>
          </a:p>
        </p:txBody>
      </p:sp>
      <p:sp>
        <p:nvSpPr>
          <p:cNvPr id="15" name="Rectangle 14"/>
          <p:cNvSpPr/>
          <p:nvPr/>
        </p:nvSpPr>
        <p:spPr>
          <a:xfrm>
            <a:off x="8869680" y="2103120"/>
            <a:ext cx="2560320" cy="254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2194560"/>
            <a:ext cx="3108960" cy="548640"/>
          </a:xfrm>
          <a:prstGeom prst="rect">
            <a:avLst/>
          </a:prstGeom>
          <a:noFill/>
        </p:spPr>
        <p:txBody>
          <a:bodyPr wrap="square">
            <a:spAutoFit/>
          </a:bodyPr>
          <a:lstStyle/>
          <a:p>
            <a:pPr algn="ctr"/>
            <a:r>
              <a:rPr sz="1000" b="0">
                <a:solidFill>
                  <a:srgbClr val="B0BCD0"/>
                </a:solidFill>
                <a:latin typeface="Calibri"/>
              </a:rPr>
              <a:t>Executive governance digest
Strategic insights, capacity planning, risk forecast</a:t>
            </a:r>
          </a:p>
        </p:txBody>
      </p:sp>
      <p:sp>
        <p:nvSpPr>
          <p:cNvPr id="17" name="TextBox 16"/>
          <p:cNvSpPr txBox="1"/>
          <p:nvPr/>
        </p:nvSpPr>
        <p:spPr>
          <a:xfrm>
            <a:off x="731520" y="3108960"/>
            <a:ext cx="4572000" cy="365760"/>
          </a:xfrm>
          <a:prstGeom prst="rect">
            <a:avLst/>
          </a:prstGeom>
          <a:noFill/>
        </p:spPr>
        <p:txBody>
          <a:bodyPr wrap="square">
            <a:spAutoFit/>
          </a:bodyPr>
          <a:lstStyle/>
          <a:p>
            <a:pPr algn="l"/>
            <a:r>
              <a:rPr sz="1400" b="1">
                <a:solidFill>
                  <a:srgbClr val="10B981"/>
                </a:solidFill>
                <a:latin typeface="Calibri"/>
              </a:rPr>
              <a:t>AUTOMATED PIPELINE</a:t>
            </a:r>
          </a:p>
        </p:txBody>
      </p:sp>
      <p:sp>
        <p:nvSpPr>
          <p:cNvPr id="18" name="Rounded Rectangle 17"/>
          <p:cNvSpPr/>
          <p:nvPr/>
        </p:nvSpPr>
        <p:spPr>
          <a:xfrm>
            <a:off x="731520" y="3566160"/>
            <a:ext cx="1645920" cy="73152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611880"/>
            <a:ext cx="1645920" cy="640080"/>
          </a:xfrm>
          <a:prstGeom prst="rect">
            <a:avLst/>
          </a:prstGeom>
          <a:noFill/>
        </p:spPr>
        <p:txBody>
          <a:bodyPr wrap="square">
            <a:spAutoFit/>
          </a:bodyPr>
          <a:lstStyle/>
          <a:p>
            <a:pPr algn="ctr"/>
            <a:r>
              <a:rPr sz="1000" b="1">
                <a:solidFill>
                  <a:srgbClr val="10B981"/>
                </a:solidFill>
                <a:latin typeface="Calibri"/>
              </a:rPr>
              <a:t>Schedule
Trigger</a:t>
            </a:r>
          </a:p>
        </p:txBody>
      </p:sp>
      <p:sp>
        <p:nvSpPr>
          <p:cNvPr id="20" name="Right Arrow 19"/>
          <p:cNvSpPr/>
          <p:nvPr/>
        </p:nvSpPr>
        <p:spPr>
          <a:xfrm>
            <a:off x="2395728" y="3840480"/>
            <a:ext cx="182880" cy="137160"/>
          </a:xfrm>
          <a:prstGeom prs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606039" y="3566160"/>
            <a:ext cx="1645920" cy="73152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6039" y="3611880"/>
            <a:ext cx="1645920" cy="640080"/>
          </a:xfrm>
          <a:prstGeom prst="rect">
            <a:avLst/>
          </a:prstGeom>
          <a:noFill/>
        </p:spPr>
        <p:txBody>
          <a:bodyPr wrap="square">
            <a:spAutoFit/>
          </a:bodyPr>
          <a:lstStyle/>
          <a:p>
            <a:pPr algn="ctr"/>
            <a:r>
              <a:rPr sz="1000" b="1">
                <a:solidFill>
                  <a:srgbClr val="009EFF"/>
                </a:solidFill>
                <a:latin typeface="Calibri"/>
              </a:rPr>
              <a:t>Analytics
Engine</a:t>
            </a:r>
          </a:p>
        </p:txBody>
      </p:sp>
      <p:sp>
        <p:nvSpPr>
          <p:cNvPr id="23" name="Right Arrow 22"/>
          <p:cNvSpPr/>
          <p:nvPr/>
        </p:nvSpPr>
        <p:spPr>
          <a:xfrm>
            <a:off x="4270247" y="3840480"/>
            <a:ext cx="182880" cy="137160"/>
          </a:xfrm>
          <a:prstGeom prst="rightArrow">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80558" y="3566160"/>
            <a:ext cx="1645920" cy="73152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58" y="3611880"/>
            <a:ext cx="1645920" cy="640080"/>
          </a:xfrm>
          <a:prstGeom prst="rect">
            <a:avLst/>
          </a:prstGeom>
          <a:noFill/>
        </p:spPr>
        <p:txBody>
          <a:bodyPr wrap="square">
            <a:spAutoFit/>
          </a:bodyPr>
          <a:lstStyle/>
          <a:p>
            <a:pPr algn="ctr"/>
            <a:r>
              <a:rPr sz="1000" b="1">
                <a:solidFill>
                  <a:srgbClr val="8B5CF6"/>
                </a:solidFill>
                <a:latin typeface="Calibri"/>
              </a:rPr>
              <a:t>AI
Synthesis</a:t>
            </a:r>
          </a:p>
        </p:txBody>
      </p:sp>
      <p:sp>
        <p:nvSpPr>
          <p:cNvPr id="26" name="Right Arrow 25"/>
          <p:cNvSpPr/>
          <p:nvPr/>
        </p:nvSpPr>
        <p:spPr>
          <a:xfrm>
            <a:off x="6144766" y="3840480"/>
            <a:ext cx="182880" cy="13716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55077" y="3566160"/>
            <a:ext cx="1645920" cy="73152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77" y="3611880"/>
            <a:ext cx="1645920" cy="640080"/>
          </a:xfrm>
          <a:prstGeom prst="rect">
            <a:avLst/>
          </a:prstGeom>
          <a:noFill/>
        </p:spPr>
        <p:txBody>
          <a:bodyPr wrap="square">
            <a:spAutoFit/>
          </a:bodyPr>
          <a:lstStyle/>
          <a:p>
            <a:pPr algn="ctr"/>
            <a:r>
              <a:rPr sz="1000" b="1">
                <a:solidFill>
                  <a:srgbClr val="00E5D0"/>
                </a:solidFill>
                <a:latin typeface="Calibri"/>
              </a:rPr>
              <a:t>Report
Generation</a:t>
            </a:r>
          </a:p>
        </p:txBody>
      </p:sp>
      <p:sp>
        <p:nvSpPr>
          <p:cNvPr id="29" name="Right Arrow 28"/>
          <p:cNvSpPr/>
          <p:nvPr/>
        </p:nvSpPr>
        <p:spPr>
          <a:xfrm>
            <a:off x="8019285" y="3840480"/>
            <a:ext cx="182880" cy="137160"/>
          </a:xfrm>
          <a:prstGeom prst="rightArrow">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29596" y="3566160"/>
            <a:ext cx="1645920" cy="73152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6" y="3611880"/>
            <a:ext cx="1645920" cy="640080"/>
          </a:xfrm>
          <a:prstGeom prst="rect">
            <a:avLst/>
          </a:prstGeom>
          <a:noFill/>
        </p:spPr>
        <p:txBody>
          <a:bodyPr wrap="square">
            <a:spAutoFit/>
          </a:bodyPr>
          <a:lstStyle/>
          <a:p>
            <a:pPr algn="ctr"/>
            <a:r>
              <a:rPr sz="1000" b="1">
                <a:solidFill>
                  <a:srgbClr val="00E5D0"/>
                </a:solidFill>
                <a:latin typeface="Calibri"/>
              </a:rPr>
              <a:t>PDF
Creation</a:t>
            </a:r>
          </a:p>
        </p:txBody>
      </p:sp>
      <p:sp>
        <p:nvSpPr>
          <p:cNvPr id="32" name="Right Arrow 31"/>
          <p:cNvSpPr/>
          <p:nvPr/>
        </p:nvSpPr>
        <p:spPr>
          <a:xfrm>
            <a:off x="9893804" y="3840480"/>
            <a:ext cx="182880" cy="137160"/>
          </a:xfrm>
          <a:prstGeom prst="rightArrow">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104115" y="3566160"/>
            <a:ext cx="1645920" cy="73152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4115" y="3611880"/>
            <a:ext cx="1645920" cy="640080"/>
          </a:xfrm>
          <a:prstGeom prst="rect">
            <a:avLst/>
          </a:prstGeom>
          <a:noFill/>
        </p:spPr>
        <p:txBody>
          <a:bodyPr wrap="square">
            <a:spAutoFit/>
          </a:bodyPr>
          <a:lstStyle/>
          <a:p>
            <a:pPr algn="ctr"/>
            <a:r>
              <a:rPr sz="1000" b="1">
                <a:solidFill>
                  <a:srgbClr val="10B981"/>
                </a:solidFill>
                <a:latin typeface="Calibri"/>
              </a:rPr>
              <a:t>Notification
Delivery</a:t>
            </a:r>
          </a:p>
        </p:txBody>
      </p:sp>
      <p:sp>
        <p:nvSpPr>
          <p:cNvPr id="35" name="Rounded Rectangle 34"/>
          <p:cNvSpPr/>
          <p:nvPr/>
        </p:nvSpPr>
        <p:spPr>
          <a:xfrm>
            <a:off x="731520" y="4663440"/>
            <a:ext cx="10698480" cy="164592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754880"/>
            <a:ext cx="4572000" cy="274320"/>
          </a:xfrm>
          <a:prstGeom prst="rect">
            <a:avLst/>
          </a:prstGeom>
          <a:noFill/>
        </p:spPr>
        <p:txBody>
          <a:bodyPr wrap="square">
            <a:spAutoFit/>
          </a:bodyPr>
          <a:lstStyle/>
          <a:p>
            <a:pPr algn="l"/>
            <a:r>
              <a:rPr sz="1200" b="1">
                <a:solidFill>
                  <a:srgbClr val="10B981"/>
                </a:solidFill>
                <a:latin typeface="Calibri"/>
              </a:rPr>
              <a:t>SCHEDULER CAPABILITIES  (Implemented)</a:t>
            </a:r>
          </a:p>
        </p:txBody>
      </p:sp>
      <p:sp>
        <p:nvSpPr>
          <p:cNvPr id="37" name="TextBox 36"/>
          <p:cNvSpPr txBox="1"/>
          <p:nvPr/>
        </p:nvSpPr>
        <p:spPr>
          <a:xfrm>
            <a:off x="914400" y="5074920"/>
            <a:ext cx="2286000" cy="274320"/>
          </a:xfrm>
          <a:prstGeom prst="rect">
            <a:avLst/>
          </a:prstGeom>
          <a:noFill/>
        </p:spPr>
        <p:txBody>
          <a:bodyPr wrap="square">
            <a:spAutoFit/>
          </a:bodyPr>
          <a:lstStyle/>
          <a:p>
            <a:pPr algn="l"/>
            <a:r>
              <a:rPr sz="1000" b="1">
                <a:solidFill>
                  <a:srgbClr val="FFFFFF"/>
                </a:solidFill>
                <a:latin typeface="Calibri"/>
              </a:rPr>
              <a:t>⏰  Automated Scheduling</a:t>
            </a:r>
          </a:p>
        </p:txBody>
      </p:sp>
      <p:sp>
        <p:nvSpPr>
          <p:cNvPr id="38" name="TextBox 37"/>
          <p:cNvSpPr txBox="1"/>
          <p:nvPr/>
        </p:nvSpPr>
        <p:spPr>
          <a:xfrm>
            <a:off x="3291840" y="5074920"/>
            <a:ext cx="2743200" cy="274320"/>
          </a:xfrm>
          <a:prstGeom prst="rect">
            <a:avLst/>
          </a:prstGeom>
          <a:noFill/>
        </p:spPr>
        <p:txBody>
          <a:bodyPr wrap="square">
            <a:spAutoFit/>
          </a:bodyPr>
          <a:lstStyle/>
          <a:p>
            <a:pPr algn="l"/>
            <a:r>
              <a:rPr sz="900" b="0">
                <a:solidFill>
                  <a:srgbClr val="707E96"/>
                </a:solidFill>
                <a:latin typeface="Calibri"/>
              </a:rPr>
              <a:t>Hourly background scheduler with configurable intervals</a:t>
            </a:r>
          </a:p>
        </p:txBody>
      </p:sp>
      <p:sp>
        <p:nvSpPr>
          <p:cNvPr id="39" name="TextBox 38"/>
          <p:cNvSpPr txBox="1"/>
          <p:nvPr/>
        </p:nvSpPr>
        <p:spPr>
          <a:xfrm>
            <a:off x="6217920" y="5074920"/>
            <a:ext cx="2286000" cy="274320"/>
          </a:xfrm>
          <a:prstGeom prst="rect">
            <a:avLst/>
          </a:prstGeom>
          <a:noFill/>
        </p:spPr>
        <p:txBody>
          <a:bodyPr wrap="square">
            <a:spAutoFit/>
          </a:bodyPr>
          <a:lstStyle/>
          <a:p>
            <a:pPr algn="l"/>
            <a:r>
              <a:rPr sz="1000" b="1">
                <a:solidFill>
                  <a:srgbClr val="FFFFFF"/>
                </a:solidFill>
                <a:latin typeface="Calibri"/>
              </a:rPr>
              <a:t>▶  Run Now</a:t>
            </a:r>
          </a:p>
        </p:txBody>
      </p:sp>
      <p:sp>
        <p:nvSpPr>
          <p:cNvPr id="40" name="TextBox 39"/>
          <p:cNvSpPr txBox="1"/>
          <p:nvPr/>
        </p:nvSpPr>
        <p:spPr>
          <a:xfrm>
            <a:off x="8595360" y="5074920"/>
            <a:ext cx="2743200" cy="274320"/>
          </a:xfrm>
          <a:prstGeom prst="rect">
            <a:avLst/>
          </a:prstGeom>
          <a:noFill/>
        </p:spPr>
        <p:txBody>
          <a:bodyPr wrap="square">
            <a:spAutoFit/>
          </a:bodyPr>
          <a:lstStyle/>
          <a:p>
            <a:pPr algn="l"/>
            <a:r>
              <a:rPr sz="900" b="0">
                <a:solidFill>
                  <a:srgbClr val="707E96"/>
                </a:solidFill>
                <a:latin typeface="Calibri"/>
              </a:rPr>
              <a:t>Manual trigger for any report period via API or UI</a:t>
            </a:r>
          </a:p>
        </p:txBody>
      </p:sp>
      <p:sp>
        <p:nvSpPr>
          <p:cNvPr id="41" name="TextBox 40"/>
          <p:cNvSpPr txBox="1"/>
          <p:nvPr/>
        </p:nvSpPr>
        <p:spPr>
          <a:xfrm>
            <a:off x="914400" y="5440680"/>
            <a:ext cx="2286000" cy="274320"/>
          </a:xfrm>
          <a:prstGeom prst="rect">
            <a:avLst/>
          </a:prstGeom>
          <a:noFill/>
        </p:spPr>
        <p:txBody>
          <a:bodyPr wrap="square">
            <a:spAutoFit/>
          </a:bodyPr>
          <a:lstStyle/>
          <a:p>
            <a:pPr algn="l"/>
            <a:r>
              <a:rPr sz="1000" b="1">
                <a:solidFill>
                  <a:srgbClr val="FFFFFF"/>
                </a:solidFill>
                <a:latin typeface="Calibri"/>
              </a:rPr>
              <a:t>📜  Execution History</a:t>
            </a:r>
          </a:p>
        </p:txBody>
      </p:sp>
      <p:sp>
        <p:nvSpPr>
          <p:cNvPr id="42" name="TextBox 41"/>
          <p:cNvSpPr txBox="1"/>
          <p:nvPr/>
        </p:nvSpPr>
        <p:spPr>
          <a:xfrm>
            <a:off x="3291840" y="5440680"/>
            <a:ext cx="2743200" cy="274320"/>
          </a:xfrm>
          <a:prstGeom prst="rect">
            <a:avLst/>
          </a:prstGeom>
          <a:noFill/>
        </p:spPr>
        <p:txBody>
          <a:bodyPr wrap="square">
            <a:spAutoFit/>
          </a:bodyPr>
          <a:lstStyle/>
          <a:p>
            <a:pPr algn="l"/>
            <a:r>
              <a:rPr sz="900" b="0">
                <a:solidFill>
                  <a:srgbClr val="707E96"/>
                </a:solidFill>
                <a:latin typeface="Calibri"/>
              </a:rPr>
              <a:t>Full audit trail of every scheduled and manual run</a:t>
            </a:r>
          </a:p>
        </p:txBody>
      </p:sp>
      <p:sp>
        <p:nvSpPr>
          <p:cNvPr id="43" name="TextBox 42"/>
          <p:cNvSpPr txBox="1"/>
          <p:nvPr/>
        </p:nvSpPr>
        <p:spPr>
          <a:xfrm>
            <a:off x="6217920" y="5440680"/>
            <a:ext cx="2286000" cy="274320"/>
          </a:xfrm>
          <a:prstGeom prst="rect">
            <a:avLst/>
          </a:prstGeom>
          <a:noFill/>
        </p:spPr>
        <p:txBody>
          <a:bodyPr wrap="square">
            <a:spAutoFit/>
          </a:bodyPr>
          <a:lstStyle/>
          <a:p>
            <a:pPr algn="l"/>
            <a:r>
              <a:rPr sz="1000" b="1">
                <a:solidFill>
                  <a:srgbClr val="FFFFFF"/>
                </a:solidFill>
                <a:latin typeface="Calibri"/>
              </a:rPr>
              <a:t>📊  Report Archive</a:t>
            </a:r>
          </a:p>
        </p:txBody>
      </p:sp>
      <p:sp>
        <p:nvSpPr>
          <p:cNvPr id="44" name="TextBox 43"/>
          <p:cNvSpPr txBox="1"/>
          <p:nvPr/>
        </p:nvSpPr>
        <p:spPr>
          <a:xfrm>
            <a:off x="8595360" y="5440680"/>
            <a:ext cx="2743200" cy="274320"/>
          </a:xfrm>
          <a:prstGeom prst="rect">
            <a:avLst/>
          </a:prstGeom>
          <a:noFill/>
        </p:spPr>
        <p:txBody>
          <a:bodyPr wrap="square">
            <a:spAutoFit/>
          </a:bodyPr>
          <a:lstStyle/>
          <a:p>
            <a:pPr algn="l"/>
            <a:r>
              <a:rPr sz="900" b="0">
                <a:solidFill>
                  <a:srgbClr val="707E96"/>
                </a:solidFill>
                <a:latin typeface="Calibri"/>
              </a:rPr>
              <a:t>All generated reports stored as Markdown + PDF</a:t>
            </a:r>
          </a:p>
        </p:txBody>
      </p:sp>
      <p:sp>
        <p:nvSpPr>
          <p:cNvPr id="45" name="TextBox 44"/>
          <p:cNvSpPr txBox="1"/>
          <p:nvPr/>
        </p:nvSpPr>
        <p:spPr>
          <a:xfrm>
            <a:off x="914400" y="5806440"/>
            <a:ext cx="2286000" cy="274320"/>
          </a:xfrm>
          <a:prstGeom prst="rect">
            <a:avLst/>
          </a:prstGeom>
          <a:noFill/>
        </p:spPr>
        <p:txBody>
          <a:bodyPr wrap="square">
            <a:spAutoFit/>
          </a:bodyPr>
          <a:lstStyle/>
          <a:p>
            <a:pPr algn="l"/>
            <a:r>
              <a:rPr sz="1000" b="1">
                <a:solidFill>
                  <a:srgbClr val="FFFFFF"/>
                </a:solidFill>
                <a:latin typeface="Calibri"/>
              </a:rPr>
              <a:t>🔔  Notification Dispatch</a:t>
            </a:r>
          </a:p>
        </p:txBody>
      </p:sp>
      <p:sp>
        <p:nvSpPr>
          <p:cNvPr id="46" name="TextBox 45"/>
          <p:cNvSpPr txBox="1"/>
          <p:nvPr/>
        </p:nvSpPr>
        <p:spPr>
          <a:xfrm>
            <a:off x="3291840" y="5806440"/>
            <a:ext cx="2743200" cy="274320"/>
          </a:xfrm>
          <a:prstGeom prst="rect">
            <a:avLst/>
          </a:prstGeom>
          <a:noFill/>
        </p:spPr>
        <p:txBody>
          <a:bodyPr wrap="square">
            <a:spAutoFit/>
          </a:bodyPr>
          <a:lstStyle/>
          <a:p>
            <a:pPr algn="l"/>
            <a:r>
              <a:rPr sz="900" b="0">
                <a:solidFill>
                  <a:srgbClr val="707E96"/>
                </a:solidFill>
                <a:latin typeface="Calibri"/>
              </a:rPr>
              <a:t>Automatic dispatch to Slack / Teams after generation</a:t>
            </a:r>
          </a:p>
        </p:txBody>
      </p:sp>
      <p:sp>
        <p:nvSpPr>
          <p:cNvPr id="47" name="TextBox 46"/>
          <p:cNvSpPr txBox="1"/>
          <p:nvPr/>
        </p:nvSpPr>
        <p:spPr>
          <a:xfrm>
            <a:off x="6217920" y="5806440"/>
            <a:ext cx="2286000" cy="274320"/>
          </a:xfrm>
          <a:prstGeom prst="rect">
            <a:avLst/>
          </a:prstGeom>
          <a:noFill/>
        </p:spPr>
        <p:txBody>
          <a:bodyPr wrap="square">
            <a:spAutoFit/>
          </a:bodyPr>
          <a:lstStyle/>
          <a:p>
            <a:pPr algn="l"/>
            <a:r>
              <a:rPr sz="1000" b="1">
                <a:solidFill>
                  <a:srgbClr val="FFFFFF"/>
                </a:solidFill>
                <a:latin typeface="Calibri"/>
              </a:rPr>
              <a:t>🔄  Live Feed</a:t>
            </a:r>
          </a:p>
        </p:txBody>
      </p:sp>
      <p:sp>
        <p:nvSpPr>
          <p:cNvPr id="48" name="TextBox 47"/>
          <p:cNvSpPr txBox="1"/>
          <p:nvPr/>
        </p:nvSpPr>
        <p:spPr>
          <a:xfrm>
            <a:off x="8595360" y="5806440"/>
            <a:ext cx="2743200" cy="274320"/>
          </a:xfrm>
          <a:prstGeom prst="rect">
            <a:avLst/>
          </a:prstGeom>
          <a:noFill/>
        </p:spPr>
        <p:txBody>
          <a:bodyPr wrap="square">
            <a:spAutoFit/>
          </a:bodyPr>
          <a:lstStyle/>
          <a:p>
            <a:pPr algn="l"/>
            <a:r>
              <a:rPr sz="900" b="0">
                <a:solidFill>
                  <a:srgbClr val="707E96"/>
                </a:solidFill>
                <a:latin typeface="Calibri"/>
              </a:rPr>
              <a:t>Real-time incident injection via WebSocket for demo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000" b="1">
                <a:solidFill>
                  <a:srgbClr val="FFFFFF"/>
                </a:solidFill>
                <a:latin typeface="Calibri"/>
              </a:rPr>
              <a:t>From Operational Metrics to Executive-Ready Reporting</a:t>
            </a:r>
          </a:p>
        </p:txBody>
      </p:sp>
      <p:sp>
        <p:nvSpPr>
          <p:cNvPr id="4" name="Rectangle 3"/>
          <p:cNvSpPr/>
          <p:nvPr/>
        </p:nvSpPr>
        <p:spPr>
          <a:xfrm>
            <a:off x="731520" y="1097280"/>
            <a:ext cx="274320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3657600" cy="365760"/>
          </a:xfrm>
          <a:prstGeom prst="rect">
            <a:avLst/>
          </a:prstGeom>
          <a:noFill/>
        </p:spPr>
        <p:txBody>
          <a:bodyPr wrap="square">
            <a:spAutoFit/>
          </a:bodyPr>
          <a:lstStyle/>
          <a:p>
            <a:pPr algn="l"/>
            <a:r>
              <a:rPr sz="1300" b="1">
                <a:solidFill>
                  <a:srgbClr val="10B981"/>
                </a:solidFill>
                <a:latin typeface="Calibri"/>
              </a:rPr>
              <a:t>10-SECTION REPORT STRUCTURE</a:t>
            </a:r>
          </a:p>
        </p:txBody>
      </p:sp>
      <p:sp>
        <p:nvSpPr>
          <p:cNvPr id="6" name="TextBox 5"/>
          <p:cNvSpPr txBox="1"/>
          <p:nvPr/>
        </p:nvSpPr>
        <p:spPr>
          <a:xfrm>
            <a:off x="731520" y="1828800"/>
            <a:ext cx="365760" cy="274320"/>
          </a:xfrm>
          <a:prstGeom prst="rect">
            <a:avLst/>
          </a:prstGeom>
          <a:noFill/>
        </p:spPr>
        <p:txBody>
          <a:bodyPr wrap="square">
            <a:spAutoFit/>
          </a:bodyPr>
          <a:lstStyle/>
          <a:p>
            <a:pPr algn="l"/>
            <a:r>
              <a:rPr sz="1000" b="1">
                <a:solidFill>
                  <a:srgbClr val="009EFF"/>
                </a:solidFill>
                <a:latin typeface="Calibri"/>
              </a:rPr>
              <a:t>1.</a:t>
            </a:r>
          </a:p>
        </p:txBody>
      </p:sp>
      <p:sp>
        <p:nvSpPr>
          <p:cNvPr id="7" name="TextBox 6"/>
          <p:cNvSpPr txBox="1"/>
          <p:nvPr/>
        </p:nvSpPr>
        <p:spPr>
          <a:xfrm>
            <a:off x="1097280" y="1828800"/>
            <a:ext cx="2103120" cy="274320"/>
          </a:xfrm>
          <a:prstGeom prst="rect">
            <a:avLst/>
          </a:prstGeom>
          <a:noFill/>
        </p:spPr>
        <p:txBody>
          <a:bodyPr wrap="square">
            <a:spAutoFit/>
          </a:bodyPr>
          <a:lstStyle/>
          <a:p>
            <a:pPr algn="l"/>
            <a:r>
              <a:rPr sz="1100" b="1">
                <a:solidFill>
                  <a:srgbClr val="FFFFFF"/>
                </a:solidFill>
                <a:latin typeface="Calibri"/>
              </a:rPr>
              <a:t>AI Executive Summary</a:t>
            </a:r>
          </a:p>
        </p:txBody>
      </p:sp>
      <p:sp>
        <p:nvSpPr>
          <p:cNvPr id="8" name="TextBox 7"/>
          <p:cNvSpPr txBox="1"/>
          <p:nvPr/>
        </p:nvSpPr>
        <p:spPr>
          <a:xfrm>
            <a:off x="3200400" y="1828800"/>
            <a:ext cx="2560320" cy="274320"/>
          </a:xfrm>
          <a:prstGeom prst="rect">
            <a:avLst/>
          </a:prstGeom>
          <a:noFill/>
        </p:spPr>
        <p:txBody>
          <a:bodyPr wrap="square">
            <a:spAutoFit/>
          </a:bodyPr>
          <a:lstStyle/>
          <a:p>
            <a:pPr algn="l"/>
            <a:r>
              <a:rPr sz="900" b="0">
                <a:solidFill>
                  <a:srgbClr val="707E96"/>
                </a:solidFill>
                <a:latin typeface="Calibri"/>
              </a:rPr>
              <a:t>AI-synthesized governance scorecard</a:t>
            </a:r>
          </a:p>
        </p:txBody>
      </p:sp>
      <p:sp>
        <p:nvSpPr>
          <p:cNvPr id="9" name="TextBox 8"/>
          <p:cNvSpPr txBox="1"/>
          <p:nvPr/>
        </p:nvSpPr>
        <p:spPr>
          <a:xfrm>
            <a:off x="731520" y="2258568"/>
            <a:ext cx="365760" cy="274320"/>
          </a:xfrm>
          <a:prstGeom prst="rect">
            <a:avLst/>
          </a:prstGeom>
          <a:noFill/>
        </p:spPr>
        <p:txBody>
          <a:bodyPr wrap="square">
            <a:spAutoFit/>
          </a:bodyPr>
          <a:lstStyle/>
          <a:p>
            <a:pPr algn="l"/>
            <a:r>
              <a:rPr sz="1000" b="1">
                <a:solidFill>
                  <a:srgbClr val="009EFF"/>
                </a:solidFill>
                <a:latin typeface="Calibri"/>
              </a:rPr>
              <a:t>2.</a:t>
            </a:r>
          </a:p>
        </p:txBody>
      </p:sp>
      <p:sp>
        <p:nvSpPr>
          <p:cNvPr id="10" name="TextBox 9"/>
          <p:cNvSpPr txBox="1"/>
          <p:nvPr/>
        </p:nvSpPr>
        <p:spPr>
          <a:xfrm>
            <a:off x="1097280" y="2258568"/>
            <a:ext cx="2103120" cy="274320"/>
          </a:xfrm>
          <a:prstGeom prst="rect">
            <a:avLst/>
          </a:prstGeom>
          <a:noFill/>
        </p:spPr>
        <p:txBody>
          <a:bodyPr wrap="square">
            <a:spAutoFit/>
          </a:bodyPr>
          <a:lstStyle/>
          <a:p>
            <a:pPr algn="l"/>
            <a:r>
              <a:rPr sz="1100" b="1">
                <a:solidFill>
                  <a:srgbClr val="FFFFFF"/>
                </a:solidFill>
                <a:latin typeface="Calibri"/>
              </a:rPr>
              <a:t>KPI Matrix</a:t>
            </a:r>
          </a:p>
        </p:txBody>
      </p:sp>
      <p:sp>
        <p:nvSpPr>
          <p:cNvPr id="11" name="TextBox 10"/>
          <p:cNvSpPr txBox="1"/>
          <p:nvPr/>
        </p:nvSpPr>
        <p:spPr>
          <a:xfrm>
            <a:off x="3200400" y="2258568"/>
            <a:ext cx="2560320" cy="274320"/>
          </a:xfrm>
          <a:prstGeom prst="rect">
            <a:avLst/>
          </a:prstGeom>
          <a:noFill/>
        </p:spPr>
        <p:txBody>
          <a:bodyPr wrap="square">
            <a:spAutoFit/>
          </a:bodyPr>
          <a:lstStyle/>
          <a:p>
            <a:pPr algn="l"/>
            <a:r>
              <a:rPr sz="900" b="0">
                <a:solidFill>
                  <a:srgbClr val="707E96"/>
                </a:solidFill>
                <a:latin typeface="Calibri"/>
              </a:rPr>
              <a:t>Health, incidents, SLA, problems, changes</a:t>
            </a:r>
          </a:p>
        </p:txBody>
      </p:sp>
      <p:sp>
        <p:nvSpPr>
          <p:cNvPr id="12" name="TextBox 11"/>
          <p:cNvSpPr txBox="1"/>
          <p:nvPr/>
        </p:nvSpPr>
        <p:spPr>
          <a:xfrm>
            <a:off x="731520" y="2688336"/>
            <a:ext cx="365760" cy="274320"/>
          </a:xfrm>
          <a:prstGeom prst="rect">
            <a:avLst/>
          </a:prstGeom>
          <a:noFill/>
        </p:spPr>
        <p:txBody>
          <a:bodyPr wrap="square">
            <a:spAutoFit/>
          </a:bodyPr>
          <a:lstStyle/>
          <a:p>
            <a:pPr algn="l"/>
            <a:r>
              <a:rPr sz="1000" b="1">
                <a:solidFill>
                  <a:srgbClr val="009EFF"/>
                </a:solidFill>
                <a:latin typeface="Calibri"/>
              </a:rPr>
              <a:t>3.</a:t>
            </a:r>
          </a:p>
        </p:txBody>
      </p:sp>
      <p:sp>
        <p:nvSpPr>
          <p:cNvPr id="13" name="TextBox 12"/>
          <p:cNvSpPr txBox="1"/>
          <p:nvPr/>
        </p:nvSpPr>
        <p:spPr>
          <a:xfrm>
            <a:off x="1097280" y="2688336"/>
            <a:ext cx="2103120" cy="274320"/>
          </a:xfrm>
          <a:prstGeom prst="rect">
            <a:avLst/>
          </a:prstGeom>
          <a:noFill/>
        </p:spPr>
        <p:txBody>
          <a:bodyPr wrap="square">
            <a:spAutoFit/>
          </a:bodyPr>
          <a:lstStyle/>
          <a:p>
            <a:pPr algn="l"/>
            <a:r>
              <a:rPr sz="1100" b="1">
                <a:solidFill>
                  <a:srgbClr val="FFFFFF"/>
                </a:solidFill>
                <a:latin typeface="Calibri"/>
              </a:rPr>
              <a:t>Incident Deep Dive</a:t>
            </a:r>
          </a:p>
        </p:txBody>
      </p:sp>
      <p:sp>
        <p:nvSpPr>
          <p:cNvPr id="14" name="TextBox 13"/>
          <p:cNvSpPr txBox="1"/>
          <p:nvPr/>
        </p:nvSpPr>
        <p:spPr>
          <a:xfrm>
            <a:off x="3200400" y="2688336"/>
            <a:ext cx="2560320" cy="274320"/>
          </a:xfrm>
          <a:prstGeom prst="rect">
            <a:avLst/>
          </a:prstGeom>
          <a:noFill/>
        </p:spPr>
        <p:txBody>
          <a:bodyPr wrap="square">
            <a:spAutoFit/>
          </a:bodyPr>
          <a:lstStyle/>
          <a:p>
            <a:pPr algn="l"/>
            <a:r>
              <a:rPr sz="900" b="0">
                <a:solidFill>
                  <a:srgbClr val="707E96"/>
                </a:solidFill>
                <a:latin typeface="Calibri"/>
              </a:rPr>
              <a:t>Priority analysis &amp; root drivers</a:t>
            </a:r>
          </a:p>
        </p:txBody>
      </p:sp>
      <p:sp>
        <p:nvSpPr>
          <p:cNvPr id="15" name="TextBox 14"/>
          <p:cNvSpPr txBox="1"/>
          <p:nvPr/>
        </p:nvSpPr>
        <p:spPr>
          <a:xfrm>
            <a:off x="731520" y="3118104"/>
            <a:ext cx="365760" cy="274320"/>
          </a:xfrm>
          <a:prstGeom prst="rect">
            <a:avLst/>
          </a:prstGeom>
          <a:noFill/>
        </p:spPr>
        <p:txBody>
          <a:bodyPr wrap="square">
            <a:spAutoFit/>
          </a:bodyPr>
          <a:lstStyle/>
          <a:p>
            <a:pPr algn="l"/>
            <a:r>
              <a:rPr sz="1000" b="1">
                <a:solidFill>
                  <a:srgbClr val="009EFF"/>
                </a:solidFill>
                <a:latin typeface="Calibri"/>
              </a:rPr>
              <a:t>4.</a:t>
            </a:r>
          </a:p>
        </p:txBody>
      </p:sp>
      <p:sp>
        <p:nvSpPr>
          <p:cNvPr id="16" name="TextBox 15"/>
          <p:cNvSpPr txBox="1"/>
          <p:nvPr/>
        </p:nvSpPr>
        <p:spPr>
          <a:xfrm>
            <a:off x="1097280" y="3118104"/>
            <a:ext cx="2103120" cy="274320"/>
          </a:xfrm>
          <a:prstGeom prst="rect">
            <a:avLst/>
          </a:prstGeom>
          <a:noFill/>
        </p:spPr>
        <p:txBody>
          <a:bodyPr wrap="square">
            <a:spAutoFit/>
          </a:bodyPr>
          <a:lstStyle/>
          <a:p>
            <a:pPr algn="l"/>
            <a:r>
              <a:rPr sz="1100" b="1">
                <a:solidFill>
                  <a:srgbClr val="FFFFFF"/>
                </a:solidFill>
                <a:latin typeface="Calibri"/>
              </a:rPr>
              <a:t>SLA Compliance Audit</a:t>
            </a:r>
          </a:p>
        </p:txBody>
      </p:sp>
      <p:sp>
        <p:nvSpPr>
          <p:cNvPr id="17" name="TextBox 16"/>
          <p:cNvSpPr txBox="1"/>
          <p:nvPr/>
        </p:nvSpPr>
        <p:spPr>
          <a:xfrm>
            <a:off x="3200400" y="3118104"/>
            <a:ext cx="2560320" cy="274320"/>
          </a:xfrm>
          <a:prstGeom prst="rect">
            <a:avLst/>
          </a:prstGeom>
          <a:noFill/>
        </p:spPr>
        <p:txBody>
          <a:bodyPr wrap="square">
            <a:spAutoFit/>
          </a:bodyPr>
          <a:lstStyle/>
          <a:p>
            <a:pPr algn="l"/>
            <a:r>
              <a:rPr sz="900" b="0">
                <a:solidFill>
                  <a:srgbClr val="707E96"/>
                </a:solidFill>
                <a:latin typeface="Calibri"/>
              </a:rPr>
              <a:t>Service-level breach analysis</a:t>
            </a:r>
          </a:p>
        </p:txBody>
      </p:sp>
      <p:sp>
        <p:nvSpPr>
          <p:cNvPr id="18" name="TextBox 17"/>
          <p:cNvSpPr txBox="1"/>
          <p:nvPr/>
        </p:nvSpPr>
        <p:spPr>
          <a:xfrm>
            <a:off x="731520" y="3547872"/>
            <a:ext cx="365760" cy="274320"/>
          </a:xfrm>
          <a:prstGeom prst="rect">
            <a:avLst/>
          </a:prstGeom>
          <a:noFill/>
        </p:spPr>
        <p:txBody>
          <a:bodyPr wrap="square">
            <a:spAutoFit/>
          </a:bodyPr>
          <a:lstStyle/>
          <a:p>
            <a:pPr algn="l"/>
            <a:r>
              <a:rPr sz="1000" b="1">
                <a:solidFill>
                  <a:srgbClr val="009EFF"/>
                </a:solidFill>
                <a:latin typeface="Calibri"/>
              </a:rPr>
              <a:t>5.</a:t>
            </a:r>
          </a:p>
        </p:txBody>
      </p:sp>
      <p:sp>
        <p:nvSpPr>
          <p:cNvPr id="19" name="TextBox 18"/>
          <p:cNvSpPr txBox="1"/>
          <p:nvPr/>
        </p:nvSpPr>
        <p:spPr>
          <a:xfrm>
            <a:off x="1097280" y="3547872"/>
            <a:ext cx="2103120" cy="274320"/>
          </a:xfrm>
          <a:prstGeom prst="rect">
            <a:avLst/>
          </a:prstGeom>
          <a:noFill/>
        </p:spPr>
        <p:txBody>
          <a:bodyPr wrap="square">
            <a:spAutoFit/>
          </a:bodyPr>
          <a:lstStyle/>
          <a:p>
            <a:pPr algn="l"/>
            <a:r>
              <a:rPr sz="1100" b="1">
                <a:solidFill>
                  <a:srgbClr val="FFFFFF"/>
                </a:solidFill>
                <a:latin typeface="Calibri"/>
              </a:rPr>
              <a:t>Problem Backlog</a:t>
            </a:r>
          </a:p>
        </p:txBody>
      </p:sp>
      <p:sp>
        <p:nvSpPr>
          <p:cNvPr id="20" name="TextBox 19"/>
          <p:cNvSpPr txBox="1"/>
          <p:nvPr/>
        </p:nvSpPr>
        <p:spPr>
          <a:xfrm>
            <a:off x="3200400" y="3547872"/>
            <a:ext cx="2560320" cy="274320"/>
          </a:xfrm>
          <a:prstGeom prst="rect">
            <a:avLst/>
          </a:prstGeom>
          <a:noFill/>
        </p:spPr>
        <p:txBody>
          <a:bodyPr wrap="square">
            <a:spAutoFit/>
          </a:bodyPr>
          <a:lstStyle/>
          <a:p>
            <a:pPr algn="l"/>
            <a:r>
              <a:rPr sz="900" b="0">
                <a:solidFill>
                  <a:srgbClr val="707E96"/>
                </a:solidFill>
                <a:latin typeface="Calibri"/>
              </a:rPr>
              <a:t>Aging investigation &amp; chronic issues</a:t>
            </a:r>
          </a:p>
        </p:txBody>
      </p:sp>
      <p:sp>
        <p:nvSpPr>
          <p:cNvPr id="21" name="TextBox 20"/>
          <p:cNvSpPr txBox="1"/>
          <p:nvPr/>
        </p:nvSpPr>
        <p:spPr>
          <a:xfrm>
            <a:off x="731520" y="3977640"/>
            <a:ext cx="365760" cy="274320"/>
          </a:xfrm>
          <a:prstGeom prst="rect">
            <a:avLst/>
          </a:prstGeom>
          <a:noFill/>
        </p:spPr>
        <p:txBody>
          <a:bodyPr wrap="square">
            <a:spAutoFit/>
          </a:bodyPr>
          <a:lstStyle/>
          <a:p>
            <a:pPr algn="l"/>
            <a:r>
              <a:rPr sz="1000" b="1">
                <a:solidFill>
                  <a:srgbClr val="009EFF"/>
                </a:solidFill>
                <a:latin typeface="Calibri"/>
              </a:rPr>
              <a:t>6.</a:t>
            </a:r>
          </a:p>
        </p:txBody>
      </p:sp>
      <p:sp>
        <p:nvSpPr>
          <p:cNvPr id="22" name="TextBox 21"/>
          <p:cNvSpPr txBox="1"/>
          <p:nvPr/>
        </p:nvSpPr>
        <p:spPr>
          <a:xfrm>
            <a:off x="1097280" y="3977640"/>
            <a:ext cx="2103120" cy="274320"/>
          </a:xfrm>
          <a:prstGeom prst="rect">
            <a:avLst/>
          </a:prstGeom>
          <a:noFill/>
        </p:spPr>
        <p:txBody>
          <a:bodyPr wrap="square">
            <a:spAutoFit/>
          </a:bodyPr>
          <a:lstStyle/>
          <a:p>
            <a:pPr algn="l"/>
            <a:r>
              <a:rPr sz="1100" b="1">
                <a:solidFill>
                  <a:srgbClr val="FFFFFF"/>
                </a:solidFill>
                <a:latin typeface="Calibri"/>
              </a:rPr>
              <a:t>Change Governance</a:t>
            </a:r>
          </a:p>
        </p:txBody>
      </p:sp>
      <p:sp>
        <p:nvSpPr>
          <p:cNvPr id="23" name="TextBox 22"/>
          <p:cNvSpPr txBox="1"/>
          <p:nvPr/>
        </p:nvSpPr>
        <p:spPr>
          <a:xfrm>
            <a:off x="3200400" y="3977640"/>
            <a:ext cx="2560320" cy="274320"/>
          </a:xfrm>
          <a:prstGeom prst="rect">
            <a:avLst/>
          </a:prstGeom>
          <a:noFill/>
        </p:spPr>
        <p:txBody>
          <a:bodyPr wrap="square">
            <a:spAutoFit/>
          </a:bodyPr>
          <a:lstStyle/>
          <a:p>
            <a:pPr algn="l"/>
            <a:r>
              <a:rPr sz="900" b="0">
                <a:solidFill>
                  <a:srgbClr val="707E96"/>
                </a:solidFill>
                <a:latin typeface="Calibri"/>
              </a:rPr>
              <a:t>Risk analytics &amp; rollback audit</a:t>
            </a:r>
          </a:p>
        </p:txBody>
      </p:sp>
      <p:sp>
        <p:nvSpPr>
          <p:cNvPr id="24" name="TextBox 23"/>
          <p:cNvSpPr txBox="1"/>
          <p:nvPr/>
        </p:nvSpPr>
        <p:spPr>
          <a:xfrm>
            <a:off x="731520" y="4407408"/>
            <a:ext cx="365760" cy="274320"/>
          </a:xfrm>
          <a:prstGeom prst="rect">
            <a:avLst/>
          </a:prstGeom>
          <a:noFill/>
        </p:spPr>
        <p:txBody>
          <a:bodyPr wrap="square">
            <a:spAutoFit/>
          </a:bodyPr>
          <a:lstStyle/>
          <a:p>
            <a:pPr algn="l"/>
            <a:r>
              <a:rPr sz="1000" b="1">
                <a:solidFill>
                  <a:srgbClr val="009EFF"/>
                </a:solidFill>
                <a:latin typeface="Calibri"/>
              </a:rPr>
              <a:t>7.</a:t>
            </a:r>
          </a:p>
        </p:txBody>
      </p:sp>
      <p:sp>
        <p:nvSpPr>
          <p:cNvPr id="25" name="TextBox 24"/>
          <p:cNvSpPr txBox="1"/>
          <p:nvPr/>
        </p:nvSpPr>
        <p:spPr>
          <a:xfrm>
            <a:off x="1097280" y="4407408"/>
            <a:ext cx="2103120" cy="274320"/>
          </a:xfrm>
          <a:prstGeom prst="rect">
            <a:avLst/>
          </a:prstGeom>
          <a:noFill/>
        </p:spPr>
        <p:txBody>
          <a:bodyPr wrap="square">
            <a:spAutoFit/>
          </a:bodyPr>
          <a:lstStyle/>
          <a:p>
            <a:pPr algn="l"/>
            <a:r>
              <a:rPr sz="1100" b="1">
                <a:solidFill>
                  <a:srgbClr val="FFFFFF"/>
                </a:solidFill>
                <a:latin typeface="Calibri"/>
              </a:rPr>
              <a:t>Service Scorecards</a:t>
            </a:r>
          </a:p>
        </p:txBody>
      </p:sp>
      <p:sp>
        <p:nvSpPr>
          <p:cNvPr id="26" name="TextBox 25"/>
          <p:cNvSpPr txBox="1"/>
          <p:nvPr/>
        </p:nvSpPr>
        <p:spPr>
          <a:xfrm>
            <a:off x="3200400" y="4407408"/>
            <a:ext cx="2560320" cy="274320"/>
          </a:xfrm>
          <a:prstGeom prst="rect">
            <a:avLst/>
          </a:prstGeom>
          <a:noFill/>
        </p:spPr>
        <p:txBody>
          <a:bodyPr wrap="square">
            <a:spAutoFit/>
          </a:bodyPr>
          <a:lstStyle/>
          <a:p>
            <a:pPr algn="l"/>
            <a:r>
              <a:rPr sz="900" b="0">
                <a:solidFill>
                  <a:srgbClr val="707E96"/>
                </a:solidFill>
                <a:latin typeface="Calibri"/>
              </a:rPr>
              <a:t>Per-service health breakdown</a:t>
            </a:r>
          </a:p>
        </p:txBody>
      </p:sp>
      <p:sp>
        <p:nvSpPr>
          <p:cNvPr id="27" name="TextBox 26"/>
          <p:cNvSpPr txBox="1"/>
          <p:nvPr/>
        </p:nvSpPr>
        <p:spPr>
          <a:xfrm>
            <a:off x="731520" y="4837176"/>
            <a:ext cx="365760" cy="274320"/>
          </a:xfrm>
          <a:prstGeom prst="rect">
            <a:avLst/>
          </a:prstGeom>
          <a:noFill/>
        </p:spPr>
        <p:txBody>
          <a:bodyPr wrap="square">
            <a:spAutoFit/>
          </a:bodyPr>
          <a:lstStyle/>
          <a:p>
            <a:pPr algn="l"/>
            <a:r>
              <a:rPr sz="1000" b="1">
                <a:solidFill>
                  <a:srgbClr val="009EFF"/>
                </a:solidFill>
                <a:latin typeface="Calibri"/>
              </a:rPr>
              <a:t>8.</a:t>
            </a:r>
          </a:p>
        </p:txBody>
      </p:sp>
      <p:sp>
        <p:nvSpPr>
          <p:cNvPr id="28" name="TextBox 27"/>
          <p:cNvSpPr txBox="1"/>
          <p:nvPr/>
        </p:nvSpPr>
        <p:spPr>
          <a:xfrm>
            <a:off x="1097280" y="4837176"/>
            <a:ext cx="2103120" cy="274320"/>
          </a:xfrm>
          <a:prstGeom prst="rect">
            <a:avLst/>
          </a:prstGeom>
          <a:noFill/>
        </p:spPr>
        <p:txBody>
          <a:bodyPr wrap="square">
            <a:spAutoFit/>
          </a:bodyPr>
          <a:lstStyle/>
          <a:p>
            <a:pPr algn="l"/>
            <a:r>
              <a:rPr sz="1100" b="1">
                <a:solidFill>
                  <a:srgbClr val="FFFFFF"/>
                </a:solidFill>
                <a:latin typeface="Calibri"/>
              </a:rPr>
              <a:t>SLA Trend Charts</a:t>
            </a:r>
          </a:p>
        </p:txBody>
      </p:sp>
      <p:sp>
        <p:nvSpPr>
          <p:cNvPr id="29" name="TextBox 28"/>
          <p:cNvSpPr txBox="1"/>
          <p:nvPr/>
        </p:nvSpPr>
        <p:spPr>
          <a:xfrm>
            <a:off x="3200400" y="4837176"/>
            <a:ext cx="2560320" cy="274320"/>
          </a:xfrm>
          <a:prstGeom prst="rect">
            <a:avLst/>
          </a:prstGeom>
          <a:noFill/>
        </p:spPr>
        <p:txBody>
          <a:bodyPr wrap="square">
            <a:spAutoFit/>
          </a:bodyPr>
          <a:lstStyle/>
          <a:p>
            <a:pPr algn="l"/>
            <a:r>
              <a:rPr sz="900" b="0">
                <a:solidFill>
                  <a:srgbClr val="707E96"/>
                </a:solidFill>
                <a:latin typeface="Calibri"/>
              </a:rPr>
              <a:t>Visual 7-day compliance trends</a:t>
            </a:r>
          </a:p>
        </p:txBody>
      </p:sp>
      <p:sp>
        <p:nvSpPr>
          <p:cNvPr id="30" name="TextBox 29"/>
          <p:cNvSpPr txBox="1"/>
          <p:nvPr/>
        </p:nvSpPr>
        <p:spPr>
          <a:xfrm>
            <a:off x="731520" y="5266944"/>
            <a:ext cx="365760" cy="274320"/>
          </a:xfrm>
          <a:prstGeom prst="rect">
            <a:avLst/>
          </a:prstGeom>
          <a:noFill/>
        </p:spPr>
        <p:txBody>
          <a:bodyPr wrap="square">
            <a:spAutoFit/>
          </a:bodyPr>
          <a:lstStyle/>
          <a:p>
            <a:pPr algn="l"/>
            <a:r>
              <a:rPr sz="1000" b="1">
                <a:solidFill>
                  <a:srgbClr val="009EFF"/>
                </a:solidFill>
                <a:latin typeface="Calibri"/>
              </a:rPr>
              <a:t>9.</a:t>
            </a:r>
          </a:p>
        </p:txBody>
      </p:sp>
      <p:sp>
        <p:nvSpPr>
          <p:cNvPr id="31" name="TextBox 30"/>
          <p:cNvSpPr txBox="1"/>
          <p:nvPr/>
        </p:nvSpPr>
        <p:spPr>
          <a:xfrm>
            <a:off x="1097280" y="5266944"/>
            <a:ext cx="2103120" cy="274320"/>
          </a:xfrm>
          <a:prstGeom prst="rect">
            <a:avLst/>
          </a:prstGeom>
          <a:noFill/>
        </p:spPr>
        <p:txBody>
          <a:bodyPr wrap="square">
            <a:spAutoFit/>
          </a:bodyPr>
          <a:lstStyle/>
          <a:p>
            <a:pPr algn="l"/>
            <a:r>
              <a:rPr sz="1100" b="1">
                <a:solidFill>
                  <a:srgbClr val="FFFFFF"/>
                </a:solidFill>
                <a:latin typeface="Calibri"/>
              </a:rPr>
              <a:t>AI Predictive Signals</a:t>
            </a:r>
          </a:p>
        </p:txBody>
      </p:sp>
      <p:sp>
        <p:nvSpPr>
          <p:cNvPr id="32" name="TextBox 31"/>
          <p:cNvSpPr txBox="1"/>
          <p:nvPr/>
        </p:nvSpPr>
        <p:spPr>
          <a:xfrm>
            <a:off x="3200400" y="5266944"/>
            <a:ext cx="2560320" cy="274320"/>
          </a:xfrm>
          <a:prstGeom prst="rect">
            <a:avLst/>
          </a:prstGeom>
          <a:noFill/>
        </p:spPr>
        <p:txBody>
          <a:bodyPr wrap="square">
            <a:spAutoFit/>
          </a:bodyPr>
          <a:lstStyle/>
          <a:p>
            <a:pPr algn="l"/>
            <a:r>
              <a:rPr sz="900" b="0">
                <a:solidFill>
                  <a:srgbClr val="707E96"/>
                </a:solidFill>
                <a:latin typeface="Calibri"/>
              </a:rPr>
              <a:t>Anomaly detection &amp; risk correlation</a:t>
            </a:r>
          </a:p>
        </p:txBody>
      </p:sp>
      <p:sp>
        <p:nvSpPr>
          <p:cNvPr id="33" name="TextBox 32"/>
          <p:cNvSpPr txBox="1"/>
          <p:nvPr/>
        </p:nvSpPr>
        <p:spPr>
          <a:xfrm>
            <a:off x="731520" y="5696712"/>
            <a:ext cx="365760" cy="274320"/>
          </a:xfrm>
          <a:prstGeom prst="rect">
            <a:avLst/>
          </a:prstGeom>
          <a:noFill/>
        </p:spPr>
        <p:txBody>
          <a:bodyPr wrap="square">
            <a:spAutoFit/>
          </a:bodyPr>
          <a:lstStyle/>
          <a:p>
            <a:pPr algn="l"/>
            <a:r>
              <a:rPr sz="1000" b="1">
                <a:solidFill>
                  <a:srgbClr val="009EFF"/>
                </a:solidFill>
                <a:latin typeface="Calibri"/>
              </a:rPr>
              <a:t>10.</a:t>
            </a:r>
          </a:p>
        </p:txBody>
      </p:sp>
      <p:sp>
        <p:nvSpPr>
          <p:cNvPr id="34" name="TextBox 33"/>
          <p:cNvSpPr txBox="1"/>
          <p:nvPr/>
        </p:nvSpPr>
        <p:spPr>
          <a:xfrm>
            <a:off x="1097280" y="5696712"/>
            <a:ext cx="2103120" cy="274320"/>
          </a:xfrm>
          <a:prstGeom prst="rect">
            <a:avLst/>
          </a:prstGeom>
          <a:noFill/>
        </p:spPr>
        <p:txBody>
          <a:bodyPr wrap="square">
            <a:spAutoFit/>
          </a:bodyPr>
          <a:lstStyle/>
          <a:p>
            <a:pPr algn="l"/>
            <a:r>
              <a:rPr sz="1100" b="1">
                <a:solidFill>
                  <a:srgbClr val="FFFFFF"/>
                </a:solidFill>
                <a:latin typeface="Calibri"/>
              </a:rPr>
              <a:t>Remediation Roadmap</a:t>
            </a:r>
          </a:p>
        </p:txBody>
      </p:sp>
      <p:sp>
        <p:nvSpPr>
          <p:cNvPr id="35" name="TextBox 34"/>
          <p:cNvSpPr txBox="1"/>
          <p:nvPr/>
        </p:nvSpPr>
        <p:spPr>
          <a:xfrm>
            <a:off x="3200400" y="5696712"/>
            <a:ext cx="2560320" cy="274320"/>
          </a:xfrm>
          <a:prstGeom prst="rect">
            <a:avLst/>
          </a:prstGeom>
          <a:noFill/>
        </p:spPr>
        <p:txBody>
          <a:bodyPr wrap="square">
            <a:spAutoFit/>
          </a:bodyPr>
          <a:lstStyle/>
          <a:p>
            <a:pPr algn="l"/>
            <a:r>
              <a:rPr sz="900" b="0">
                <a:solidFill>
                  <a:srgbClr val="707E96"/>
                </a:solidFill>
                <a:latin typeface="Calibri"/>
              </a:rPr>
              <a:t>Actionable engineering mandates</a:t>
            </a:r>
          </a:p>
        </p:txBody>
      </p:sp>
      <p:sp>
        <p:nvSpPr>
          <p:cNvPr id="36" name="Rounded Rectangle 35"/>
          <p:cNvSpPr/>
          <p:nvPr/>
        </p:nvSpPr>
        <p:spPr>
          <a:xfrm>
            <a:off x="6217920" y="1371600"/>
            <a:ext cx="5212080" cy="4846320"/>
          </a:xfrm>
          <a:prstGeom prst="roundRect">
            <a:avLst/>
          </a:prstGeom>
          <a:solidFill>
            <a:srgbClr val="F8FAFC"/>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1554480"/>
            <a:ext cx="4846320" cy="365760"/>
          </a:xfrm>
          <a:prstGeom prst="rect">
            <a:avLst/>
          </a:prstGeom>
          <a:noFill/>
        </p:spPr>
        <p:txBody>
          <a:bodyPr wrap="square">
            <a:spAutoFit/>
          </a:bodyPr>
          <a:lstStyle/>
          <a:p>
            <a:pPr algn="l"/>
            <a:r>
              <a:rPr sz="1400" b="1">
                <a:solidFill>
                  <a:srgbClr val="1E1B4B"/>
                </a:solidFill>
                <a:latin typeface="Calibri"/>
              </a:rPr>
              <a:t>OPSINTEL Daily Executive Report</a:t>
            </a:r>
          </a:p>
        </p:txBody>
      </p:sp>
      <p:sp>
        <p:nvSpPr>
          <p:cNvPr id="38" name="Rectangle 37"/>
          <p:cNvSpPr/>
          <p:nvPr/>
        </p:nvSpPr>
        <p:spPr>
          <a:xfrm>
            <a:off x="6400800" y="1920240"/>
            <a:ext cx="4846320" cy="254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2011680"/>
            <a:ext cx="4846320" cy="228600"/>
          </a:xfrm>
          <a:prstGeom prst="rect">
            <a:avLst/>
          </a:prstGeom>
          <a:noFill/>
        </p:spPr>
        <p:txBody>
          <a:bodyPr wrap="square">
            <a:spAutoFit/>
          </a:bodyPr>
          <a:lstStyle/>
          <a:p>
            <a:pPr algn="l"/>
            <a:r>
              <a:rPr sz="800" b="0">
                <a:solidFill>
                  <a:srgbClr val="64748B"/>
                </a:solidFill>
                <a:latin typeface="Calibri"/>
              </a:rPr>
              <a:t>Document Scope: Daily Governance Digest</a:t>
            </a:r>
          </a:p>
        </p:txBody>
      </p:sp>
      <p:sp>
        <p:nvSpPr>
          <p:cNvPr id="40" name="TextBox 39"/>
          <p:cNvSpPr txBox="1"/>
          <p:nvPr/>
        </p:nvSpPr>
        <p:spPr>
          <a:xfrm>
            <a:off x="6400800" y="2240280"/>
            <a:ext cx="4846320" cy="228600"/>
          </a:xfrm>
          <a:prstGeom prst="rect">
            <a:avLst/>
          </a:prstGeom>
          <a:noFill/>
        </p:spPr>
        <p:txBody>
          <a:bodyPr wrap="square">
            <a:spAutoFit/>
          </a:bodyPr>
          <a:lstStyle/>
          <a:p>
            <a:pPr algn="l"/>
            <a:r>
              <a:rPr sz="800" b="0">
                <a:solidFill>
                  <a:srgbClr val="64748B"/>
                </a:solidFill>
                <a:latin typeface="Calibri"/>
              </a:rPr>
              <a:t>Classification: Executive Leadership Restricted</a:t>
            </a:r>
          </a:p>
        </p:txBody>
      </p:sp>
      <p:sp>
        <p:nvSpPr>
          <p:cNvPr id="41" name="TextBox 40"/>
          <p:cNvSpPr txBox="1"/>
          <p:nvPr/>
        </p:nvSpPr>
        <p:spPr>
          <a:xfrm>
            <a:off x="6400800" y="2468880"/>
            <a:ext cx="4846320" cy="228600"/>
          </a:xfrm>
          <a:prstGeom prst="rect">
            <a:avLst/>
          </a:prstGeom>
          <a:noFill/>
        </p:spPr>
        <p:txBody>
          <a:bodyPr wrap="square">
            <a:spAutoFit/>
          </a:bodyPr>
          <a:lstStyle/>
          <a:p>
            <a:pPr algn="l"/>
            <a:r>
              <a:rPr sz="600" b="0">
                <a:solidFill>
                  <a:srgbClr val="64748B"/>
                </a:solidFill>
                <a:latin typeface="Calibri"/>
              </a:rPr>
              <a:t/>
            </a:r>
          </a:p>
        </p:txBody>
      </p:sp>
      <p:sp>
        <p:nvSpPr>
          <p:cNvPr id="42" name="TextBox 41"/>
          <p:cNvSpPr txBox="1"/>
          <p:nvPr/>
        </p:nvSpPr>
        <p:spPr>
          <a:xfrm>
            <a:off x="6400800" y="2697480"/>
            <a:ext cx="4846320" cy="228600"/>
          </a:xfrm>
          <a:prstGeom prst="rect">
            <a:avLst/>
          </a:prstGeom>
          <a:noFill/>
        </p:spPr>
        <p:txBody>
          <a:bodyPr wrap="square">
            <a:spAutoFit/>
          </a:bodyPr>
          <a:lstStyle/>
          <a:p>
            <a:pPr algn="l"/>
            <a:r>
              <a:rPr sz="1100" b="0">
                <a:solidFill>
                  <a:srgbClr val="312E81"/>
                </a:solidFill>
                <a:latin typeface="Calibri"/>
              </a:rPr>
              <a:t>1. AI Executive Summary</a:t>
            </a:r>
          </a:p>
        </p:txBody>
      </p:sp>
      <p:sp>
        <p:nvSpPr>
          <p:cNvPr id="43" name="TextBox 42"/>
          <p:cNvSpPr txBox="1"/>
          <p:nvPr/>
        </p:nvSpPr>
        <p:spPr>
          <a:xfrm>
            <a:off x="6400800" y="2926080"/>
            <a:ext cx="4846320" cy="228600"/>
          </a:xfrm>
          <a:prstGeom prst="rect">
            <a:avLst/>
          </a:prstGeom>
          <a:noFill/>
        </p:spPr>
        <p:txBody>
          <a:bodyPr wrap="square">
            <a:spAutoFit/>
          </a:bodyPr>
          <a:lstStyle/>
          <a:p>
            <a:pPr algn="l"/>
            <a:r>
              <a:rPr sz="900" b="0">
                <a:solidFill>
                  <a:srgbClr val="1E293B"/>
                </a:solidFill>
                <a:latin typeface="Calibri"/>
              </a:rPr>
              <a:t>Overall Health Index: 41.3/100 (CRITICAL)</a:t>
            </a:r>
          </a:p>
        </p:txBody>
      </p:sp>
      <p:sp>
        <p:nvSpPr>
          <p:cNvPr id="44" name="TextBox 43"/>
          <p:cNvSpPr txBox="1"/>
          <p:nvPr/>
        </p:nvSpPr>
        <p:spPr>
          <a:xfrm>
            <a:off x="6400800" y="3154680"/>
            <a:ext cx="4846320" cy="228600"/>
          </a:xfrm>
          <a:prstGeom prst="rect">
            <a:avLst/>
          </a:prstGeom>
          <a:noFill/>
        </p:spPr>
        <p:txBody>
          <a:bodyPr wrap="square">
            <a:spAutoFit/>
          </a:bodyPr>
          <a:lstStyle/>
          <a:p>
            <a:pPr algn="l"/>
            <a:r>
              <a:rPr sz="900" b="0">
                <a:solidFill>
                  <a:srgbClr val="475569"/>
                </a:solidFill>
                <a:latin typeface="Calibri"/>
              </a:rPr>
              <a:t>SLA compliance sits at 91.07% against target...</a:t>
            </a:r>
          </a:p>
        </p:txBody>
      </p:sp>
      <p:sp>
        <p:nvSpPr>
          <p:cNvPr id="45" name="TextBox 44"/>
          <p:cNvSpPr txBox="1"/>
          <p:nvPr/>
        </p:nvSpPr>
        <p:spPr>
          <a:xfrm>
            <a:off x="6400800" y="3383280"/>
            <a:ext cx="4846320" cy="228600"/>
          </a:xfrm>
          <a:prstGeom prst="rect">
            <a:avLst/>
          </a:prstGeom>
          <a:noFill/>
        </p:spPr>
        <p:txBody>
          <a:bodyPr wrap="square">
            <a:spAutoFit/>
          </a:bodyPr>
          <a:lstStyle/>
          <a:p>
            <a:pPr algn="l"/>
            <a:r>
              <a:rPr sz="600" b="0">
                <a:solidFill>
                  <a:srgbClr val="64748B"/>
                </a:solidFill>
                <a:latin typeface="Calibri"/>
              </a:rPr>
              <a:t/>
            </a:r>
          </a:p>
        </p:txBody>
      </p:sp>
      <p:sp>
        <p:nvSpPr>
          <p:cNvPr id="46" name="TextBox 45"/>
          <p:cNvSpPr txBox="1"/>
          <p:nvPr/>
        </p:nvSpPr>
        <p:spPr>
          <a:xfrm>
            <a:off x="6400800" y="3611880"/>
            <a:ext cx="4846320" cy="228600"/>
          </a:xfrm>
          <a:prstGeom prst="rect">
            <a:avLst/>
          </a:prstGeom>
          <a:noFill/>
        </p:spPr>
        <p:txBody>
          <a:bodyPr wrap="square">
            <a:spAutoFit/>
          </a:bodyPr>
          <a:lstStyle/>
          <a:p>
            <a:pPr algn="l"/>
            <a:r>
              <a:rPr sz="1100" b="0">
                <a:solidFill>
                  <a:srgbClr val="312E81"/>
                </a:solidFill>
                <a:latin typeface="Calibri"/>
              </a:rPr>
              <a:t>2. Executive KPI Matrix</a:t>
            </a:r>
          </a:p>
        </p:txBody>
      </p:sp>
      <p:sp>
        <p:nvSpPr>
          <p:cNvPr id="47" name="TextBox 46"/>
          <p:cNvSpPr txBox="1"/>
          <p:nvPr/>
        </p:nvSpPr>
        <p:spPr>
          <a:xfrm>
            <a:off x="6400800" y="3840480"/>
            <a:ext cx="4846320" cy="228600"/>
          </a:xfrm>
          <a:prstGeom prst="rect">
            <a:avLst/>
          </a:prstGeom>
          <a:noFill/>
        </p:spPr>
        <p:txBody>
          <a:bodyPr wrap="square">
            <a:spAutoFit/>
          </a:bodyPr>
          <a:lstStyle/>
          <a:p>
            <a:pPr algn="l"/>
            <a:r>
              <a:rPr sz="700" b="0">
                <a:solidFill>
                  <a:srgbClr val="94A3B8"/>
                </a:solidFill>
                <a:latin typeface="Consolas"/>
              </a:rPr>
              <a:t>┌──────────┬────────┬────────┐</a:t>
            </a:r>
          </a:p>
        </p:txBody>
      </p:sp>
      <p:sp>
        <p:nvSpPr>
          <p:cNvPr id="48" name="TextBox 47"/>
          <p:cNvSpPr txBox="1"/>
          <p:nvPr/>
        </p:nvSpPr>
        <p:spPr>
          <a:xfrm>
            <a:off x="6400800" y="4069080"/>
            <a:ext cx="4846320" cy="228600"/>
          </a:xfrm>
          <a:prstGeom prst="rect">
            <a:avLst/>
          </a:prstGeom>
          <a:noFill/>
        </p:spPr>
        <p:txBody>
          <a:bodyPr wrap="square">
            <a:spAutoFit/>
          </a:bodyPr>
          <a:lstStyle/>
          <a:p>
            <a:pPr algn="l"/>
            <a:r>
              <a:rPr sz="700" b="0">
                <a:solidFill>
                  <a:srgbClr val="94A3B8"/>
                </a:solidFill>
                <a:latin typeface="Consolas"/>
              </a:rPr>
              <a:t>│ Metric   │ Value  │ Status │</a:t>
            </a:r>
          </a:p>
        </p:txBody>
      </p:sp>
      <p:sp>
        <p:nvSpPr>
          <p:cNvPr id="49" name="TextBox 48"/>
          <p:cNvSpPr txBox="1"/>
          <p:nvPr/>
        </p:nvSpPr>
        <p:spPr>
          <a:xfrm>
            <a:off x="6400800" y="4297680"/>
            <a:ext cx="4846320" cy="228600"/>
          </a:xfrm>
          <a:prstGeom prst="rect">
            <a:avLst/>
          </a:prstGeom>
          <a:noFill/>
        </p:spPr>
        <p:txBody>
          <a:bodyPr wrap="square">
            <a:spAutoFit/>
          </a:bodyPr>
          <a:lstStyle/>
          <a:p>
            <a:pPr algn="l"/>
            <a:r>
              <a:rPr sz="700" b="0">
                <a:solidFill>
                  <a:srgbClr val="94A3B8"/>
                </a:solidFill>
                <a:latin typeface="Calibri"/>
              </a:rPr>
              <a:t>├──────────┼────────┼────────┤</a:t>
            </a:r>
          </a:p>
        </p:txBody>
      </p:sp>
      <p:sp>
        <p:nvSpPr>
          <p:cNvPr id="50" name="TextBox 49"/>
          <p:cNvSpPr txBox="1"/>
          <p:nvPr/>
        </p:nvSpPr>
        <p:spPr>
          <a:xfrm>
            <a:off x="6400800" y="4526280"/>
            <a:ext cx="4846320" cy="228600"/>
          </a:xfrm>
          <a:prstGeom prst="rect">
            <a:avLst/>
          </a:prstGeom>
          <a:noFill/>
        </p:spPr>
        <p:txBody>
          <a:bodyPr wrap="square">
            <a:spAutoFit/>
          </a:bodyPr>
          <a:lstStyle/>
          <a:p>
            <a:pPr algn="l"/>
            <a:r>
              <a:rPr sz="700" b="0">
                <a:solidFill>
                  <a:srgbClr val="94A3B8"/>
                </a:solidFill>
                <a:latin typeface="Consolas"/>
              </a:rPr>
              <a:t>│ Health   │ 41.3   │ CRIT   │</a:t>
            </a:r>
          </a:p>
        </p:txBody>
      </p:sp>
      <p:sp>
        <p:nvSpPr>
          <p:cNvPr id="51" name="TextBox 50"/>
          <p:cNvSpPr txBox="1"/>
          <p:nvPr/>
        </p:nvSpPr>
        <p:spPr>
          <a:xfrm>
            <a:off x="6400800" y="4754880"/>
            <a:ext cx="4846320" cy="228600"/>
          </a:xfrm>
          <a:prstGeom prst="rect">
            <a:avLst/>
          </a:prstGeom>
          <a:noFill/>
        </p:spPr>
        <p:txBody>
          <a:bodyPr wrap="square">
            <a:spAutoFit/>
          </a:bodyPr>
          <a:lstStyle/>
          <a:p>
            <a:pPr algn="l"/>
            <a:r>
              <a:rPr sz="700" b="0">
                <a:solidFill>
                  <a:srgbClr val="94A3B8"/>
                </a:solidFill>
                <a:latin typeface="Consolas"/>
              </a:rPr>
              <a:t>│ MTTR     │ 9.63h  │ EVAL   │</a:t>
            </a:r>
          </a:p>
        </p:txBody>
      </p:sp>
      <p:sp>
        <p:nvSpPr>
          <p:cNvPr id="52" name="TextBox 51"/>
          <p:cNvSpPr txBox="1"/>
          <p:nvPr/>
        </p:nvSpPr>
        <p:spPr>
          <a:xfrm>
            <a:off x="6400800" y="4983480"/>
            <a:ext cx="4846320" cy="228600"/>
          </a:xfrm>
          <a:prstGeom prst="rect">
            <a:avLst/>
          </a:prstGeom>
          <a:noFill/>
        </p:spPr>
        <p:txBody>
          <a:bodyPr wrap="square">
            <a:spAutoFit/>
          </a:bodyPr>
          <a:lstStyle/>
          <a:p>
            <a:pPr algn="l"/>
            <a:r>
              <a:rPr sz="700" b="0">
                <a:solidFill>
                  <a:srgbClr val="94A3B8"/>
                </a:solidFill>
                <a:latin typeface="Calibri"/>
              </a:rPr>
              <a:t>└──────────┴────────┴────────┘</a:t>
            </a:r>
          </a:p>
        </p:txBody>
      </p:sp>
      <p:sp>
        <p:nvSpPr>
          <p:cNvPr id="53" name="Rounded Rectangle 52"/>
          <p:cNvSpPr/>
          <p:nvPr/>
        </p:nvSpPr>
        <p:spPr>
          <a:xfrm>
            <a:off x="6400800" y="5486400"/>
            <a:ext cx="914400" cy="2286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800" b="1">
                <a:solidFill>
                  <a:srgbClr val="FFFFFF"/>
                </a:solidFill>
                <a:latin typeface="Calibri"/>
              </a:rPr>
              <a:t>PDF</a:t>
            </a:r>
          </a:p>
        </p:txBody>
      </p:sp>
      <p:sp>
        <p:nvSpPr>
          <p:cNvPr id="54" name="Rounded Rectangle 53"/>
          <p:cNvSpPr/>
          <p:nvPr/>
        </p:nvSpPr>
        <p:spPr>
          <a:xfrm>
            <a:off x="7498079" y="5486400"/>
            <a:ext cx="1097280" cy="228600"/>
          </a:xfrm>
          <a:prstGeom prst="round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800" b="1">
                <a:solidFill>
                  <a:srgbClr val="FFFFFF"/>
                </a:solidFill>
                <a:latin typeface="Calibri"/>
              </a:rPr>
              <a:t>MARKDOWN</a:t>
            </a:r>
          </a:p>
        </p:txBody>
      </p:sp>
      <p:sp>
        <p:nvSpPr>
          <p:cNvPr id="55" name="Rounded Rectangle 54"/>
          <p:cNvSpPr/>
          <p:nvPr/>
        </p:nvSpPr>
        <p:spPr>
          <a:xfrm>
            <a:off x="8778240" y="5486400"/>
            <a:ext cx="1371600"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800" b="1">
                <a:solidFill>
                  <a:srgbClr val="FFFFFF"/>
                </a:solidFill>
                <a:latin typeface="Calibri"/>
              </a:rPr>
              <a:t>AI + DETERMINISTIC</a:t>
            </a:r>
          </a:p>
        </p:txBody>
      </p:sp>
      <p:sp>
        <p:nvSpPr>
          <p:cNvPr id="56" name="Rounded Rectangle 55"/>
          <p:cNvSpPr/>
          <p:nvPr/>
        </p:nvSpPr>
        <p:spPr>
          <a:xfrm>
            <a:off x="731520" y="6217920"/>
            <a:ext cx="10698480" cy="365760"/>
          </a:xfrm>
          <a:prstGeom prst="roundRect">
            <a:avLst/>
          </a:prstGeom>
          <a:solidFill>
            <a:srgbClr val="2A305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4400" y="6236208"/>
            <a:ext cx="10332720" cy="320040"/>
          </a:xfrm>
          <a:prstGeom prst="rect">
            <a:avLst/>
          </a:prstGeom>
          <a:noFill/>
        </p:spPr>
        <p:txBody>
          <a:bodyPr wrap="square">
            <a:spAutoFit/>
          </a:bodyPr>
          <a:lstStyle/>
          <a:p>
            <a:pPr algn="ctr"/>
            <a:r>
              <a:rPr sz="1100" b="0">
                <a:solidFill>
                  <a:srgbClr val="B0BCD0"/>
                </a:solidFill>
                <a:latin typeface="Calibri"/>
              </a:rPr>
              <a:t>Dashboard and reports use the same underlying analytics engine — ensuring consistency across all outputs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Designed for Automation and Extensibility</a:t>
            </a:r>
          </a:p>
        </p:txBody>
      </p:sp>
      <p:sp>
        <p:nvSpPr>
          <p:cNvPr id="4" name="Rectangle 3"/>
          <p:cNvSpPr/>
          <p:nvPr/>
        </p:nvSpPr>
        <p:spPr>
          <a:xfrm>
            <a:off x="731520" y="1097280"/>
            <a:ext cx="2743200" cy="38100"/>
          </a:xfrm>
          <a:prstGeom prst="rect">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2743200" cy="365760"/>
          </a:xfrm>
          <a:prstGeom prst="rect">
            <a:avLst/>
          </a:prstGeom>
          <a:noFill/>
        </p:spPr>
        <p:txBody>
          <a:bodyPr wrap="square">
            <a:spAutoFit/>
          </a:bodyPr>
          <a:lstStyle/>
          <a:p>
            <a:pPr algn="l"/>
            <a:r>
              <a:rPr sz="1400" b="1">
                <a:solidFill>
                  <a:srgbClr val="009EFF"/>
                </a:solidFill>
                <a:latin typeface="Calibri"/>
              </a:rPr>
              <a:t>DATA INPUT</a:t>
            </a:r>
          </a:p>
        </p:txBody>
      </p:sp>
      <p:sp>
        <p:nvSpPr>
          <p:cNvPr id="6" name="Rounded Rectangle 5"/>
          <p:cNvSpPr/>
          <p:nvPr/>
        </p:nvSpPr>
        <p:spPr>
          <a:xfrm>
            <a:off x="731520" y="2011680"/>
            <a:ext cx="3200400" cy="50292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39112"/>
            <a:ext cx="1828800" cy="228600"/>
          </a:xfrm>
          <a:prstGeom prst="rect">
            <a:avLst/>
          </a:prstGeom>
          <a:noFill/>
        </p:spPr>
        <p:txBody>
          <a:bodyPr wrap="square">
            <a:spAutoFit/>
          </a:bodyPr>
          <a:lstStyle/>
          <a:p>
            <a:pPr algn="l"/>
            <a:r>
              <a:rPr sz="1200" b="1">
                <a:solidFill>
                  <a:srgbClr val="FFFFFF"/>
                </a:solidFill>
                <a:latin typeface="Calibri"/>
              </a:rPr>
              <a:t>CSV Upload</a:t>
            </a:r>
          </a:p>
        </p:txBody>
      </p:sp>
      <p:sp>
        <p:nvSpPr>
          <p:cNvPr id="8" name="TextBox 7"/>
          <p:cNvSpPr txBox="1"/>
          <p:nvPr/>
        </p:nvSpPr>
        <p:spPr>
          <a:xfrm>
            <a:off x="914400" y="2258568"/>
            <a:ext cx="2560320" cy="201168"/>
          </a:xfrm>
          <a:prstGeom prst="rect">
            <a:avLst/>
          </a:prstGeom>
          <a:noFill/>
        </p:spPr>
        <p:txBody>
          <a:bodyPr wrap="square">
            <a:spAutoFit/>
          </a:bodyPr>
          <a:lstStyle/>
          <a:p>
            <a:pPr algn="l"/>
            <a:r>
              <a:rPr sz="800" b="1">
                <a:solidFill>
                  <a:srgbClr val="10B981"/>
                </a:solidFill>
                <a:latin typeface="Calibri"/>
              </a:rPr>
              <a:t>IMPLEMENTED</a:t>
            </a:r>
          </a:p>
        </p:txBody>
      </p:sp>
      <p:sp>
        <p:nvSpPr>
          <p:cNvPr id="9" name="Rounded Rectangle 8"/>
          <p:cNvSpPr/>
          <p:nvPr/>
        </p:nvSpPr>
        <p:spPr>
          <a:xfrm>
            <a:off x="731520" y="2651760"/>
            <a:ext cx="3200400" cy="50292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79192"/>
            <a:ext cx="1828800" cy="228600"/>
          </a:xfrm>
          <a:prstGeom prst="rect">
            <a:avLst/>
          </a:prstGeom>
          <a:noFill/>
        </p:spPr>
        <p:txBody>
          <a:bodyPr wrap="square">
            <a:spAutoFit/>
          </a:bodyPr>
          <a:lstStyle/>
          <a:p>
            <a:pPr algn="l"/>
            <a:r>
              <a:rPr sz="1200" b="1">
                <a:solidFill>
                  <a:srgbClr val="FFFFFF"/>
                </a:solidFill>
                <a:latin typeface="Calibri"/>
              </a:rPr>
              <a:t>ServiceNow API</a:t>
            </a:r>
          </a:p>
        </p:txBody>
      </p:sp>
      <p:sp>
        <p:nvSpPr>
          <p:cNvPr id="11" name="TextBox 10"/>
          <p:cNvSpPr txBox="1"/>
          <p:nvPr/>
        </p:nvSpPr>
        <p:spPr>
          <a:xfrm>
            <a:off x="914400" y="2898648"/>
            <a:ext cx="2560320" cy="201168"/>
          </a:xfrm>
          <a:prstGeom prst="rect">
            <a:avLst/>
          </a:prstGeom>
          <a:noFill/>
        </p:spPr>
        <p:txBody>
          <a:bodyPr wrap="square">
            <a:spAutoFit/>
          </a:bodyPr>
          <a:lstStyle/>
          <a:p>
            <a:pPr algn="l"/>
            <a:r>
              <a:rPr sz="800" b="1">
                <a:solidFill>
                  <a:srgbClr val="F59E0B"/>
                </a:solidFill>
                <a:latin typeface="Calibri"/>
              </a:rPr>
              <a:t>FUTURE — INTEGRATION READY</a:t>
            </a:r>
          </a:p>
        </p:txBody>
      </p:sp>
      <p:sp>
        <p:nvSpPr>
          <p:cNvPr id="12" name="Rounded Rectangle 11"/>
          <p:cNvSpPr/>
          <p:nvPr/>
        </p:nvSpPr>
        <p:spPr>
          <a:xfrm>
            <a:off x="731520" y="3291840"/>
            <a:ext cx="3200400" cy="50292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19272"/>
            <a:ext cx="1828800" cy="228600"/>
          </a:xfrm>
          <a:prstGeom prst="rect">
            <a:avLst/>
          </a:prstGeom>
          <a:noFill/>
        </p:spPr>
        <p:txBody>
          <a:bodyPr wrap="square">
            <a:spAutoFit/>
          </a:bodyPr>
          <a:lstStyle/>
          <a:p>
            <a:pPr algn="l"/>
            <a:r>
              <a:rPr sz="1200" b="1">
                <a:solidFill>
                  <a:srgbClr val="FFFFFF"/>
                </a:solidFill>
                <a:latin typeface="Calibri"/>
              </a:rPr>
              <a:t>Jira / ITSM</a:t>
            </a:r>
          </a:p>
        </p:txBody>
      </p:sp>
      <p:sp>
        <p:nvSpPr>
          <p:cNvPr id="14" name="TextBox 13"/>
          <p:cNvSpPr txBox="1"/>
          <p:nvPr/>
        </p:nvSpPr>
        <p:spPr>
          <a:xfrm>
            <a:off x="914400" y="3538728"/>
            <a:ext cx="2560320" cy="201168"/>
          </a:xfrm>
          <a:prstGeom prst="rect">
            <a:avLst/>
          </a:prstGeom>
          <a:noFill/>
        </p:spPr>
        <p:txBody>
          <a:bodyPr wrap="square">
            <a:spAutoFit/>
          </a:bodyPr>
          <a:lstStyle/>
          <a:p>
            <a:pPr algn="l"/>
            <a:r>
              <a:rPr sz="800" b="1">
                <a:solidFill>
                  <a:srgbClr val="48526A"/>
                </a:solidFill>
                <a:latin typeface="Calibri"/>
              </a:rPr>
              <a:t>FUTURE</a:t>
            </a:r>
          </a:p>
        </p:txBody>
      </p:sp>
      <p:sp>
        <p:nvSpPr>
          <p:cNvPr id="15" name="Rounded Rectangle 14"/>
          <p:cNvSpPr/>
          <p:nvPr/>
        </p:nvSpPr>
        <p:spPr>
          <a:xfrm>
            <a:off x="731520" y="3931920"/>
            <a:ext cx="3200400" cy="502920"/>
          </a:xfrm>
          <a:prstGeom prst="roundRect">
            <a:avLst/>
          </a:prstGeom>
          <a:solidFill>
            <a:srgbClr val="1A2035"/>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59352"/>
            <a:ext cx="1828800" cy="228600"/>
          </a:xfrm>
          <a:prstGeom prst="rect">
            <a:avLst/>
          </a:prstGeom>
          <a:noFill/>
        </p:spPr>
        <p:txBody>
          <a:bodyPr wrap="square">
            <a:spAutoFit/>
          </a:bodyPr>
          <a:lstStyle/>
          <a:p>
            <a:pPr algn="l"/>
            <a:r>
              <a:rPr sz="1200" b="1">
                <a:solidFill>
                  <a:srgbClr val="FFFFFF"/>
                </a:solidFill>
                <a:latin typeface="Calibri"/>
              </a:rPr>
              <a:t>Observability Tools</a:t>
            </a:r>
          </a:p>
        </p:txBody>
      </p:sp>
      <p:sp>
        <p:nvSpPr>
          <p:cNvPr id="17" name="TextBox 16"/>
          <p:cNvSpPr txBox="1"/>
          <p:nvPr/>
        </p:nvSpPr>
        <p:spPr>
          <a:xfrm>
            <a:off x="914400" y="4178808"/>
            <a:ext cx="2560320" cy="201168"/>
          </a:xfrm>
          <a:prstGeom prst="rect">
            <a:avLst/>
          </a:prstGeom>
          <a:noFill/>
        </p:spPr>
        <p:txBody>
          <a:bodyPr wrap="square">
            <a:spAutoFit/>
          </a:bodyPr>
          <a:lstStyle/>
          <a:p>
            <a:pPr algn="l"/>
            <a:r>
              <a:rPr sz="800" b="1">
                <a:solidFill>
                  <a:srgbClr val="48526A"/>
                </a:solidFill>
                <a:latin typeface="Calibri"/>
              </a:rPr>
              <a:t>FUTURE</a:t>
            </a:r>
          </a:p>
        </p:txBody>
      </p:sp>
      <p:sp>
        <p:nvSpPr>
          <p:cNvPr id="18" name="TextBox 17"/>
          <p:cNvSpPr txBox="1"/>
          <p:nvPr/>
        </p:nvSpPr>
        <p:spPr>
          <a:xfrm>
            <a:off x="4572000" y="1554480"/>
            <a:ext cx="3200400" cy="365760"/>
          </a:xfrm>
          <a:prstGeom prst="rect">
            <a:avLst/>
          </a:prstGeom>
          <a:noFill/>
        </p:spPr>
        <p:txBody>
          <a:bodyPr wrap="square">
            <a:spAutoFit/>
          </a:bodyPr>
          <a:lstStyle/>
          <a:p>
            <a:pPr algn="ctr"/>
            <a:r>
              <a:rPr sz="1400" b="1">
                <a:solidFill>
                  <a:srgbClr val="8B5CF6"/>
                </a:solidFill>
                <a:latin typeface="Calibri"/>
              </a:rPr>
              <a:t>PROCESSING</a:t>
            </a:r>
          </a:p>
        </p:txBody>
      </p:sp>
      <p:sp>
        <p:nvSpPr>
          <p:cNvPr id="19" name="Rounded Rectangle 18"/>
          <p:cNvSpPr/>
          <p:nvPr/>
        </p:nvSpPr>
        <p:spPr>
          <a:xfrm>
            <a:off x="4572000" y="2011680"/>
            <a:ext cx="3200400" cy="274320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2194560"/>
            <a:ext cx="2743200" cy="274320"/>
          </a:xfrm>
          <a:prstGeom prst="rect">
            <a:avLst/>
          </a:prstGeom>
          <a:noFill/>
        </p:spPr>
        <p:txBody>
          <a:bodyPr wrap="square">
            <a:spAutoFit/>
          </a:bodyPr>
          <a:lstStyle/>
          <a:p>
            <a:pPr algn="l"/>
            <a:r>
              <a:rPr sz="1000" b="0">
                <a:solidFill>
                  <a:srgbClr val="B0BCD0"/>
                </a:solidFill>
                <a:latin typeface="Calibri"/>
              </a:rPr>
              <a:t>▸  Ingestion &amp; Validation</a:t>
            </a:r>
          </a:p>
        </p:txBody>
      </p:sp>
      <p:sp>
        <p:nvSpPr>
          <p:cNvPr id="21" name="TextBox 20"/>
          <p:cNvSpPr txBox="1"/>
          <p:nvPr/>
        </p:nvSpPr>
        <p:spPr>
          <a:xfrm>
            <a:off x="4754880" y="2578608"/>
            <a:ext cx="2743200" cy="274320"/>
          </a:xfrm>
          <a:prstGeom prst="rect">
            <a:avLst/>
          </a:prstGeom>
          <a:noFill/>
        </p:spPr>
        <p:txBody>
          <a:bodyPr wrap="square">
            <a:spAutoFit/>
          </a:bodyPr>
          <a:lstStyle/>
          <a:p>
            <a:pPr algn="l"/>
            <a:r>
              <a:rPr sz="1000" b="0">
                <a:solidFill>
                  <a:srgbClr val="B0BCD0"/>
                </a:solidFill>
                <a:latin typeface="Calibri"/>
              </a:rPr>
              <a:t>▸  Canonical Data Model</a:t>
            </a:r>
          </a:p>
        </p:txBody>
      </p:sp>
      <p:sp>
        <p:nvSpPr>
          <p:cNvPr id="22" name="TextBox 21"/>
          <p:cNvSpPr txBox="1"/>
          <p:nvPr/>
        </p:nvSpPr>
        <p:spPr>
          <a:xfrm>
            <a:off x="4754880" y="2962656"/>
            <a:ext cx="2743200" cy="274320"/>
          </a:xfrm>
          <a:prstGeom prst="rect">
            <a:avLst/>
          </a:prstGeom>
          <a:noFill/>
        </p:spPr>
        <p:txBody>
          <a:bodyPr wrap="square">
            <a:spAutoFit/>
          </a:bodyPr>
          <a:lstStyle/>
          <a:p>
            <a:pPr algn="l"/>
            <a:r>
              <a:rPr sz="1000" b="0">
                <a:solidFill>
                  <a:srgbClr val="B0BCD0"/>
                </a:solidFill>
                <a:latin typeface="Calibri"/>
              </a:rPr>
              <a:t>▸  KPI Engine</a:t>
            </a:r>
          </a:p>
        </p:txBody>
      </p:sp>
      <p:sp>
        <p:nvSpPr>
          <p:cNvPr id="23" name="TextBox 22"/>
          <p:cNvSpPr txBox="1"/>
          <p:nvPr/>
        </p:nvSpPr>
        <p:spPr>
          <a:xfrm>
            <a:off x="4754880" y="3346704"/>
            <a:ext cx="2743200" cy="274320"/>
          </a:xfrm>
          <a:prstGeom prst="rect">
            <a:avLst/>
          </a:prstGeom>
          <a:noFill/>
        </p:spPr>
        <p:txBody>
          <a:bodyPr wrap="square">
            <a:spAutoFit/>
          </a:bodyPr>
          <a:lstStyle/>
          <a:p>
            <a:pPr algn="l"/>
            <a:r>
              <a:rPr sz="1000" b="0">
                <a:solidFill>
                  <a:srgbClr val="B0BCD0"/>
                </a:solidFill>
                <a:latin typeface="Calibri"/>
              </a:rPr>
              <a:t>▸  AI Synthesis (Gemini)</a:t>
            </a:r>
          </a:p>
        </p:txBody>
      </p:sp>
      <p:sp>
        <p:nvSpPr>
          <p:cNvPr id="24" name="TextBox 23"/>
          <p:cNvSpPr txBox="1"/>
          <p:nvPr/>
        </p:nvSpPr>
        <p:spPr>
          <a:xfrm>
            <a:off x="4754880" y="3730752"/>
            <a:ext cx="2743200" cy="274320"/>
          </a:xfrm>
          <a:prstGeom prst="rect">
            <a:avLst/>
          </a:prstGeom>
          <a:noFill/>
        </p:spPr>
        <p:txBody>
          <a:bodyPr wrap="square">
            <a:spAutoFit/>
          </a:bodyPr>
          <a:lstStyle/>
          <a:p>
            <a:pPr algn="l"/>
            <a:r>
              <a:rPr sz="1000" b="0">
                <a:solidFill>
                  <a:srgbClr val="B0BCD0"/>
                </a:solidFill>
                <a:latin typeface="Calibri"/>
              </a:rPr>
              <a:t>▸  Correlation Analysis</a:t>
            </a:r>
          </a:p>
        </p:txBody>
      </p:sp>
      <p:sp>
        <p:nvSpPr>
          <p:cNvPr id="25" name="TextBox 24"/>
          <p:cNvSpPr txBox="1"/>
          <p:nvPr/>
        </p:nvSpPr>
        <p:spPr>
          <a:xfrm>
            <a:off x="4754880" y="4114800"/>
            <a:ext cx="2743200" cy="274320"/>
          </a:xfrm>
          <a:prstGeom prst="rect">
            <a:avLst/>
          </a:prstGeom>
          <a:noFill/>
        </p:spPr>
        <p:txBody>
          <a:bodyPr wrap="square">
            <a:spAutoFit/>
          </a:bodyPr>
          <a:lstStyle/>
          <a:p>
            <a:pPr algn="l"/>
            <a:r>
              <a:rPr sz="1000" b="0">
                <a:solidFill>
                  <a:srgbClr val="B0BCD0"/>
                </a:solidFill>
                <a:latin typeface="Calibri"/>
              </a:rPr>
              <a:t>▸  Report Generation</a:t>
            </a:r>
          </a:p>
        </p:txBody>
      </p:sp>
      <p:sp>
        <p:nvSpPr>
          <p:cNvPr id="26" name="Right Arrow 25"/>
          <p:cNvSpPr/>
          <p:nvPr/>
        </p:nvSpPr>
        <p:spPr>
          <a:xfrm>
            <a:off x="4023360" y="3200400"/>
            <a:ext cx="457200" cy="182880"/>
          </a:xfrm>
          <a:prstGeom prst="rightArrow">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1554480"/>
            <a:ext cx="3200400" cy="365760"/>
          </a:xfrm>
          <a:prstGeom prst="rect">
            <a:avLst/>
          </a:prstGeom>
          <a:noFill/>
        </p:spPr>
        <p:txBody>
          <a:bodyPr wrap="square">
            <a:spAutoFit/>
          </a:bodyPr>
          <a:lstStyle/>
          <a:p>
            <a:pPr algn="l"/>
            <a:r>
              <a:rPr sz="1400" b="1">
                <a:solidFill>
                  <a:srgbClr val="10B981"/>
                </a:solidFill>
                <a:latin typeface="Calibri"/>
              </a:rPr>
              <a:t>DELIVERY</a:t>
            </a:r>
          </a:p>
        </p:txBody>
      </p:sp>
      <p:sp>
        <p:nvSpPr>
          <p:cNvPr id="28" name="Rounded Rectangle 27"/>
          <p:cNvSpPr/>
          <p:nvPr/>
        </p:nvSpPr>
        <p:spPr>
          <a:xfrm>
            <a:off x="8503920" y="2011680"/>
            <a:ext cx="3200400" cy="50292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0" y="2039112"/>
            <a:ext cx="1828800" cy="228600"/>
          </a:xfrm>
          <a:prstGeom prst="rect">
            <a:avLst/>
          </a:prstGeom>
          <a:noFill/>
        </p:spPr>
        <p:txBody>
          <a:bodyPr wrap="square">
            <a:spAutoFit/>
          </a:bodyPr>
          <a:lstStyle/>
          <a:p>
            <a:pPr algn="l"/>
            <a:r>
              <a:rPr sz="1200" b="1">
                <a:solidFill>
                  <a:srgbClr val="FFFFFF"/>
                </a:solidFill>
                <a:latin typeface="Calibri"/>
              </a:rPr>
              <a:t>Interactive Dashboard</a:t>
            </a:r>
          </a:p>
        </p:txBody>
      </p:sp>
      <p:sp>
        <p:nvSpPr>
          <p:cNvPr id="30" name="TextBox 29"/>
          <p:cNvSpPr txBox="1"/>
          <p:nvPr/>
        </p:nvSpPr>
        <p:spPr>
          <a:xfrm>
            <a:off x="8686800" y="2258568"/>
            <a:ext cx="2560320" cy="201168"/>
          </a:xfrm>
          <a:prstGeom prst="rect">
            <a:avLst/>
          </a:prstGeom>
          <a:noFill/>
        </p:spPr>
        <p:txBody>
          <a:bodyPr wrap="square">
            <a:spAutoFit/>
          </a:bodyPr>
          <a:lstStyle/>
          <a:p>
            <a:pPr algn="l"/>
            <a:r>
              <a:rPr sz="800" b="1">
                <a:solidFill>
                  <a:srgbClr val="10B981"/>
                </a:solidFill>
                <a:latin typeface="Calibri"/>
              </a:rPr>
              <a:t>IMPLEMENTED</a:t>
            </a:r>
          </a:p>
        </p:txBody>
      </p:sp>
      <p:sp>
        <p:nvSpPr>
          <p:cNvPr id="31" name="Rounded Rectangle 30"/>
          <p:cNvSpPr/>
          <p:nvPr/>
        </p:nvSpPr>
        <p:spPr>
          <a:xfrm>
            <a:off x="8503920" y="2651760"/>
            <a:ext cx="3200400" cy="50292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0" y="2679192"/>
            <a:ext cx="1828800" cy="228600"/>
          </a:xfrm>
          <a:prstGeom prst="rect">
            <a:avLst/>
          </a:prstGeom>
          <a:noFill/>
        </p:spPr>
        <p:txBody>
          <a:bodyPr wrap="square">
            <a:spAutoFit/>
          </a:bodyPr>
          <a:lstStyle/>
          <a:p>
            <a:pPr algn="l"/>
            <a:r>
              <a:rPr sz="1200" b="1">
                <a:solidFill>
                  <a:srgbClr val="FFFFFF"/>
                </a:solidFill>
                <a:latin typeface="Calibri"/>
              </a:rPr>
              <a:t>PDF Reports</a:t>
            </a:r>
          </a:p>
        </p:txBody>
      </p:sp>
      <p:sp>
        <p:nvSpPr>
          <p:cNvPr id="33" name="TextBox 32"/>
          <p:cNvSpPr txBox="1"/>
          <p:nvPr/>
        </p:nvSpPr>
        <p:spPr>
          <a:xfrm>
            <a:off x="8686800" y="2898648"/>
            <a:ext cx="2560320" cy="201168"/>
          </a:xfrm>
          <a:prstGeom prst="rect">
            <a:avLst/>
          </a:prstGeom>
          <a:noFill/>
        </p:spPr>
        <p:txBody>
          <a:bodyPr wrap="square">
            <a:spAutoFit/>
          </a:bodyPr>
          <a:lstStyle/>
          <a:p>
            <a:pPr algn="l"/>
            <a:r>
              <a:rPr sz="800" b="1">
                <a:solidFill>
                  <a:srgbClr val="10B981"/>
                </a:solidFill>
                <a:latin typeface="Calibri"/>
              </a:rPr>
              <a:t>IMPLEMENTED</a:t>
            </a:r>
          </a:p>
        </p:txBody>
      </p:sp>
      <p:sp>
        <p:nvSpPr>
          <p:cNvPr id="34" name="Rounded Rectangle 33"/>
          <p:cNvSpPr/>
          <p:nvPr/>
        </p:nvSpPr>
        <p:spPr>
          <a:xfrm>
            <a:off x="8503920" y="3291840"/>
            <a:ext cx="3200400" cy="50292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0" y="3319272"/>
            <a:ext cx="1828800" cy="228600"/>
          </a:xfrm>
          <a:prstGeom prst="rect">
            <a:avLst/>
          </a:prstGeom>
          <a:noFill/>
        </p:spPr>
        <p:txBody>
          <a:bodyPr wrap="square">
            <a:spAutoFit/>
          </a:bodyPr>
          <a:lstStyle/>
          <a:p>
            <a:pPr algn="l"/>
            <a:r>
              <a:rPr sz="1200" b="1">
                <a:solidFill>
                  <a:srgbClr val="FFFFFF"/>
                </a:solidFill>
                <a:latin typeface="Calibri"/>
              </a:rPr>
              <a:t>Slack (Block Kit)</a:t>
            </a:r>
          </a:p>
        </p:txBody>
      </p:sp>
      <p:sp>
        <p:nvSpPr>
          <p:cNvPr id="36" name="TextBox 35"/>
          <p:cNvSpPr txBox="1"/>
          <p:nvPr/>
        </p:nvSpPr>
        <p:spPr>
          <a:xfrm>
            <a:off x="8686800" y="3538728"/>
            <a:ext cx="2560320" cy="201168"/>
          </a:xfrm>
          <a:prstGeom prst="rect">
            <a:avLst/>
          </a:prstGeom>
          <a:noFill/>
        </p:spPr>
        <p:txBody>
          <a:bodyPr wrap="square">
            <a:spAutoFit/>
          </a:bodyPr>
          <a:lstStyle/>
          <a:p>
            <a:pPr algn="l"/>
            <a:r>
              <a:rPr sz="800" b="1">
                <a:solidFill>
                  <a:srgbClr val="00E5D0"/>
                </a:solidFill>
                <a:latin typeface="Calibri"/>
              </a:rPr>
              <a:t>CONFIGURED</a:t>
            </a:r>
          </a:p>
        </p:txBody>
      </p:sp>
      <p:sp>
        <p:nvSpPr>
          <p:cNvPr id="37" name="Rounded Rectangle 36"/>
          <p:cNvSpPr/>
          <p:nvPr/>
        </p:nvSpPr>
        <p:spPr>
          <a:xfrm>
            <a:off x="8503920" y="3931920"/>
            <a:ext cx="3200400" cy="50292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0" y="3959352"/>
            <a:ext cx="1828800" cy="228600"/>
          </a:xfrm>
          <a:prstGeom prst="rect">
            <a:avLst/>
          </a:prstGeom>
          <a:noFill/>
        </p:spPr>
        <p:txBody>
          <a:bodyPr wrap="square">
            <a:spAutoFit/>
          </a:bodyPr>
          <a:lstStyle/>
          <a:p>
            <a:pPr algn="l"/>
            <a:r>
              <a:rPr sz="1200" b="1">
                <a:solidFill>
                  <a:srgbClr val="FFFFFF"/>
                </a:solidFill>
                <a:latin typeface="Calibri"/>
              </a:rPr>
              <a:t>Teams (Adaptive Cards)</a:t>
            </a:r>
          </a:p>
        </p:txBody>
      </p:sp>
      <p:sp>
        <p:nvSpPr>
          <p:cNvPr id="39" name="TextBox 38"/>
          <p:cNvSpPr txBox="1"/>
          <p:nvPr/>
        </p:nvSpPr>
        <p:spPr>
          <a:xfrm>
            <a:off x="8686800" y="4178808"/>
            <a:ext cx="2560320" cy="201168"/>
          </a:xfrm>
          <a:prstGeom prst="rect">
            <a:avLst/>
          </a:prstGeom>
          <a:noFill/>
        </p:spPr>
        <p:txBody>
          <a:bodyPr wrap="square">
            <a:spAutoFit/>
          </a:bodyPr>
          <a:lstStyle/>
          <a:p>
            <a:pPr algn="l"/>
            <a:r>
              <a:rPr sz="800" b="1">
                <a:solidFill>
                  <a:srgbClr val="00E5D0"/>
                </a:solidFill>
                <a:latin typeface="Calibri"/>
              </a:rPr>
              <a:t>CONFIGURED</a:t>
            </a:r>
          </a:p>
        </p:txBody>
      </p:sp>
      <p:sp>
        <p:nvSpPr>
          <p:cNvPr id="40" name="Rounded Rectangle 39"/>
          <p:cNvSpPr/>
          <p:nvPr/>
        </p:nvSpPr>
        <p:spPr>
          <a:xfrm>
            <a:off x="8503920" y="4572000"/>
            <a:ext cx="3200400" cy="502920"/>
          </a:xfrm>
          <a:prstGeom prst="roundRect">
            <a:avLst/>
          </a:prstGeom>
          <a:solidFill>
            <a:srgbClr val="1A20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0" y="4599432"/>
            <a:ext cx="1828800" cy="228600"/>
          </a:xfrm>
          <a:prstGeom prst="rect">
            <a:avLst/>
          </a:prstGeom>
          <a:noFill/>
        </p:spPr>
        <p:txBody>
          <a:bodyPr wrap="square">
            <a:spAutoFit/>
          </a:bodyPr>
          <a:lstStyle/>
          <a:p>
            <a:pPr algn="l"/>
            <a:r>
              <a:rPr sz="1200" b="1">
                <a:solidFill>
                  <a:srgbClr val="FFFFFF"/>
                </a:solidFill>
                <a:latin typeface="Calibri"/>
              </a:rPr>
              <a:t>Email Notifications</a:t>
            </a:r>
          </a:p>
        </p:txBody>
      </p:sp>
      <p:sp>
        <p:nvSpPr>
          <p:cNvPr id="42" name="TextBox 41"/>
          <p:cNvSpPr txBox="1"/>
          <p:nvPr/>
        </p:nvSpPr>
        <p:spPr>
          <a:xfrm>
            <a:off x="8686800" y="4818888"/>
            <a:ext cx="2560320" cy="201168"/>
          </a:xfrm>
          <a:prstGeom prst="rect">
            <a:avLst/>
          </a:prstGeom>
          <a:noFill/>
        </p:spPr>
        <p:txBody>
          <a:bodyPr wrap="square">
            <a:spAutoFit/>
          </a:bodyPr>
          <a:lstStyle/>
          <a:p>
            <a:pPr algn="l"/>
            <a:r>
              <a:rPr sz="800" b="1">
                <a:solidFill>
                  <a:srgbClr val="F59E0B"/>
                </a:solidFill>
                <a:latin typeface="Calibri"/>
              </a:rPr>
              <a:t>LOGGED — SMTP FUTURE</a:t>
            </a:r>
          </a:p>
        </p:txBody>
      </p:sp>
      <p:sp>
        <p:nvSpPr>
          <p:cNvPr id="43" name="Right Arrow 42"/>
          <p:cNvSpPr/>
          <p:nvPr/>
        </p:nvSpPr>
        <p:spPr>
          <a:xfrm>
            <a:off x="7863840" y="3200400"/>
            <a:ext cx="457200" cy="182880"/>
          </a:xfrm>
          <a:prstGeom prs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31520" y="5303520"/>
            <a:ext cx="10698480" cy="1005840"/>
          </a:xfrm>
          <a:prstGeom prst="roundRect">
            <a:avLst/>
          </a:prstGeom>
          <a:solidFill>
            <a:srgbClr val="2A3050"/>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5394960"/>
            <a:ext cx="2743200" cy="228600"/>
          </a:xfrm>
          <a:prstGeom prst="rect">
            <a:avLst/>
          </a:prstGeom>
          <a:noFill/>
        </p:spPr>
        <p:txBody>
          <a:bodyPr wrap="square">
            <a:spAutoFit/>
          </a:bodyPr>
          <a:lstStyle/>
          <a:p>
            <a:pPr algn="l"/>
            <a:r>
              <a:rPr sz="1000" b="1">
                <a:solidFill>
                  <a:srgbClr val="FFFFFF"/>
                </a:solidFill>
                <a:latin typeface="Calibri"/>
              </a:rPr>
              <a:t>INTEGRATION STATUS LEGEND</a:t>
            </a:r>
          </a:p>
        </p:txBody>
      </p:sp>
      <p:sp>
        <p:nvSpPr>
          <p:cNvPr id="46" name="TextBox 45"/>
          <p:cNvSpPr txBox="1"/>
          <p:nvPr/>
        </p:nvSpPr>
        <p:spPr>
          <a:xfrm>
            <a:off x="914400" y="5715000"/>
            <a:ext cx="1645920" cy="228600"/>
          </a:xfrm>
          <a:prstGeom prst="rect">
            <a:avLst/>
          </a:prstGeom>
          <a:noFill/>
        </p:spPr>
        <p:txBody>
          <a:bodyPr wrap="square">
            <a:spAutoFit/>
          </a:bodyPr>
          <a:lstStyle/>
          <a:p>
            <a:pPr algn="l"/>
            <a:r>
              <a:rPr sz="900" b="1">
                <a:solidFill>
                  <a:srgbClr val="10B981"/>
                </a:solidFill>
                <a:latin typeface="Calibri"/>
              </a:rPr>
              <a:t>●  IMPLEMENTED</a:t>
            </a:r>
          </a:p>
        </p:txBody>
      </p:sp>
      <p:sp>
        <p:nvSpPr>
          <p:cNvPr id="47" name="TextBox 46"/>
          <p:cNvSpPr txBox="1"/>
          <p:nvPr/>
        </p:nvSpPr>
        <p:spPr>
          <a:xfrm>
            <a:off x="914400" y="5943600"/>
            <a:ext cx="3200400" cy="228600"/>
          </a:xfrm>
          <a:prstGeom prst="rect">
            <a:avLst/>
          </a:prstGeom>
          <a:noFill/>
        </p:spPr>
        <p:txBody>
          <a:bodyPr wrap="square">
            <a:spAutoFit/>
          </a:bodyPr>
          <a:lstStyle/>
          <a:p>
            <a:pPr algn="l"/>
            <a:r>
              <a:rPr sz="800" b="0">
                <a:solidFill>
                  <a:srgbClr val="707E96"/>
                </a:solidFill>
                <a:latin typeface="Calibri"/>
              </a:rPr>
              <a:t>Fully functional in the POC</a:t>
            </a:r>
          </a:p>
        </p:txBody>
      </p:sp>
      <p:sp>
        <p:nvSpPr>
          <p:cNvPr id="48" name="TextBox 47"/>
          <p:cNvSpPr txBox="1"/>
          <p:nvPr/>
        </p:nvSpPr>
        <p:spPr>
          <a:xfrm>
            <a:off x="4572000" y="5715000"/>
            <a:ext cx="1645920" cy="228600"/>
          </a:xfrm>
          <a:prstGeom prst="rect">
            <a:avLst/>
          </a:prstGeom>
          <a:noFill/>
        </p:spPr>
        <p:txBody>
          <a:bodyPr wrap="square">
            <a:spAutoFit/>
          </a:bodyPr>
          <a:lstStyle/>
          <a:p>
            <a:pPr algn="l"/>
            <a:r>
              <a:rPr sz="900" b="1">
                <a:solidFill>
                  <a:srgbClr val="00E5D0"/>
                </a:solidFill>
                <a:latin typeface="Calibri"/>
              </a:rPr>
              <a:t>●  CONFIGURED</a:t>
            </a:r>
          </a:p>
        </p:txBody>
      </p:sp>
      <p:sp>
        <p:nvSpPr>
          <p:cNvPr id="49" name="TextBox 48"/>
          <p:cNvSpPr txBox="1"/>
          <p:nvPr/>
        </p:nvSpPr>
        <p:spPr>
          <a:xfrm>
            <a:off x="4572000" y="5943600"/>
            <a:ext cx="3200400" cy="228600"/>
          </a:xfrm>
          <a:prstGeom prst="rect">
            <a:avLst/>
          </a:prstGeom>
          <a:noFill/>
        </p:spPr>
        <p:txBody>
          <a:bodyPr wrap="square">
            <a:spAutoFit/>
          </a:bodyPr>
          <a:lstStyle/>
          <a:p>
            <a:pPr algn="l"/>
            <a:r>
              <a:rPr sz="800" b="0">
                <a:solidFill>
                  <a:srgbClr val="707E96"/>
                </a:solidFill>
                <a:latin typeface="Calibri"/>
              </a:rPr>
              <a:t>Webhook code built; requires active webhook URL</a:t>
            </a:r>
          </a:p>
        </p:txBody>
      </p:sp>
      <p:sp>
        <p:nvSpPr>
          <p:cNvPr id="50" name="TextBox 49"/>
          <p:cNvSpPr txBox="1"/>
          <p:nvPr/>
        </p:nvSpPr>
        <p:spPr>
          <a:xfrm>
            <a:off x="8229600" y="5715000"/>
            <a:ext cx="1645920" cy="228600"/>
          </a:xfrm>
          <a:prstGeom prst="rect">
            <a:avLst/>
          </a:prstGeom>
          <a:noFill/>
        </p:spPr>
        <p:txBody>
          <a:bodyPr wrap="square">
            <a:spAutoFit/>
          </a:bodyPr>
          <a:lstStyle/>
          <a:p>
            <a:pPr algn="l"/>
            <a:r>
              <a:rPr sz="900" b="1">
                <a:solidFill>
                  <a:srgbClr val="F59E0B"/>
                </a:solidFill>
                <a:latin typeface="Calibri"/>
              </a:rPr>
              <a:t>●  FUTURE</a:t>
            </a:r>
          </a:p>
        </p:txBody>
      </p:sp>
      <p:sp>
        <p:nvSpPr>
          <p:cNvPr id="51" name="TextBox 50"/>
          <p:cNvSpPr txBox="1"/>
          <p:nvPr/>
        </p:nvSpPr>
        <p:spPr>
          <a:xfrm>
            <a:off x="8229600" y="5943600"/>
            <a:ext cx="3200400" cy="228600"/>
          </a:xfrm>
          <a:prstGeom prst="rect">
            <a:avLst/>
          </a:prstGeom>
          <a:noFill/>
        </p:spPr>
        <p:txBody>
          <a:bodyPr wrap="square">
            <a:spAutoFit/>
          </a:bodyPr>
          <a:lstStyle/>
          <a:p>
            <a:pPr algn="l"/>
            <a:r>
              <a:rPr sz="800" b="0">
                <a:solidFill>
                  <a:srgbClr val="707E96"/>
                </a:solidFill>
                <a:latin typeface="Calibri"/>
              </a:rPr>
              <a:t>Architecture supports it; not built yet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What Changes With OPSINTEL?</a:t>
            </a:r>
          </a:p>
        </p:txBody>
      </p:sp>
      <p:sp>
        <p:nvSpPr>
          <p:cNvPr id="4" name="Rectangle 3"/>
          <p:cNvSpPr/>
          <p:nvPr/>
        </p:nvSpPr>
        <p:spPr>
          <a:xfrm>
            <a:off x="731520" y="1097280"/>
            <a:ext cx="274320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65760"/>
          </a:xfrm>
          <a:prstGeom prst="rect">
            <a:avLst/>
          </a:prstGeom>
          <a:noFill/>
        </p:spPr>
        <p:txBody>
          <a:bodyPr wrap="square">
            <a:spAutoFit/>
          </a:bodyPr>
          <a:lstStyle/>
          <a:p>
            <a:pPr algn="ctr"/>
            <a:r>
              <a:rPr sz="2000" b="1">
                <a:solidFill>
                  <a:srgbClr val="EF4444"/>
                </a:solidFill>
                <a:latin typeface="Calibri"/>
              </a:rPr>
              <a:t>BEFORE</a:t>
            </a:r>
          </a:p>
        </p:txBody>
      </p:sp>
      <p:sp>
        <p:nvSpPr>
          <p:cNvPr id="6" name="Rounded Rectangle 5"/>
          <p:cNvSpPr/>
          <p:nvPr/>
        </p:nvSpPr>
        <p:spPr>
          <a:xfrm>
            <a:off x="731520" y="2011680"/>
            <a:ext cx="5029200" cy="4572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57400"/>
            <a:ext cx="4389120" cy="365760"/>
          </a:xfrm>
          <a:prstGeom prst="rect">
            <a:avLst/>
          </a:prstGeom>
          <a:noFill/>
        </p:spPr>
        <p:txBody>
          <a:bodyPr wrap="square">
            <a:spAutoFit/>
          </a:bodyPr>
          <a:lstStyle/>
          <a:p>
            <a:pPr algn="l"/>
            <a:r>
              <a:rPr sz="1300" b="0">
                <a:solidFill>
                  <a:srgbClr val="EF4444"/>
                </a:solidFill>
                <a:latin typeface="Calibri"/>
              </a:rPr>
              <a:t>✗  Manual Data Collection</a:t>
            </a:r>
          </a:p>
        </p:txBody>
      </p:sp>
      <p:sp>
        <p:nvSpPr>
          <p:cNvPr id="8" name="Rounded Rectangle 7"/>
          <p:cNvSpPr/>
          <p:nvPr/>
        </p:nvSpPr>
        <p:spPr>
          <a:xfrm>
            <a:off x="731520" y="2606040"/>
            <a:ext cx="5029200" cy="4572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51760"/>
            <a:ext cx="4389120" cy="365760"/>
          </a:xfrm>
          <a:prstGeom prst="rect">
            <a:avLst/>
          </a:prstGeom>
          <a:noFill/>
        </p:spPr>
        <p:txBody>
          <a:bodyPr wrap="square">
            <a:spAutoFit/>
          </a:bodyPr>
          <a:lstStyle/>
          <a:p>
            <a:pPr algn="l"/>
            <a:r>
              <a:rPr sz="1300" b="0">
                <a:solidFill>
                  <a:srgbClr val="EF4444"/>
                </a:solidFill>
                <a:latin typeface="Calibri"/>
              </a:rPr>
              <a:t>✗  Manual KPI Calculations</a:t>
            </a:r>
          </a:p>
        </p:txBody>
      </p:sp>
      <p:sp>
        <p:nvSpPr>
          <p:cNvPr id="10" name="Rounded Rectangle 9"/>
          <p:cNvSpPr/>
          <p:nvPr/>
        </p:nvSpPr>
        <p:spPr>
          <a:xfrm>
            <a:off x="731520" y="3200400"/>
            <a:ext cx="5029200" cy="4572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246120"/>
            <a:ext cx="4389120" cy="365760"/>
          </a:xfrm>
          <a:prstGeom prst="rect">
            <a:avLst/>
          </a:prstGeom>
          <a:noFill/>
        </p:spPr>
        <p:txBody>
          <a:bodyPr wrap="square">
            <a:spAutoFit/>
          </a:bodyPr>
          <a:lstStyle/>
          <a:p>
            <a:pPr algn="l"/>
            <a:r>
              <a:rPr sz="1300" b="0">
                <a:solidFill>
                  <a:srgbClr val="EF4444"/>
                </a:solidFill>
                <a:latin typeface="Calibri"/>
              </a:rPr>
              <a:t>✗  Manual Trend Analysis</a:t>
            </a:r>
          </a:p>
        </p:txBody>
      </p:sp>
      <p:sp>
        <p:nvSpPr>
          <p:cNvPr id="12" name="Rounded Rectangle 11"/>
          <p:cNvSpPr/>
          <p:nvPr/>
        </p:nvSpPr>
        <p:spPr>
          <a:xfrm>
            <a:off x="731520" y="3794760"/>
            <a:ext cx="5029200" cy="4572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40480"/>
            <a:ext cx="4389120" cy="365760"/>
          </a:xfrm>
          <a:prstGeom prst="rect">
            <a:avLst/>
          </a:prstGeom>
          <a:noFill/>
        </p:spPr>
        <p:txBody>
          <a:bodyPr wrap="square">
            <a:spAutoFit/>
          </a:bodyPr>
          <a:lstStyle/>
          <a:p>
            <a:pPr algn="l"/>
            <a:r>
              <a:rPr sz="1300" b="0">
                <a:solidFill>
                  <a:srgbClr val="EF4444"/>
                </a:solidFill>
                <a:latin typeface="Calibri"/>
              </a:rPr>
              <a:t>✗  Manual Report Writing</a:t>
            </a:r>
          </a:p>
        </p:txBody>
      </p:sp>
      <p:sp>
        <p:nvSpPr>
          <p:cNvPr id="14" name="Rounded Rectangle 13"/>
          <p:cNvSpPr/>
          <p:nvPr/>
        </p:nvSpPr>
        <p:spPr>
          <a:xfrm>
            <a:off x="731520" y="4389120"/>
            <a:ext cx="5029200" cy="4572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434840"/>
            <a:ext cx="4389120" cy="365760"/>
          </a:xfrm>
          <a:prstGeom prst="rect">
            <a:avLst/>
          </a:prstGeom>
          <a:noFill/>
        </p:spPr>
        <p:txBody>
          <a:bodyPr wrap="square">
            <a:spAutoFit/>
          </a:bodyPr>
          <a:lstStyle/>
          <a:p>
            <a:pPr algn="l"/>
            <a:r>
              <a:rPr sz="1300" b="0">
                <a:solidFill>
                  <a:srgbClr val="EF4444"/>
                </a:solidFill>
                <a:latin typeface="Calibri"/>
              </a:rPr>
              <a:t>✗  Manual Distribution</a:t>
            </a:r>
          </a:p>
        </p:txBody>
      </p:sp>
      <p:sp>
        <p:nvSpPr>
          <p:cNvPr id="16" name="Rounded Rectangle 15"/>
          <p:cNvSpPr/>
          <p:nvPr/>
        </p:nvSpPr>
        <p:spPr>
          <a:xfrm>
            <a:off x="731520" y="4983480"/>
            <a:ext cx="5029200" cy="457200"/>
          </a:xfrm>
          <a:prstGeom prst="roundRect">
            <a:avLst/>
          </a:prstGeom>
          <a:solidFill>
            <a:srgbClr val="1A203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29200"/>
            <a:ext cx="4389120" cy="365760"/>
          </a:xfrm>
          <a:prstGeom prst="rect">
            <a:avLst/>
          </a:prstGeom>
          <a:noFill/>
        </p:spPr>
        <p:txBody>
          <a:bodyPr wrap="square">
            <a:spAutoFit/>
          </a:bodyPr>
          <a:lstStyle/>
          <a:p>
            <a:pPr algn="l"/>
            <a:r>
              <a:rPr sz="1300" b="0">
                <a:solidFill>
                  <a:srgbClr val="EF4444"/>
                </a:solidFill>
                <a:latin typeface="Calibri"/>
              </a:rPr>
              <a:t>✗  Inconsistent Across Teams</a:t>
            </a:r>
          </a:p>
        </p:txBody>
      </p:sp>
      <p:sp>
        <p:nvSpPr>
          <p:cNvPr id="18" name="TextBox 17"/>
          <p:cNvSpPr txBox="1"/>
          <p:nvPr/>
        </p:nvSpPr>
        <p:spPr>
          <a:xfrm>
            <a:off x="6400800" y="1463040"/>
            <a:ext cx="5029200" cy="365760"/>
          </a:xfrm>
          <a:prstGeom prst="rect">
            <a:avLst/>
          </a:prstGeom>
          <a:noFill/>
        </p:spPr>
        <p:txBody>
          <a:bodyPr wrap="square">
            <a:spAutoFit/>
          </a:bodyPr>
          <a:lstStyle/>
          <a:p>
            <a:pPr algn="ctr"/>
            <a:r>
              <a:rPr sz="2000" b="1">
                <a:solidFill>
                  <a:srgbClr val="10B981"/>
                </a:solidFill>
                <a:latin typeface="Calibri"/>
              </a:rPr>
              <a:t>AFTER</a:t>
            </a:r>
          </a:p>
        </p:txBody>
      </p:sp>
      <p:sp>
        <p:nvSpPr>
          <p:cNvPr id="19" name="Rounded Rectangle 18"/>
          <p:cNvSpPr/>
          <p:nvPr/>
        </p:nvSpPr>
        <p:spPr>
          <a:xfrm>
            <a:off x="6400800" y="2011680"/>
            <a:ext cx="502920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057400"/>
            <a:ext cx="4389120" cy="365760"/>
          </a:xfrm>
          <a:prstGeom prst="rect">
            <a:avLst/>
          </a:prstGeom>
          <a:noFill/>
        </p:spPr>
        <p:txBody>
          <a:bodyPr wrap="square">
            <a:spAutoFit/>
          </a:bodyPr>
          <a:lstStyle/>
          <a:p>
            <a:pPr algn="l"/>
            <a:r>
              <a:rPr sz="1300" b="0">
                <a:solidFill>
                  <a:srgbClr val="10B981"/>
                </a:solidFill>
                <a:latin typeface="Calibri"/>
              </a:rPr>
              <a:t>✓  Automated Ingestion</a:t>
            </a:r>
          </a:p>
        </p:txBody>
      </p:sp>
      <p:sp>
        <p:nvSpPr>
          <p:cNvPr id="21" name="Rounded Rectangle 20"/>
          <p:cNvSpPr/>
          <p:nvPr/>
        </p:nvSpPr>
        <p:spPr>
          <a:xfrm>
            <a:off x="6400800" y="2606040"/>
            <a:ext cx="502920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2651760"/>
            <a:ext cx="4389120" cy="365760"/>
          </a:xfrm>
          <a:prstGeom prst="rect">
            <a:avLst/>
          </a:prstGeom>
          <a:noFill/>
        </p:spPr>
        <p:txBody>
          <a:bodyPr wrap="square">
            <a:spAutoFit/>
          </a:bodyPr>
          <a:lstStyle/>
          <a:p>
            <a:pPr algn="l"/>
            <a:r>
              <a:rPr sz="1300" b="0">
                <a:solidFill>
                  <a:srgbClr val="10B981"/>
                </a:solidFill>
                <a:latin typeface="Calibri"/>
              </a:rPr>
              <a:t>✓  Deterministic KPI Engine</a:t>
            </a:r>
          </a:p>
        </p:txBody>
      </p:sp>
      <p:sp>
        <p:nvSpPr>
          <p:cNvPr id="23" name="Rounded Rectangle 22"/>
          <p:cNvSpPr/>
          <p:nvPr/>
        </p:nvSpPr>
        <p:spPr>
          <a:xfrm>
            <a:off x="6400800" y="3200400"/>
            <a:ext cx="502920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3246120"/>
            <a:ext cx="4389120" cy="365760"/>
          </a:xfrm>
          <a:prstGeom prst="rect">
            <a:avLst/>
          </a:prstGeom>
          <a:noFill/>
        </p:spPr>
        <p:txBody>
          <a:bodyPr wrap="square">
            <a:spAutoFit/>
          </a:bodyPr>
          <a:lstStyle/>
          <a:p>
            <a:pPr algn="l"/>
            <a:r>
              <a:rPr sz="1300" b="0">
                <a:solidFill>
                  <a:srgbClr val="10B981"/>
                </a:solidFill>
                <a:latin typeface="Calibri"/>
              </a:rPr>
              <a:t>✓  Automated Trend Analysis</a:t>
            </a:r>
          </a:p>
        </p:txBody>
      </p:sp>
      <p:sp>
        <p:nvSpPr>
          <p:cNvPr id="25" name="Rounded Rectangle 24"/>
          <p:cNvSpPr/>
          <p:nvPr/>
        </p:nvSpPr>
        <p:spPr>
          <a:xfrm>
            <a:off x="6400800" y="3794760"/>
            <a:ext cx="502920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0" y="3840480"/>
            <a:ext cx="4389120" cy="365760"/>
          </a:xfrm>
          <a:prstGeom prst="rect">
            <a:avLst/>
          </a:prstGeom>
          <a:noFill/>
        </p:spPr>
        <p:txBody>
          <a:bodyPr wrap="square">
            <a:spAutoFit/>
          </a:bodyPr>
          <a:lstStyle/>
          <a:p>
            <a:pPr algn="l"/>
            <a:r>
              <a:rPr sz="1300" b="0">
                <a:solidFill>
                  <a:srgbClr val="10B981"/>
                </a:solidFill>
                <a:latin typeface="Calibri"/>
              </a:rPr>
              <a:t>✓  AI-Assisted Report Generation</a:t>
            </a:r>
          </a:p>
        </p:txBody>
      </p:sp>
      <p:sp>
        <p:nvSpPr>
          <p:cNvPr id="27" name="Rounded Rectangle 26"/>
          <p:cNvSpPr/>
          <p:nvPr/>
        </p:nvSpPr>
        <p:spPr>
          <a:xfrm>
            <a:off x="6400800" y="4389120"/>
            <a:ext cx="502920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4434840"/>
            <a:ext cx="4389120" cy="365760"/>
          </a:xfrm>
          <a:prstGeom prst="rect">
            <a:avLst/>
          </a:prstGeom>
          <a:noFill/>
        </p:spPr>
        <p:txBody>
          <a:bodyPr wrap="square">
            <a:spAutoFit/>
          </a:bodyPr>
          <a:lstStyle/>
          <a:p>
            <a:pPr algn="l"/>
            <a:r>
              <a:rPr sz="1300" b="0">
                <a:solidFill>
                  <a:srgbClr val="10B981"/>
                </a:solidFill>
                <a:latin typeface="Calibri"/>
              </a:rPr>
              <a:t>✓  Scheduled Delivery</a:t>
            </a:r>
          </a:p>
        </p:txBody>
      </p:sp>
      <p:sp>
        <p:nvSpPr>
          <p:cNvPr id="29" name="Rounded Rectangle 28"/>
          <p:cNvSpPr/>
          <p:nvPr/>
        </p:nvSpPr>
        <p:spPr>
          <a:xfrm>
            <a:off x="6400800" y="4983480"/>
            <a:ext cx="5029200" cy="45720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0" y="5029200"/>
            <a:ext cx="4389120" cy="365760"/>
          </a:xfrm>
          <a:prstGeom prst="rect">
            <a:avLst/>
          </a:prstGeom>
          <a:noFill/>
        </p:spPr>
        <p:txBody>
          <a:bodyPr wrap="square">
            <a:spAutoFit/>
          </a:bodyPr>
          <a:lstStyle/>
          <a:p>
            <a:pPr algn="l"/>
            <a:r>
              <a:rPr sz="1300" b="0">
                <a:solidFill>
                  <a:srgbClr val="10B981"/>
                </a:solidFill>
                <a:latin typeface="Calibri"/>
              </a:rPr>
              <a:t>✓  Single Source of Truth</a:t>
            </a:r>
          </a:p>
        </p:txBody>
      </p:sp>
      <p:sp>
        <p:nvSpPr>
          <p:cNvPr id="31" name="Rounded Rectangle 30"/>
          <p:cNvSpPr/>
          <p:nvPr/>
        </p:nvSpPr>
        <p:spPr>
          <a:xfrm>
            <a:off x="731520" y="5760720"/>
            <a:ext cx="10698480" cy="731520"/>
          </a:xfrm>
          <a:prstGeom prst="roundRect">
            <a:avLst/>
          </a:prstGeom>
          <a:solidFill>
            <a:srgbClr val="2A305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33872"/>
            <a:ext cx="2286000" cy="594360"/>
          </a:xfrm>
          <a:prstGeom prst="rect">
            <a:avLst/>
          </a:prstGeom>
          <a:noFill/>
        </p:spPr>
        <p:txBody>
          <a:bodyPr wrap="square">
            <a:spAutoFit/>
          </a:bodyPr>
          <a:lstStyle/>
          <a:p>
            <a:pPr algn="ctr"/>
            <a:r>
              <a:rPr sz="1300" b="1">
                <a:solidFill>
                  <a:srgbClr val="009EFF"/>
                </a:solidFill>
                <a:latin typeface="Calibri"/>
              </a:rPr>
              <a:t>Less Manual
Effort</a:t>
            </a:r>
          </a:p>
        </p:txBody>
      </p:sp>
      <p:sp>
        <p:nvSpPr>
          <p:cNvPr id="33" name="TextBox 32"/>
          <p:cNvSpPr txBox="1"/>
          <p:nvPr/>
        </p:nvSpPr>
        <p:spPr>
          <a:xfrm>
            <a:off x="3749040" y="5833872"/>
            <a:ext cx="2286000" cy="594360"/>
          </a:xfrm>
          <a:prstGeom prst="rect">
            <a:avLst/>
          </a:prstGeom>
          <a:noFill/>
        </p:spPr>
        <p:txBody>
          <a:bodyPr wrap="square">
            <a:spAutoFit/>
          </a:bodyPr>
          <a:lstStyle/>
          <a:p>
            <a:pPr algn="ctr"/>
            <a:r>
              <a:rPr sz="1300" b="1">
                <a:solidFill>
                  <a:srgbClr val="00E5D0"/>
                </a:solidFill>
                <a:latin typeface="Calibri"/>
              </a:rPr>
              <a:t>More Consistent
Reporting</a:t>
            </a:r>
          </a:p>
        </p:txBody>
      </p:sp>
      <p:sp>
        <p:nvSpPr>
          <p:cNvPr id="34" name="TextBox 33"/>
          <p:cNvSpPr txBox="1"/>
          <p:nvPr/>
        </p:nvSpPr>
        <p:spPr>
          <a:xfrm>
            <a:off x="6400800" y="5833872"/>
            <a:ext cx="2286000" cy="594360"/>
          </a:xfrm>
          <a:prstGeom prst="rect">
            <a:avLst/>
          </a:prstGeom>
          <a:noFill/>
        </p:spPr>
        <p:txBody>
          <a:bodyPr wrap="square">
            <a:spAutoFit/>
          </a:bodyPr>
          <a:lstStyle/>
          <a:p>
            <a:pPr algn="ctr"/>
            <a:r>
              <a:rPr sz="1300" b="1">
                <a:solidFill>
                  <a:srgbClr val="8B5CF6"/>
                </a:solidFill>
                <a:latin typeface="Calibri"/>
              </a:rPr>
              <a:t>Faster Executive
Visibility</a:t>
            </a:r>
          </a:p>
        </p:txBody>
      </p:sp>
      <p:sp>
        <p:nvSpPr>
          <p:cNvPr id="35" name="TextBox 34"/>
          <p:cNvSpPr txBox="1"/>
          <p:nvPr/>
        </p:nvSpPr>
        <p:spPr>
          <a:xfrm>
            <a:off x="9052560" y="5833872"/>
            <a:ext cx="2286000" cy="594360"/>
          </a:xfrm>
          <a:prstGeom prst="rect">
            <a:avLst/>
          </a:prstGeom>
          <a:noFill/>
        </p:spPr>
        <p:txBody>
          <a:bodyPr wrap="square">
            <a:spAutoFit/>
          </a:bodyPr>
          <a:lstStyle/>
          <a:p>
            <a:pPr algn="ctr"/>
            <a:r>
              <a:rPr sz="1300" b="1">
                <a:solidFill>
                  <a:srgbClr val="10B981"/>
                </a:solidFill>
                <a:latin typeface="Calibri"/>
              </a:rPr>
              <a:t>Better Operational
Context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200" b="1">
                <a:solidFill>
                  <a:srgbClr val="FFFFFF"/>
                </a:solidFill>
                <a:latin typeface="Calibri"/>
              </a:rPr>
              <a:t>Built for Trust, Not Just Automation</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303520" cy="109728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600200"/>
            <a:ext cx="365760" cy="320040"/>
          </a:xfrm>
          <a:prstGeom prst="round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00" b="1">
                <a:solidFill>
                  <a:srgbClr val="FFFFFF"/>
                </a:solidFill>
                <a:latin typeface="Calibri"/>
              </a:rPr>
              <a:t>1</a:t>
            </a:r>
          </a:p>
        </p:txBody>
      </p:sp>
      <p:sp>
        <p:nvSpPr>
          <p:cNvPr id="7" name="TextBox 6"/>
          <p:cNvSpPr txBox="1"/>
          <p:nvPr/>
        </p:nvSpPr>
        <p:spPr>
          <a:xfrm>
            <a:off x="1371600" y="1554480"/>
            <a:ext cx="4389120" cy="320040"/>
          </a:xfrm>
          <a:prstGeom prst="rect">
            <a:avLst/>
          </a:prstGeom>
          <a:noFill/>
        </p:spPr>
        <p:txBody>
          <a:bodyPr wrap="square">
            <a:spAutoFit/>
          </a:bodyPr>
          <a:lstStyle/>
          <a:p>
            <a:pPr algn="l"/>
            <a:r>
              <a:rPr sz="1400" b="1">
                <a:solidFill>
                  <a:srgbClr val="009EFF"/>
                </a:solidFill>
                <a:latin typeface="Calibri"/>
              </a:rPr>
              <a:t>Data Quality</a:t>
            </a:r>
          </a:p>
        </p:txBody>
      </p:sp>
      <p:sp>
        <p:nvSpPr>
          <p:cNvPr id="8" name="TextBox 7"/>
          <p:cNvSpPr txBox="1"/>
          <p:nvPr/>
        </p:nvSpPr>
        <p:spPr>
          <a:xfrm>
            <a:off x="1371600" y="1920240"/>
            <a:ext cx="4389120" cy="548640"/>
          </a:xfrm>
          <a:prstGeom prst="rect">
            <a:avLst/>
          </a:prstGeom>
          <a:noFill/>
        </p:spPr>
        <p:txBody>
          <a:bodyPr wrap="square">
            <a:spAutoFit/>
          </a:bodyPr>
          <a:lstStyle/>
          <a:p>
            <a:pPr algn="l"/>
            <a:r>
              <a:rPr sz="1000" b="0">
                <a:solidFill>
                  <a:srgbClr val="B0BCD0"/>
                </a:solidFill>
                <a:latin typeface="Calibri"/>
              </a:rPr>
              <a:t>CSV validation, schema normalization,
auto-entity detection</a:t>
            </a:r>
          </a:p>
        </p:txBody>
      </p:sp>
      <p:sp>
        <p:nvSpPr>
          <p:cNvPr id="9" name="Rounded Rectangle 8"/>
          <p:cNvSpPr/>
          <p:nvPr/>
        </p:nvSpPr>
        <p:spPr>
          <a:xfrm>
            <a:off x="6400800" y="1463040"/>
            <a:ext cx="5303520" cy="1097280"/>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600200"/>
            <a:ext cx="365760" cy="320040"/>
          </a:xfrm>
          <a:prstGeom prst="roundRect">
            <a:avLst/>
          </a:prstGeom>
          <a:solidFill>
            <a:srgbClr val="00E5D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00" b="1">
                <a:solidFill>
                  <a:srgbClr val="FFFFFF"/>
                </a:solidFill>
                <a:latin typeface="Calibri"/>
              </a:rPr>
              <a:t>2</a:t>
            </a:r>
          </a:p>
        </p:txBody>
      </p:sp>
      <p:sp>
        <p:nvSpPr>
          <p:cNvPr id="11" name="TextBox 10"/>
          <p:cNvSpPr txBox="1"/>
          <p:nvPr/>
        </p:nvSpPr>
        <p:spPr>
          <a:xfrm>
            <a:off x="7040880" y="1554480"/>
            <a:ext cx="4389120" cy="320040"/>
          </a:xfrm>
          <a:prstGeom prst="rect">
            <a:avLst/>
          </a:prstGeom>
          <a:noFill/>
        </p:spPr>
        <p:txBody>
          <a:bodyPr wrap="square">
            <a:spAutoFit/>
          </a:bodyPr>
          <a:lstStyle/>
          <a:p>
            <a:pPr algn="l"/>
            <a:r>
              <a:rPr sz="1400" b="1">
                <a:solidFill>
                  <a:srgbClr val="00E5D0"/>
                </a:solidFill>
                <a:latin typeface="Calibri"/>
              </a:rPr>
              <a:t>Deterministic KPIs</a:t>
            </a:r>
          </a:p>
        </p:txBody>
      </p:sp>
      <p:sp>
        <p:nvSpPr>
          <p:cNvPr id="12" name="TextBox 11"/>
          <p:cNvSpPr txBox="1"/>
          <p:nvPr/>
        </p:nvSpPr>
        <p:spPr>
          <a:xfrm>
            <a:off x="7040880" y="1920240"/>
            <a:ext cx="4389120" cy="548640"/>
          </a:xfrm>
          <a:prstGeom prst="rect">
            <a:avLst/>
          </a:prstGeom>
          <a:noFill/>
        </p:spPr>
        <p:txBody>
          <a:bodyPr wrap="square">
            <a:spAutoFit/>
          </a:bodyPr>
          <a:lstStyle/>
          <a:p>
            <a:pPr algn="l"/>
            <a:r>
              <a:rPr sz="1000" b="0">
                <a:solidFill>
                  <a:srgbClr val="B0BCD0"/>
                </a:solidFill>
                <a:latin typeface="Calibri"/>
              </a:rPr>
              <a:t>Same data → same result,
every time, no human variance</a:t>
            </a:r>
          </a:p>
        </p:txBody>
      </p:sp>
      <p:sp>
        <p:nvSpPr>
          <p:cNvPr id="13" name="Rounded Rectangle 12"/>
          <p:cNvSpPr/>
          <p:nvPr/>
        </p:nvSpPr>
        <p:spPr>
          <a:xfrm>
            <a:off x="731520" y="2834640"/>
            <a:ext cx="5303520" cy="109728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2971800"/>
            <a:ext cx="36576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00" b="1">
                <a:solidFill>
                  <a:srgbClr val="FFFFFF"/>
                </a:solidFill>
                <a:latin typeface="Calibri"/>
              </a:rPr>
              <a:t>3</a:t>
            </a:r>
          </a:p>
        </p:txBody>
      </p:sp>
      <p:sp>
        <p:nvSpPr>
          <p:cNvPr id="15" name="TextBox 14"/>
          <p:cNvSpPr txBox="1"/>
          <p:nvPr/>
        </p:nvSpPr>
        <p:spPr>
          <a:xfrm>
            <a:off x="1371600" y="2926080"/>
            <a:ext cx="4389120" cy="320040"/>
          </a:xfrm>
          <a:prstGeom prst="rect">
            <a:avLst/>
          </a:prstGeom>
          <a:noFill/>
        </p:spPr>
        <p:txBody>
          <a:bodyPr wrap="square">
            <a:spAutoFit/>
          </a:bodyPr>
          <a:lstStyle/>
          <a:p>
            <a:pPr algn="l"/>
            <a:r>
              <a:rPr sz="1400" b="1">
                <a:solidFill>
                  <a:srgbClr val="8B5CF6"/>
                </a:solidFill>
                <a:latin typeface="Calibri"/>
              </a:rPr>
              <a:t>Evidence Grounding</a:t>
            </a:r>
          </a:p>
        </p:txBody>
      </p:sp>
      <p:sp>
        <p:nvSpPr>
          <p:cNvPr id="16" name="TextBox 15"/>
          <p:cNvSpPr txBox="1"/>
          <p:nvPr/>
        </p:nvSpPr>
        <p:spPr>
          <a:xfrm>
            <a:off x="1371600" y="3291840"/>
            <a:ext cx="4389120" cy="548640"/>
          </a:xfrm>
          <a:prstGeom prst="rect">
            <a:avLst/>
          </a:prstGeom>
          <a:noFill/>
        </p:spPr>
        <p:txBody>
          <a:bodyPr wrap="square">
            <a:spAutoFit/>
          </a:bodyPr>
          <a:lstStyle/>
          <a:p>
            <a:pPr algn="l"/>
            <a:r>
              <a:rPr sz="1000" b="0">
                <a:solidFill>
                  <a:srgbClr val="B0BCD0"/>
                </a:solidFill>
                <a:latin typeface="Calibri"/>
              </a:rPr>
              <a:t>AI answers reference actual metrics,
not hallucinated data</a:t>
            </a:r>
          </a:p>
        </p:txBody>
      </p:sp>
      <p:sp>
        <p:nvSpPr>
          <p:cNvPr id="17" name="Rounded Rectangle 16"/>
          <p:cNvSpPr/>
          <p:nvPr/>
        </p:nvSpPr>
        <p:spPr>
          <a:xfrm>
            <a:off x="6400800" y="2834640"/>
            <a:ext cx="5303520" cy="109728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37960" y="2971800"/>
            <a:ext cx="36576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00" b="1">
                <a:solidFill>
                  <a:srgbClr val="FFFFFF"/>
                </a:solidFill>
                <a:latin typeface="Calibri"/>
              </a:rPr>
              <a:t>4</a:t>
            </a:r>
          </a:p>
        </p:txBody>
      </p:sp>
      <p:sp>
        <p:nvSpPr>
          <p:cNvPr id="19" name="TextBox 18"/>
          <p:cNvSpPr txBox="1"/>
          <p:nvPr/>
        </p:nvSpPr>
        <p:spPr>
          <a:xfrm>
            <a:off x="7040880" y="2926080"/>
            <a:ext cx="4389120" cy="320040"/>
          </a:xfrm>
          <a:prstGeom prst="rect">
            <a:avLst/>
          </a:prstGeom>
          <a:noFill/>
        </p:spPr>
        <p:txBody>
          <a:bodyPr wrap="square">
            <a:spAutoFit/>
          </a:bodyPr>
          <a:lstStyle/>
          <a:p>
            <a:pPr algn="l"/>
            <a:r>
              <a:rPr sz="1400" b="1">
                <a:solidFill>
                  <a:srgbClr val="8B5CF6"/>
                </a:solidFill>
                <a:latin typeface="Calibri"/>
              </a:rPr>
              <a:t>AI Interpretation</a:t>
            </a:r>
          </a:p>
        </p:txBody>
      </p:sp>
      <p:sp>
        <p:nvSpPr>
          <p:cNvPr id="20" name="TextBox 19"/>
          <p:cNvSpPr txBox="1"/>
          <p:nvPr/>
        </p:nvSpPr>
        <p:spPr>
          <a:xfrm>
            <a:off x="7040880" y="3291840"/>
            <a:ext cx="4389120" cy="548640"/>
          </a:xfrm>
          <a:prstGeom prst="rect">
            <a:avLst/>
          </a:prstGeom>
          <a:noFill/>
        </p:spPr>
        <p:txBody>
          <a:bodyPr wrap="square">
            <a:spAutoFit/>
          </a:bodyPr>
          <a:lstStyle/>
          <a:p>
            <a:pPr algn="l"/>
            <a:r>
              <a:rPr sz="1000" b="0">
                <a:solidFill>
                  <a:srgbClr val="B0BCD0"/>
                </a:solidFill>
                <a:latin typeface="Calibri"/>
              </a:rPr>
              <a:t>Gemini adds context and language,
not invented facts</a:t>
            </a:r>
          </a:p>
        </p:txBody>
      </p:sp>
      <p:sp>
        <p:nvSpPr>
          <p:cNvPr id="21" name="Rounded Rectangle 20"/>
          <p:cNvSpPr/>
          <p:nvPr/>
        </p:nvSpPr>
        <p:spPr>
          <a:xfrm>
            <a:off x="731520" y="4206240"/>
            <a:ext cx="5303520" cy="109728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8680" y="4343400"/>
            <a:ext cx="36576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00" b="1">
                <a:solidFill>
                  <a:srgbClr val="FFFFFF"/>
                </a:solidFill>
                <a:latin typeface="Calibri"/>
              </a:rPr>
              <a:t>5</a:t>
            </a:r>
          </a:p>
        </p:txBody>
      </p:sp>
      <p:sp>
        <p:nvSpPr>
          <p:cNvPr id="23" name="TextBox 22"/>
          <p:cNvSpPr txBox="1"/>
          <p:nvPr/>
        </p:nvSpPr>
        <p:spPr>
          <a:xfrm>
            <a:off x="1371600" y="4297680"/>
            <a:ext cx="4389120" cy="320040"/>
          </a:xfrm>
          <a:prstGeom prst="rect">
            <a:avLst/>
          </a:prstGeom>
          <a:noFill/>
        </p:spPr>
        <p:txBody>
          <a:bodyPr wrap="square">
            <a:spAutoFit/>
          </a:bodyPr>
          <a:lstStyle/>
          <a:p>
            <a:pPr algn="l"/>
            <a:r>
              <a:rPr sz="1400" b="1">
                <a:solidFill>
                  <a:srgbClr val="10B981"/>
                </a:solidFill>
                <a:latin typeface="Calibri"/>
              </a:rPr>
              <a:t>Audit Trail</a:t>
            </a:r>
          </a:p>
        </p:txBody>
      </p:sp>
      <p:sp>
        <p:nvSpPr>
          <p:cNvPr id="24" name="TextBox 23"/>
          <p:cNvSpPr txBox="1"/>
          <p:nvPr/>
        </p:nvSpPr>
        <p:spPr>
          <a:xfrm>
            <a:off x="1371600" y="4663440"/>
            <a:ext cx="4389120" cy="548640"/>
          </a:xfrm>
          <a:prstGeom prst="rect">
            <a:avLst/>
          </a:prstGeom>
          <a:noFill/>
        </p:spPr>
        <p:txBody>
          <a:bodyPr wrap="square">
            <a:spAutoFit/>
          </a:bodyPr>
          <a:lstStyle/>
          <a:p>
            <a:pPr algn="l"/>
            <a:r>
              <a:rPr sz="1000" b="0">
                <a:solidFill>
                  <a:srgbClr val="B0BCD0"/>
                </a:solidFill>
                <a:latin typeface="Calibri"/>
              </a:rPr>
              <a:t>Execution history, report archive,
scheduler run records</a:t>
            </a:r>
          </a:p>
        </p:txBody>
      </p:sp>
      <p:sp>
        <p:nvSpPr>
          <p:cNvPr id="25" name="Rounded Rectangle 24"/>
          <p:cNvSpPr/>
          <p:nvPr/>
        </p:nvSpPr>
        <p:spPr>
          <a:xfrm>
            <a:off x="6400800" y="4206240"/>
            <a:ext cx="5303520" cy="109728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37960" y="4343400"/>
            <a:ext cx="36576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400" b="1">
                <a:solidFill>
                  <a:srgbClr val="FFFFFF"/>
                </a:solidFill>
                <a:latin typeface="Calibri"/>
              </a:rPr>
              <a:t>6</a:t>
            </a:r>
          </a:p>
        </p:txBody>
      </p:sp>
      <p:sp>
        <p:nvSpPr>
          <p:cNvPr id="27" name="TextBox 26"/>
          <p:cNvSpPr txBox="1"/>
          <p:nvPr/>
        </p:nvSpPr>
        <p:spPr>
          <a:xfrm>
            <a:off x="7040880" y="4297680"/>
            <a:ext cx="4389120" cy="320040"/>
          </a:xfrm>
          <a:prstGeom prst="rect">
            <a:avLst/>
          </a:prstGeom>
          <a:noFill/>
        </p:spPr>
        <p:txBody>
          <a:bodyPr wrap="square">
            <a:spAutoFit/>
          </a:bodyPr>
          <a:lstStyle/>
          <a:p>
            <a:pPr algn="l"/>
            <a:r>
              <a:rPr sz="1400" b="1">
                <a:solidFill>
                  <a:srgbClr val="10B981"/>
                </a:solidFill>
                <a:latin typeface="Calibri"/>
              </a:rPr>
              <a:t>Secure Access</a:t>
            </a:r>
          </a:p>
        </p:txBody>
      </p:sp>
      <p:sp>
        <p:nvSpPr>
          <p:cNvPr id="28" name="TextBox 27"/>
          <p:cNvSpPr txBox="1"/>
          <p:nvPr/>
        </p:nvSpPr>
        <p:spPr>
          <a:xfrm>
            <a:off x="7040880" y="4663440"/>
            <a:ext cx="4389120" cy="548640"/>
          </a:xfrm>
          <a:prstGeom prst="rect">
            <a:avLst/>
          </a:prstGeom>
          <a:noFill/>
        </p:spPr>
        <p:txBody>
          <a:bodyPr wrap="square">
            <a:spAutoFit/>
          </a:bodyPr>
          <a:lstStyle/>
          <a:p>
            <a:pPr algn="l"/>
            <a:r>
              <a:rPr sz="1000" b="0">
                <a:solidFill>
                  <a:srgbClr val="B0BCD0"/>
                </a:solidFill>
                <a:latin typeface="Calibri"/>
              </a:rPr>
              <a:t>JWT authentication, RBAC,
admin vs viewer roles</a:t>
            </a:r>
          </a:p>
        </p:txBody>
      </p:sp>
      <p:sp>
        <p:nvSpPr>
          <p:cNvPr id="29" name="Rounded Rectangle 28"/>
          <p:cNvSpPr/>
          <p:nvPr/>
        </p:nvSpPr>
        <p:spPr>
          <a:xfrm>
            <a:off x="731520" y="5669280"/>
            <a:ext cx="10698480" cy="731520"/>
          </a:xfrm>
          <a:prstGeom prst="roundRect">
            <a:avLst/>
          </a:prstGeom>
          <a:solidFill>
            <a:srgbClr val="2A3050"/>
          </a:solidFill>
          <a:ln w="12700">
            <a:solidFill>
              <a:srgbClr val="4852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715000"/>
            <a:ext cx="2743200" cy="228600"/>
          </a:xfrm>
          <a:prstGeom prst="rect">
            <a:avLst/>
          </a:prstGeom>
          <a:noFill/>
        </p:spPr>
        <p:txBody>
          <a:bodyPr wrap="square">
            <a:spAutoFit/>
          </a:bodyPr>
          <a:lstStyle/>
          <a:p>
            <a:pPr algn="l"/>
            <a:r>
              <a:rPr sz="1000" b="1">
                <a:solidFill>
                  <a:srgbClr val="FFFFFF"/>
                </a:solidFill>
                <a:latin typeface="Calibri"/>
              </a:rPr>
              <a:t>TECHNOLOGY STACK</a:t>
            </a:r>
          </a:p>
        </p:txBody>
      </p:sp>
      <p:sp>
        <p:nvSpPr>
          <p:cNvPr id="31" name="TextBox 30"/>
          <p:cNvSpPr txBox="1"/>
          <p:nvPr/>
        </p:nvSpPr>
        <p:spPr>
          <a:xfrm>
            <a:off x="914400" y="5943600"/>
            <a:ext cx="10058400" cy="365760"/>
          </a:xfrm>
          <a:prstGeom prst="rect">
            <a:avLst/>
          </a:prstGeom>
          <a:noFill/>
        </p:spPr>
        <p:txBody>
          <a:bodyPr wrap="square">
            <a:spAutoFit/>
          </a:bodyPr>
          <a:lstStyle/>
          <a:p>
            <a:pPr algn="l"/>
            <a:r>
              <a:rPr sz="900" b="0">
                <a:solidFill>
                  <a:srgbClr val="707E96"/>
                </a:solidFill>
                <a:latin typeface="Calibri"/>
              </a:rPr>
              <a:t>Backend: FastAPI + SQLAlchemy + SQLite  •  Frontend: React + Vite + TypeScript + TailwindCSS  •  AI: Google Gemini  •  Real-time: WebSocket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640080"/>
          </a:xfrm>
          <a:prstGeom prst="rect">
            <a:avLst/>
          </a:prstGeom>
          <a:noFill/>
        </p:spPr>
        <p:txBody>
          <a:bodyPr wrap="square">
            <a:spAutoFit/>
          </a:bodyPr>
          <a:lstStyle/>
          <a:p>
            <a:pPr algn="l"/>
            <a:r>
              <a:rPr sz="3000" b="1">
                <a:solidFill>
                  <a:srgbClr val="FFFFFF"/>
                </a:solidFill>
                <a:latin typeface="Calibri"/>
              </a:rPr>
              <a:t>From POC to Automated Operations Intelligence</a:t>
            </a:r>
          </a:p>
        </p:txBody>
      </p:sp>
      <p:sp>
        <p:nvSpPr>
          <p:cNvPr id="4" name="Rectangle 3"/>
          <p:cNvSpPr/>
          <p:nvPr/>
        </p:nvSpPr>
        <p:spPr>
          <a:xfrm>
            <a:off x="731520" y="1097280"/>
            <a:ext cx="2743200" cy="381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65760"/>
          </a:xfrm>
          <a:prstGeom prst="rect">
            <a:avLst/>
          </a:prstGeom>
          <a:noFill/>
        </p:spPr>
        <p:txBody>
          <a:bodyPr wrap="square">
            <a:spAutoFit/>
          </a:bodyPr>
          <a:lstStyle/>
          <a:p>
            <a:pPr algn="l"/>
            <a:r>
              <a:rPr sz="1800" b="1">
                <a:solidFill>
                  <a:srgbClr val="10B981"/>
                </a:solidFill>
                <a:latin typeface="Calibri"/>
              </a:rPr>
              <a:t>▶  LIVE DEMO</a:t>
            </a:r>
          </a:p>
        </p:txBody>
      </p:sp>
      <p:sp>
        <p:nvSpPr>
          <p:cNvPr id="6" name="Rounded Rectangle 5"/>
          <p:cNvSpPr/>
          <p:nvPr/>
        </p:nvSpPr>
        <p:spPr>
          <a:xfrm>
            <a:off x="731520" y="1920240"/>
            <a:ext cx="5029200" cy="34747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38528"/>
            <a:ext cx="365760" cy="274320"/>
          </a:xfrm>
          <a:prstGeom prst="rect">
            <a:avLst/>
          </a:prstGeom>
          <a:noFill/>
        </p:spPr>
        <p:txBody>
          <a:bodyPr wrap="square">
            <a:spAutoFit/>
          </a:bodyPr>
          <a:lstStyle/>
          <a:p>
            <a:pPr algn="l"/>
            <a:r>
              <a:rPr sz="1000" b="1">
                <a:solidFill>
                  <a:srgbClr val="10B981"/>
                </a:solidFill>
                <a:latin typeface="Calibri"/>
              </a:rPr>
              <a:t>1.</a:t>
            </a:r>
          </a:p>
        </p:txBody>
      </p:sp>
      <p:sp>
        <p:nvSpPr>
          <p:cNvPr id="8" name="TextBox 7"/>
          <p:cNvSpPr txBox="1"/>
          <p:nvPr/>
        </p:nvSpPr>
        <p:spPr>
          <a:xfrm>
            <a:off x="1280160" y="1938528"/>
            <a:ext cx="4206240" cy="274320"/>
          </a:xfrm>
          <a:prstGeom prst="rect">
            <a:avLst/>
          </a:prstGeom>
          <a:noFill/>
        </p:spPr>
        <p:txBody>
          <a:bodyPr wrap="square">
            <a:spAutoFit/>
          </a:bodyPr>
          <a:lstStyle/>
          <a:p>
            <a:pPr algn="l"/>
            <a:r>
              <a:rPr sz="1000" b="0">
                <a:solidFill>
                  <a:srgbClr val="B0BCD0"/>
                </a:solidFill>
                <a:latin typeface="Calibri"/>
              </a:rPr>
              <a:t>Open Dashboard &amp; Review Health Score</a:t>
            </a:r>
          </a:p>
        </p:txBody>
      </p:sp>
      <p:sp>
        <p:nvSpPr>
          <p:cNvPr id="9" name="Rounded Rectangle 8"/>
          <p:cNvSpPr/>
          <p:nvPr/>
        </p:nvSpPr>
        <p:spPr>
          <a:xfrm>
            <a:off x="731520" y="2359152"/>
            <a:ext cx="5029200" cy="34747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77440"/>
            <a:ext cx="365760" cy="274320"/>
          </a:xfrm>
          <a:prstGeom prst="rect">
            <a:avLst/>
          </a:prstGeom>
          <a:noFill/>
        </p:spPr>
        <p:txBody>
          <a:bodyPr wrap="square">
            <a:spAutoFit/>
          </a:bodyPr>
          <a:lstStyle/>
          <a:p>
            <a:pPr algn="l"/>
            <a:r>
              <a:rPr sz="1000" b="1">
                <a:solidFill>
                  <a:srgbClr val="10B981"/>
                </a:solidFill>
                <a:latin typeface="Calibri"/>
              </a:rPr>
              <a:t>2.</a:t>
            </a:r>
          </a:p>
        </p:txBody>
      </p:sp>
      <p:sp>
        <p:nvSpPr>
          <p:cNvPr id="11" name="TextBox 10"/>
          <p:cNvSpPr txBox="1"/>
          <p:nvPr/>
        </p:nvSpPr>
        <p:spPr>
          <a:xfrm>
            <a:off x="1280160" y="2377440"/>
            <a:ext cx="4206240" cy="274320"/>
          </a:xfrm>
          <a:prstGeom prst="rect">
            <a:avLst/>
          </a:prstGeom>
          <a:noFill/>
        </p:spPr>
        <p:txBody>
          <a:bodyPr wrap="square">
            <a:spAutoFit/>
          </a:bodyPr>
          <a:lstStyle/>
          <a:p>
            <a:pPr algn="l"/>
            <a:r>
              <a:rPr sz="1000" b="0">
                <a:solidFill>
                  <a:srgbClr val="B0BCD0"/>
                </a:solidFill>
                <a:latin typeface="Calibri"/>
              </a:rPr>
              <a:t>Upload ITSM Dataset (CSV)</a:t>
            </a:r>
          </a:p>
        </p:txBody>
      </p:sp>
      <p:sp>
        <p:nvSpPr>
          <p:cNvPr id="12" name="Rounded Rectangle 11"/>
          <p:cNvSpPr/>
          <p:nvPr/>
        </p:nvSpPr>
        <p:spPr>
          <a:xfrm>
            <a:off x="731520" y="2798064"/>
            <a:ext cx="5029200" cy="34747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16352"/>
            <a:ext cx="365760" cy="274320"/>
          </a:xfrm>
          <a:prstGeom prst="rect">
            <a:avLst/>
          </a:prstGeom>
          <a:noFill/>
        </p:spPr>
        <p:txBody>
          <a:bodyPr wrap="square">
            <a:spAutoFit/>
          </a:bodyPr>
          <a:lstStyle/>
          <a:p>
            <a:pPr algn="l"/>
            <a:r>
              <a:rPr sz="1000" b="1">
                <a:solidFill>
                  <a:srgbClr val="10B981"/>
                </a:solidFill>
                <a:latin typeface="Calibri"/>
              </a:rPr>
              <a:t>3.</a:t>
            </a:r>
          </a:p>
        </p:txBody>
      </p:sp>
      <p:sp>
        <p:nvSpPr>
          <p:cNvPr id="14" name="TextBox 13"/>
          <p:cNvSpPr txBox="1"/>
          <p:nvPr/>
        </p:nvSpPr>
        <p:spPr>
          <a:xfrm>
            <a:off x="1280160" y="2816352"/>
            <a:ext cx="4206240" cy="274320"/>
          </a:xfrm>
          <a:prstGeom prst="rect">
            <a:avLst/>
          </a:prstGeom>
          <a:noFill/>
        </p:spPr>
        <p:txBody>
          <a:bodyPr wrap="square">
            <a:spAutoFit/>
          </a:bodyPr>
          <a:lstStyle/>
          <a:p>
            <a:pPr algn="l"/>
            <a:r>
              <a:rPr sz="1000" b="0">
                <a:solidFill>
                  <a:srgbClr val="B0BCD0"/>
                </a:solidFill>
                <a:latin typeface="Calibri"/>
              </a:rPr>
              <a:t>Watch Dashboard Update in Real-Time</a:t>
            </a:r>
          </a:p>
        </p:txBody>
      </p:sp>
      <p:sp>
        <p:nvSpPr>
          <p:cNvPr id="15" name="Rounded Rectangle 14"/>
          <p:cNvSpPr/>
          <p:nvPr/>
        </p:nvSpPr>
        <p:spPr>
          <a:xfrm>
            <a:off x="731520" y="3236976"/>
            <a:ext cx="5029200" cy="34747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55264"/>
            <a:ext cx="365760" cy="274320"/>
          </a:xfrm>
          <a:prstGeom prst="rect">
            <a:avLst/>
          </a:prstGeom>
          <a:noFill/>
        </p:spPr>
        <p:txBody>
          <a:bodyPr wrap="square">
            <a:spAutoFit/>
          </a:bodyPr>
          <a:lstStyle/>
          <a:p>
            <a:pPr algn="l"/>
            <a:r>
              <a:rPr sz="1000" b="1">
                <a:solidFill>
                  <a:srgbClr val="10B981"/>
                </a:solidFill>
                <a:latin typeface="Calibri"/>
              </a:rPr>
              <a:t>4.</a:t>
            </a:r>
          </a:p>
        </p:txBody>
      </p:sp>
      <p:sp>
        <p:nvSpPr>
          <p:cNvPr id="17" name="TextBox 16"/>
          <p:cNvSpPr txBox="1"/>
          <p:nvPr/>
        </p:nvSpPr>
        <p:spPr>
          <a:xfrm>
            <a:off x="1280160" y="3255264"/>
            <a:ext cx="4206240" cy="274320"/>
          </a:xfrm>
          <a:prstGeom prst="rect">
            <a:avLst/>
          </a:prstGeom>
          <a:noFill/>
        </p:spPr>
        <p:txBody>
          <a:bodyPr wrap="square">
            <a:spAutoFit/>
          </a:bodyPr>
          <a:lstStyle/>
          <a:p>
            <a:pPr algn="l"/>
            <a:r>
              <a:rPr sz="1000" b="0">
                <a:solidFill>
                  <a:srgbClr val="B0BCD0"/>
                </a:solidFill>
                <a:latin typeface="Calibri"/>
              </a:rPr>
              <a:t>Explore Incident / Problem / Change / SLA Metrics</a:t>
            </a:r>
          </a:p>
        </p:txBody>
      </p:sp>
      <p:sp>
        <p:nvSpPr>
          <p:cNvPr id="18" name="Rounded Rectangle 17"/>
          <p:cNvSpPr/>
          <p:nvPr/>
        </p:nvSpPr>
        <p:spPr>
          <a:xfrm>
            <a:off x="731520" y="3675888"/>
            <a:ext cx="5029200" cy="34747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94176"/>
            <a:ext cx="365760" cy="274320"/>
          </a:xfrm>
          <a:prstGeom prst="rect">
            <a:avLst/>
          </a:prstGeom>
          <a:noFill/>
        </p:spPr>
        <p:txBody>
          <a:bodyPr wrap="square">
            <a:spAutoFit/>
          </a:bodyPr>
          <a:lstStyle/>
          <a:p>
            <a:pPr algn="l"/>
            <a:r>
              <a:rPr sz="1000" b="1">
                <a:solidFill>
                  <a:srgbClr val="10B981"/>
                </a:solidFill>
                <a:latin typeface="Calibri"/>
              </a:rPr>
              <a:t>5.</a:t>
            </a:r>
          </a:p>
        </p:txBody>
      </p:sp>
      <p:sp>
        <p:nvSpPr>
          <p:cNvPr id="20" name="TextBox 19"/>
          <p:cNvSpPr txBox="1"/>
          <p:nvPr/>
        </p:nvSpPr>
        <p:spPr>
          <a:xfrm>
            <a:off x="1280160" y="3694176"/>
            <a:ext cx="4206240" cy="274320"/>
          </a:xfrm>
          <a:prstGeom prst="rect">
            <a:avLst/>
          </a:prstGeom>
          <a:noFill/>
        </p:spPr>
        <p:txBody>
          <a:bodyPr wrap="square">
            <a:spAutoFit/>
          </a:bodyPr>
          <a:lstStyle/>
          <a:p>
            <a:pPr algn="l"/>
            <a:r>
              <a:rPr sz="1000" b="0">
                <a:solidFill>
                  <a:srgbClr val="B0BCD0"/>
                </a:solidFill>
                <a:latin typeface="Calibri"/>
              </a:rPr>
              <a:t>Ask AI: "Why did incidents increase?"</a:t>
            </a:r>
          </a:p>
        </p:txBody>
      </p:sp>
      <p:sp>
        <p:nvSpPr>
          <p:cNvPr id="21" name="Rounded Rectangle 20"/>
          <p:cNvSpPr/>
          <p:nvPr/>
        </p:nvSpPr>
        <p:spPr>
          <a:xfrm>
            <a:off x="731520" y="4114800"/>
            <a:ext cx="5029200" cy="347472"/>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33088"/>
            <a:ext cx="365760" cy="274320"/>
          </a:xfrm>
          <a:prstGeom prst="rect">
            <a:avLst/>
          </a:prstGeom>
          <a:noFill/>
        </p:spPr>
        <p:txBody>
          <a:bodyPr wrap="square">
            <a:spAutoFit/>
          </a:bodyPr>
          <a:lstStyle/>
          <a:p>
            <a:pPr algn="l"/>
            <a:r>
              <a:rPr sz="1000" b="1">
                <a:solidFill>
                  <a:srgbClr val="10B981"/>
                </a:solidFill>
                <a:latin typeface="Calibri"/>
              </a:rPr>
              <a:t>6.</a:t>
            </a:r>
          </a:p>
        </p:txBody>
      </p:sp>
      <p:sp>
        <p:nvSpPr>
          <p:cNvPr id="23" name="TextBox 22"/>
          <p:cNvSpPr txBox="1"/>
          <p:nvPr/>
        </p:nvSpPr>
        <p:spPr>
          <a:xfrm>
            <a:off x="1280160" y="4133088"/>
            <a:ext cx="4206240" cy="274320"/>
          </a:xfrm>
          <a:prstGeom prst="rect">
            <a:avLst/>
          </a:prstGeom>
          <a:noFill/>
        </p:spPr>
        <p:txBody>
          <a:bodyPr wrap="square">
            <a:spAutoFit/>
          </a:bodyPr>
          <a:lstStyle/>
          <a:p>
            <a:pPr algn="l"/>
            <a:r>
              <a:rPr sz="1000" b="0">
                <a:solidFill>
                  <a:srgbClr val="B0BCD0"/>
                </a:solidFill>
                <a:latin typeface="Calibri"/>
              </a:rPr>
              <a:t>View Evidence-Backed AI Response</a:t>
            </a:r>
          </a:p>
        </p:txBody>
      </p:sp>
      <p:sp>
        <p:nvSpPr>
          <p:cNvPr id="24" name="Rounded Rectangle 23"/>
          <p:cNvSpPr/>
          <p:nvPr/>
        </p:nvSpPr>
        <p:spPr>
          <a:xfrm>
            <a:off x="731520" y="4553712"/>
            <a:ext cx="5029200" cy="347472"/>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72000"/>
            <a:ext cx="365760" cy="274320"/>
          </a:xfrm>
          <a:prstGeom prst="rect">
            <a:avLst/>
          </a:prstGeom>
          <a:noFill/>
        </p:spPr>
        <p:txBody>
          <a:bodyPr wrap="square">
            <a:spAutoFit/>
          </a:bodyPr>
          <a:lstStyle/>
          <a:p>
            <a:pPr algn="l"/>
            <a:r>
              <a:rPr sz="1000" b="1">
                <a:solidFill>
                  <a:srgbClr val="10B981"/>
                </a:solidFill>
                <a:latin typeface="Calibri"/>
              </a:rPr>
              <a:t>7.</a:t>
            </a:r>
          </a:p>
        </p:txBody>
      </p:sp>
      <p:sp>
        <p:nvSpPr>
          <p:cNvPr id="26" name="TextBox 25"/>
          <p:cNvSpPr txBox="1"/>
          <p:nvPr/>
        </p:nvSpPr>
        <p:spPr>
          <a:xfrm>
            <a:off x="1280160" y="4572000"/>
            <a:ext cx="4206240" cy="274320"/>
          </a:xfrm>
          <a:prstGeom prst="rect">
            <a:avLst/>
          </a:prstGeom>
          <a:noFill/>
        </p:spPr>
        <p:txBody>
          <a:bodyPr wrap="square">
            <a:spAutoFit/>
          </a:bodyPr>
          <a:lstStyle/>
          <a:p>
            <a:pPr algn="l"/>
            <a:r>
              <a:rPr sz="1000" b="0">
                <a:solidFill>
                  <a:srgbClr val="B0BCD0"/>
                </a:solidFill>
                <a:latin typeface="Calibri"/>
              </a:rPr>
              <a:t>Generate Weekly Executive Report</a:t>
            </a:r>
          </a:p>
        </p:txBody>
      </p:sp>
      <p:sp>
        <p:nvSpPr>
          <p:cNvPr id="27" name="Rounded Rectangle 26"/>
          <p:cNvSpPr/>
          <p:nvPr/>
        </p:nvSpPr>
        <p:spPr>
          <a:xfrm>
            <a:off x="731520" y="4992624"/>
            <a:ext cx="5029200" cy="347472"/>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010912"/>
            <a:ext cx="365760" cy="274320"/>
          </a:xfrm>
          <a:prstGeom prst="rect">
            <a:avLst/>
          </a:prstGeom>
          <a:noFill/>
        </p:spPr>
        <p:txBody>
          <a:bodyPr wrap="square">
            <a:spAutoFit/>
          </a:bodyPr>
          <a:lstStyle/>
          <a:p>
            <a:pPr algn="l"/>
            <a:r>
              <a:rPr sz="1000" b="1">
                <a:solidFill>
                  <a:srgbClr val="10B981"/>
                </a:solidFill>
                <a:latin typeface="Calibri"/>
              </a:rPr>
              <a:t>8.</a:t>
            </a:r>
          </a:p>
        </p:txBody>
      </p:sp>
      <p:sp>
        <p:nvSpPr>
          <p:cNvPr id="29" name="TextBox 28"/>
          <p:cNvSpPr txBox="1"/>
          <p:nvPr/>
        </p:nvSpPr>
        <p:spPr>
          <a:xfrm>
            <a:off x="1280160" y="5010912"/>
            <a:ext cx="4206240" cy="274320"/>
          </a:xfrm>
          <a:prstGeom prst="rect">
            <a:avLst/>
          </a:prstGeom>
          <a:noFill/>
        </p:spPr>
        <p:txBody>
          <a:bodyPr wrap="square">
            <a:spAutoFit/>
          </a:bodyPr>
          <a:lstStyle/>
          <a:p>
            <a:pPr algn="l"/>
            <a:r>
              <a:rPr sz="1000" b="0">
                <a:solidFill>
                  <a:srgbClr val="B0BCD0"/>
                </a:solidFill>
                <a:latin typeface="Calibri"/>
              </a:rPr>
              <a:t>Open Generated PDF Report</a:t>
            </a:r>
          </a:p>
        </p:txBody>
      </p:sp>
      <p:sp>
        <p:nvSpPr>
          <p:cNvPr id="30" name="Rounded Rectangle 29"/>
          <p:cNvSpPr/>
          <p:nvPr/>
        </p:nvSpPr>
        <p:spPr>
          <a:xfrm>
            <a:off x="731520" y="5431536"/>
            <a:ext cx="5029200" cy="347472"/>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449824"/>
            <a:ext cx="365760" cy="274320"/>
          </a:xfrm>
          <a:prstGeom prst="rect">
            <a:avLst/>
          </a:prstGeom>
          <a:noFill/>
        </p:spPr>
        <p:txBody>
          <a:bodyPr wrap="square">
            <a:spAutoFit/>
          </a:bodyPr>
          <a:lstStyle/>
          <a:p>
            <a:pPr algn="l"/>
            <a:r>
              <a:rPr sz="1000" b="1">
                <a:solidFill>
                  <a:srgbClr val="10B981"/>
                </a:solidFill>
                <a:latin typeface="Calibri"/>
              </a:rPr>
              <a:t>9.</a:t>
            </a:r>
          </a:p>
        </p:txBody>
      </p:sp>
      <p:sp>
        <p:nvSpPr>
          <p:cNvPr id="32" name="TextBox 31"/>
          <p:cNvSpPr txBox="1"/>
          <p:nvPr/>
        </p:nvSpPr>
        <p:spPr>
          <a:xfrm>
            <a:off x="1280160" y="5449824"/>
            <a:ext cx="4206240" cy="274320"/>
          </a:xfrm>
          <a:prstGeom prst="rect">
            <a:avLst/>
          </a:prstGeom>
          <a:noFill/>
        </p:spPr>
        <p:txBody>
          <a:bodyPr wrap="square">
            <a:spAutoFit/>
          </a:bodyPr>
          <a:lstStyle/>
          <a:p>
            <a:pPr algn="l"/>
            <a:r>
              <a:rPr sz="1000" b="0">
                <a:solidFill>
                  <a:srgbClr val="B0BCD0"/>
                </a:solidFill>
                <a:latin typeface="Calibri"/>
              </a:rPr>
              <a:t>Review Scheduler &amp; Execution History</a:t>
            </a:r>
          </a:p>
        </p:txBody>
      </p:sp>
      <p:sp>
        <p:nvSpPr>
          <p:cNvPr id="33" name="Rounded Rectangle 32"/>
          <p:cNvSpPr/>
          <p:nvPr/>
        </p:nvSpPr>
        <p:spPr>
          <a:xfrm>
            <a:off x="731520" y="5870448"/>
            <a:ext cx="5029200" cy="347472"/>
          </a:xfrm>
          <a:prstGeom prst="roundRect">
            <a:avLst/>
          </a:prstGeom>
          <a:solidFill>
            <a:srgbClr val="1A2035"/>
          </a:solidFill>
          <a:ln w="12700">
            <a:solidFill>
              <a:srgbClr val="00E5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888736"/>
            <a:ext cx="365760" cy="274320"/>
          </a:xfrm>
          <a:prstGeom prst="rect">
            <a:avLst/>
          </a:prstGeom>
          <a:noFill/>
        </p:spPr>
        <p:txBody>
          <a:bodyPr wrap="square">
            <a:spAutoFit/>
          </a:bodyPr>
          <a:lstStyle/>
          <a:p>
            <a:pPr algn="l"/>
            <a:r>
              <a:rPr sz="1000" b="1">
                <a:solidFill>
                  <a:srgbClr val="10B981"/>
                </a:solidFill>
                <a:latin typeface="Calibri"/>
              </a:rPr>
              <a:t>10.</a:t>
            </a:r>
          </a:p>
        </p:txBody>
      </p:sp>
      <p:sp>
        <p:nvSpPr>
          <p:cNvPr id="35" name="TextBox 34"/>
          <p:cNvSpPr txBox="1"/>
          <p:nvPr/>
        </p:nvSpPr>
        <p:spPr>
          <a:xfrm>
            <a:off x="1280160" y="5888736"/>
            <a:ext cx="4206240" cy="274320"/>
          </a:xfrm>
          <a:prstGeom prst="rect">
            <a:avLst/>
          </a:prstGeom>
          <a:noFill/>
        </p:spPr>
        <p:txBody>
          <a:bodyPr wrap="square">
            <a:spAutoFit/>
          </a:bodyPr>
          <a:lstStyle/>
          <a:p>
            <a:pPr algn="l"/>
            <a:r>
              <a:rPr sz="1000" b="0">
                <a:solidFill>
                  <a:srgbClr val="B0BCD0"/>
                </a:solidFill>
                <a:latin typeface="Calibri"/>
              </a:rPr>
              <a:t>Show Notification Configuration</a:t>
            </a:r>
          </a:p>
        </p:txBody>
      </p:sp>
      <p:sp>
        <p:nvSpPr>
          <p:cNvPr id="36" name="TextBox 35"/>
          <p:cNvSpPr txBox="1"/>
          <p:nvPr/>
        </p:nvSpPr>
        <p:spPr>
          <a:xfrm>
            <a:off x="6400800" y="1463040"/>
            <a:ext cx="5029200" cy="365760"/>
          </a:xfrm>
          <a:prstGeom prst="rect">
            <a:avLst/>
          </a:prstGeom>
          <a:noFill/>
        </p:spPr>
        <p:txBody>
          <a:bodyPr wrap="square">
            <a:spAutoFit/>
          </a:bodyPr>
          <a:lstStyle/>
          <a:p>
            <a:pPr algn="l"/>
            <a:r>
              <a:rPr sz="1800" b="1">
                <a:solidFill>
                  <a:srgbClr val="8B5CF6"/>
                </a:solidFill>
                <a:latin typeface="Calibri"/>
              </a:rPr>
              <a:t>→  FUTURE ROADMAP</a:t>
            </a:r>
          </a:p>
        </p:txBody>
      </p:sp>
      <p:sp>
        <p:nvSpPr>
          <p:cNvPr id="37" name="Rounded Rectangle 36"/>
          <p:cNvSpPr/>
          <p:nvPr/>
        </p:nvSpPr>
        <p:spPr>
          <a:xfrm>
            <a:off x="6400800" y="1920240"/>
            <a:ext cx="5029200" cy="54864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1947672"/>
            <a:ext cx="4572000" cy="274320"/>
          </a:xfrm>
          <a:prstGeom prst="rect">
            <a:avLst/>
          </a:prstGeom>
          <a:noFill/>
        </p:spPr>
        <p:txBody>
          <a:bodyPr wrap="square">
            <a:spAutoFit/>
          </a:bodyPr>
          <a:lstStyle/>
          <a:p>
            <a:pPr algn="l"/>
            <a:r>
              <a:rPr sz="1200" b="1">
                <a:solidFill>
                  <a:srgbClr val="8B5CF6"/>
                </a:solidFill>
                <a:latin typeface="Calibri"/>
              </a:rPr>
              <a:t>ServiceNow Live Integration</a:t>
            </a:r>
          </a:p>
        </p:txBody>
      </p:sp>
      <p:sp>
        <p:nvSpPr>
          <p:cNvPr id="39" name="TextBox 38"/>
          <p:cNvSpPr txBox="1"/>
          <p:nvPr/>
        </p:nvSpPr>
        <p:spPr>
          <a:xfrm>
            <a:off x="6583680" y="2194560"/>
            <a:ext cx="4572000" cy="228600"/>
          </a:xfrm>
          <a:prstGeom prst="rect">
            <a:avLst/>
          </a:prstGeom>
          <a:noFill/>
        </p:spPr>
        <p:txBody>
          <a:bodyPr wrap="square">
            <a:spAutoFit/>
          </a:bodyPr>
          <a:lstStyle/>
          <a:p>
            <a:pPr algn="l"/>
            <a:r>
              <a:rPr sz="900" b="0">
                <a:solidFill>
                  <a:srgbClr val="707E96"/>
                </a:solidFill>
                <a:latin typeface="Calibri"/>
              </a:rPr>
              <a:t>Direct API connection to production ITSM</a:t>
            </a:r>
          </a:p>
        </p:txBody>
      </p:sp>
      <p:sp>
        <p:nvSpPr>
          <p:cNvPr id="40" name="Rounded Rectangle 39"/>
          <p:cNvSpPr/>
          <p:nvPr/>
        </p:nvSpPr>
        <p:spPr>
          <a:xfrm>
            <a:off x="6400800" y="2606040"/>
            <a:ext cx="5029200" cy="54864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2633472"/>
            <a:ext cx="4572000" cy="274320"/>
          </a:xfrm>
          <a:prstGeom prst="rect">
            <a:avLst/>
          </a:prstGeom>
          <a:noFill/>
        </p:spPr>
        <p:txBody>
          <a:bodyPr wrap="square">
            <a:spAutoFit/>
          </a:bodyPr>
          <a:lstStyle/>
          <a:p>
            <a:pPr algn="l"/>
            <a:r>
              <a:rPr sz="1200" b="1">
                <a:solidFill>
                  <a:srgbClr val="8B5CF6"/>
                </a:solidFill>
                <a:latin typeface="Calibri"/>
              </a:rPr>
              <a:t>Additional ITSM Sources</a:t>
            </a:r>
          </a:p>
        </p:txBody>
      </p:sp>
      <p:sp>
        <p:nvSpPr>
          <p:cNvPr id="42" name="TextBox 41"/>
          <p:cNvSpPr txBox="1"/>
          <p:nvPr/>
        </p:nvSpPr>
        <p:spPr>
          <a:xfrm>
            <a:off x="6583680" y="2880360"/>
            <a:ext cx="4572000" cy="228600"/>
          </a:xfrm>
          <a:prstGeom prst="rect">
            <a:avLst/>
          </a:prstGeom>
          <a:noFill/>
        </p:spPr>
        <p:txBody>
          <a:bodyPr wrap="square">
            <a:spAutoFit/>
          </a:bodyPr>
          <a:lstStyle/>
          <a:p>
            <a:pPr algn="l"/>
            <a:r>
              <a:rPr sz="900" b="0">
                <a:solidFill>
                  <a:srgbClr val="707E96"/>
                </a:solidFill>
                <a:latin typeface="Calibri"/>
              </a:rPr>
              <a:t>Jira, PagerDuty, Datadog, Splunk</a:t>
            </a:r>
          </a:p>
        </p:txBody>
      </p:sp>
      <p:sp>
        <p:nvSpPr>
          <p:cNvPr id="43" name="Rounded Rectangle 42"/>
          <p:cNvSpPr/>
          <p:nvPr/>
        </p:nvSpPr>
        <p:spPr>
          <a:xfrm>
            <a:off x="6400800" y="3291840"/>
            <a:ext cx="5029200" cy="54864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3319272"/>
            <a:ext cx="4572000" cy="274320"/>
          </a:xfrm>
          <a:prstGeom prst="rect">
            <a:avLst/>
          </a:prstGeom>
          <a:noFill/>
        </p:spPr>
        <p:txBody>
          <a:bodyPr wrap="square">
            <a:spAutoFit/>
          </a:bodyPr>
          <a:lstStyle/>
          <a:p>
            <a:pPr algn="l"/>
            <a:r>
              <a:rPr sz="1200" b="1">
                <a:solidFill>
                  <a:srgbClr val="8B5CF6"/>
                </a:solidFill>
                <a:latin typeface="Calibri"/>
              </a:rPr>
              <a:t>Predictive Intelligence</a:t>
            </a:r>
          </a:p>
        </p:txBody>
      </p:sp>
      <p:sp>
        <p:nvSpPr>
          <p:cNvPr id="45" name="TextBox 44"/>
          <p:cNvSpPr txBox="1"/>
          <p:nvPr/>
        </p:nvSpPr>
        <p:spPr>
          <a:xfrm>
            <a:off x="6583680" y="3566160"/>
            <a:ext cx="4572000" cy="228600"/>
          </a:xfrm>
          <a:prstGeom prst="rect">
            <a:avLst/>
          </a:prstGeom>
          <a:noFill/>
        </p:spPr>
        <p:txBody>
          <a:bodyPr wrap="square">
            <a:spAutoFit/>
          </a:bodyPr>
          <a:lstStyle/>
          <a:p>
            <a:pPr algn="l"/>
            <a:r>
              <a:rPr sz="900" b="0">
                <a:solidFill>
                  <a:srgbClr val="707E96"/>
                </a:solidFill>
                <a:latin typeface="Calibri"/>
              </a:rPr>
              <a:t>ML-based incident volume forecasting</a:t>
            </a:r>
          </a:p>
        </p:txBody>
      </p:sp>
      <p:sp>
        <p:nvSpPr>
          <p:cNvPr id="46" name="Rounded Rectangle 45"/>
          <p:cNvSpPr/>
          <p:nvPr/>
        </p:nvSpPr>
        <p:spPr>
          <a:xfrm>
            <a:off x="6400800" y="3977640"/>
            <a:ext cx="5029200" cy="54864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0" y="4005072"/>
            <a:ext cx="4572000" cy="274320"/>
          </a:xfrm>
          <a:prstGeom prst="rect">
            <a:avLst/>
          </a:prstGeom>
          <a:noFill/>
        </p:spPr>
        <p:txBody>
          <a:bodyPr wrap="square">
            <a:spAutoFit/>
          </a:bodyPr>
          <a:lstStyle/>
          <a:p>
            <a:pPr algn="l"/>
            <a:r>
              <a:rPr sz="1200" b="1">
                <a:solidFill>
                  <a:srgbClr val="8B5CF6"/>
                </a:solidFill>
                <a:latin typeface="Calibri"/>
              </a:rPr>
              <a:t>Advanced AI Agents</a:t>
            </a:r>
          </a:p>
        </p:txBody>
      </p:sp>
      <p:sp>
        <p:nvSpPr>
          <p:cNvPr id="48" name="TextBox 47"/>
          <p:cNvSpPr txBox="1"/>
          <p:nvPr/>
        </p:nvSpPr>
        <p:spPr>
          <a:xfrm>
            <a:off x="6583680" y="4251960"/>
            <a:ext cx="4572000" cy="228600"/>
          </a:xfrm>
          <a:prstGeom prst="rect">
            <a:avLst/>
          </a:prstGeom>
          <a:noFill/>
        </p:spPr>
        <p:txBody>
          <a:bodyPr wrap="square">
            <a:spAutoFit/>
          </a:bodyPr>
          <a:lstStyle/>
          <a:p>
            <a:pPr algn="l"/>
            <a:r>
              <a:rPr sz="900" b="0">
                <a:solidFill>
                  <a:srgbClr val="707E96"/>
                </a:solidFill>
                <a:latin typeface="Calibri"/>
              </a:rPr>
              <a:t>Autonomous operational recommendations</a:t>
            </a:r>
          </a:p>
        </p:txBody>
      </p:sp>
      <p:sp>
        <p:nvSpPr>
          <p:cNvPr id="49" name="Rounded Rectangle 48"/>
          <p:cNvSpPr/>
          <p:nvPr/>
        </p:nvSpPr>
        <p:spPr>
          <a:xfrm>
            <a:off x="6400800" y="4663440"/>
            <a:ext cx="5029200" cy="54864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80" y="4690872"/>
            <a:ext cx="4572000" cy="274320"/>
          </a:xfrm>
          <a:prstGeom prst="rect">
            <a:avLst/>
          </a:prstGeom>
          <a:noFill/>
        </p:spPr>
        <p:txBody>
          <a:bodyPr wrap="square">
            <a:spAutoFit/>
          </a:bodyPr>
          <a:lstStyle/>
          <a:p>
            <a:pPr algn="l"/>
            <a:r>
              <a:rPr sz="1200" b="1">
                <a:solidFill>
                  <a:srgbClr val="8B5CF6"/>
                </a:solidFill>
                <a:latin typeface="Calibri"/>
              </a:rPr>
              <a:t>Enterprise Scale</a:t>
            </a:r>
          </a:p>
        </p:txBody>
      </p:sp>
      <p:sp>
        <p:nvSpPr>
          <p:cNvPr id="51" name="TextBox 50"/>
          <p:cNvSpPr txBox="1"/>
          <p:nvPr/>
        </p:nvSpPr>
        <p:spPr>
          <a:xfrm>
            <a:off x="6583680" y="4937760"/>
            <a:ext cx="4572000" cy="228600"/>
          </a:xfrm>
          <a:prstGeom prst="rect">
            <a:avLst/>
          </a:prstGeom>
          <a:noFill/>
        </p:spPr>
        <p:txBody>
          <a:bodyPr wrap="square">
            <a:spAutoFit/>
          </a:bodyPr>
          <a:lstStyle/>
          <a:p>
            <a:pPr algn="l"/>
            <a:r>
              <a:rPr sz="900" b="0">
                <a:solidFill>
                  <a:srgbClr val="707E96"/>
                </a:solidFill>
                <a:latin typeface="Calibri"/>
              </a:rPr>
              <a:t>Multi-tenant, PostgreSQL, cloud deployment</a:t>
            </a:r>
          </a:p>
        </p:txBody>
      </p:sp>
      <p:sp>
        <p:nvSpPr>
          <p:cNvPr id="52" name="Rounded Rectangle 51"/>
          <p:cNvSpPr/>
          <p:nvPr/>
        </p:nvSpPr>
        <p:spPr>
          <a:xfrm>
            <a:off x="6400800" y="5349240"/>
            <a:ext cx="5029200" cy="54864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3680" y="5376672"/>
            <a:ext cx="4572000" cy="274320"/>
          </a:xfrm>
          <a:prstGeom prst="rect">
            <a:avLst/>
          </a:prstGeom>
          <a:noFill/>
        </p:spPr>
        <p:txBody>
          <a:bodyPr wrap="square">
            <a:spAutoFit/>
          </a:bodyPr>
          <a:lstStyle/>
          <a:p>
            <a:pPr algn="l"/>
            <a:r>
              <a:rPr sz="1200" b="1">
                <a:solidFill>
                  <a:srgbClr val="8B5CF6"/>
                </a:solidFill>
                <a:latin typeface="Calibri"/>
              </a:rPr>
              <a:t>Executive Mobile View</a:t>
            </a:r>
          </a:p>
        </p:txBody>
      </p:sp>
      <p:sp>
        <p:nvSpPr>
          <p:cNvPr id="54" name="TextBox 53"/>
          <p:cNvSpPr txBox="1"/>
          <p:nvPr/>
        </p:nvSpPr>
        <p:spPr>
          <a:xfrm>
            <a:off x="6583680" y="5623560"/>
            <a:ext cx="4572000" cy="228600"/>
          </a:xfrm>
          <a:prstGeom prst="rect">
            <a:avLst/>
          </a:prstGeom>
          <a:noFill/>
        </p:spPr>
        <p:txBody>
          <a:bodyPr wrap="square">
            <a:spAutoFit/>
          </a:bodyPr>
          <a:lstStyle/>
          <a:p>
            <a:pPr algn="l"/>
            <a:r>
              <a:rPr sz="900" b="0">
                <a:solidFill>
                  <a:srgbClr val="707E96"/>
                </a:solidFill>
                <a:latin typeface="Calibri"/>
              </a:rPr>
              <a:t>Leadership access on mobile devices</a:t>
            </a:r>
          </a:p>
        </p:txBody>
      </p:sp>
      <p:sp>
        <p:nvSpPr>
          <p:cNvPr id="55" name="Rounded Rectangle 54"/>
          <p:cNvSpPr/>
          <p:nvPr/>
        </p:nvSpPr>
        <p:spPr>
          <a:xfrm>
            <a:off x="731520" y="6400800"/>
            <a:ext cx="1828800" cy="25603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a:solidFill>
                  <a:srgbClr val="FFFFFF"/>
                </a:solidFill>
                <a:latin typeface="Calibri"/>
              </a:rPr>
              <a:t>CURRENT POC</a:t>
            </a:r>
          </a:p>
        </p:txBody>
      </p:sp>
      <p:sp>
        <p:nvSpPr>
          <p:cNvPr id="56" name="Rounded Rectangle 55"/>
          <p:cNvSpPr/>
          <p:nvPr/>
        </p:nvSpPr>
        <p:spPr>
          <a:xfrm>
            <a:off x="6400800" y="6400800"/>
            <a:ext cx="1828800"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a:solidFill>
                  <a:srgbClr val="FFFFFF"/>
                </a:solidFill>
                <a:latin typeface="Calibri"/>
              </a:rPr>
              <a:t>FUTURE ROADMAP</a:t>
            </a:r>
          </a:p>
        </p:txBody>
      </p:sp>
      <p:sp>
        <p:nvSpPr>
          <p:cNvPr id="57" name="TextBox 56"/>
          <p:cNvSpPr txBox="1"/>
          <p:nvPr/>
        </p:nvSpPr>
        <p:spPr>
          <a:xfrm>
            <a:off x="3200400" y="6400800"/>
            <a:ext cx="5486400" cy="274320"/>
          </a:xfrm>
          <a:prstGeom prst="rect">
            <a:avLst/>
          </a:prstGeom>
          <a:noFill/>
        </p:spPr>
        <p:txBody>
          <a:bodyPr wrap="square">
            <a:spAutoFit/>
          </a:bodyPr>
          <a:lstStyle/>
          <a:p>
            <a:pPr algn="ctr"/>
            <a:r>
              <a:rPr sz="1100" b="0">
                <a:solidFill>
                  <a:srgbClr val="707E96"/>
                </a:solidFill>
                <a:latin typeface="Calibri"/>
              </a:rPr>
              <a:t>Rather than showing you another diagram, let me show you the system working.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50800" cy="2743200"/>
          </a:xfrm>
          <a:prstGeom prst="rect">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914400"/>
          </a:xfrm>
          <a:prstGeom prst="rect">
            <a:avLst/>
          </a:prstGeom>
          <a:noFill/>
        </p:spPr>
        <p:txBody>
          <a:bodyPr wrap="square">
            <a:spAutoFit/>
          </a:bodyPr>
          <a:lstStyle/>
          <a:p>
            <a:pPr algn="l"/>
            <a:r>
              <a:rPr sz="3600" b="1">
                <a:solidFill>
                  <a:srgbClr val="FFFFFF"/>
                </a:solidFill>
                <a:latin typeface="Calibri"/>
              </a:rPr>
              <a:t>The Vision</a:t>
            </a:r>
          </a:p>
        </p:txBody>
      </p:sp>
      <p:sp>
        <p:nvSpPr>
          <p:cNvPr id="5" name="TextBox 4"/>
          <p:cNvSpPr txBox="1"/>
          <p:nvPr/>
        </p:nvSpPr>
        <p:spPr>
          <a:xfrm>
            <a:off x="1371600" y="2743200"/>
            <a:ext cx="9144000" cy="914400"/>
          </a:xfrm>
          <a:prstGeom prst="rect">
            <a:avLst/>
          </a:prstGeom>
          <a:noFill/>
        </p:spPr>
        <p:txBody>
          <a:bodyPr wrap="square">
            <a:spAutoFit/>
          </a:bodyPr>
          <a:lstStyle/>
          <a:p>
            <a:pPr algn="l"/>
            <a:r>
              <a:rPr sz="2400" b="0">
                <a:solidFill>
                  <a:srgbClr val="009EFF"/>
                </a:solidFill>
                <a:latin typeface="Calibri Light"/>
              </a:rPr>
              <a:t>From reporting what happened
to understanding what matters next.</a:t>
            </a:r>
          </a:p>
        </p:txBody>
      </p:sp>
      <p:sp>
        <p:nvSpPr>
          <p:cNvPr id="6" name="Rounded Rectangle 5"/>
          <p:cNvSpPr/>
          <p:nvPr/>
        </p:nvSpPr>
        <p:spPr>
          <a:xfrm>
            <a:off x="1371600" y="4389120"/>
            <a:ext cx="2011680" cy="640080"/>
          </a:xfrm>
          <a:prstGeom prst="roundRect">
            <a:avLst/>
          </a:prstGeom>
          <a:solidFill>
            <a:srgbClr val="1A2035"/>
          </a:solidFill>
          <a:ln w="12700">
            <a:solidFill>
              <a:srgbClr val="B0BC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480560"/>
            <a:ext cx="2011680" cy="457200"/>
          </a:xfrm>
          <a:prstGeom prst="rect">
            <a:avLst/>
          </a:prstGeom>
          <a:noFill/>
        </p:spPr>
        <p:txBody>
          <a:bodyPr wrap="square">
            <a:spAutoFit/>
          </a:bodyPr>
          <a:lstStyle/>
          <a:p>
            <a:pPr algn="ctr"/>
            <a:r>
              <a:rPr sz="1600" b="1">
                <a:solidFill>
                  <a:srgbClr val="B0BCD0"/>
                </a:solidFill>
                <a:latin typeface="Calibri"/>
              </a:rPr>
              <a:t>DATA</a:t>
            </a:r>
          </a:p>
        </p:txBody>
      </p:sp>
      <p:sp>
        <p:nvSpPr>
          <p:cNvPr id="8" name="Right Arrow 7"/>
          <p:cNvSpPr/>
          <p:nvPr/>
        </p:nvSpPr>
        <p:spPr>
          <a:xfrm>
            <a:off x="3429000" y="4617720"/>
            <a:ext cx="365760" cy="182880"/>
          </a:xfrm>
          <a:prstGeom prst="rightArrow">
            <a:avLst/>
          </a:prstGeom>
          <a:solidFill>
            <a:srgbClr val="B0BC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931920" y="4389120"/>
            <a:ext cx="2011680" cy="640080"/>
          </a:xfrm>
          <a:prstGeom prst="roundRect">
            <a:avLst/>
          </a:prstGeom>
          <a:solidFill>
            <a:srgbClr val="1A2035"/>
          </a:solidFill>
          <a:ln w="12700">
            <a:solidFill>
              <a:srgbClr val="009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4480560"/>
            <a:ext cx="2011680" cy="457200"/>
          </a:xfrm>
          <a:prstGeom prst="rect">
            <a:avLst/>
          </a:prstGeom>
          <a:noFill/>
        </p:spPr>
        <p:txBody>
          <a:bodyPr wrap="square">
            <a:spAutoFit/>
          </a:bodyPr>
          <a:lstStyle/>
          <a:p>
            <a:pPr algn="ctr"/>
            <a:r>
              <a:rPr sz="1600" b="1">
                <a:solidFill>
                  <a:srgbClr val="009EFF"/>
                </a:solidFill>
                <a:latin typeface="Calibri"/>
              </a:rPr>
              <a:t>INTELLIGENCE</a:t>
            </a:r>
          </a:p>
        </p:txBody>
      </p:sp>
      <p:sp>
        <p:nvSpPr>
          <p:cNvPr id="11" name="Right Arrow 10"/>
          <p:cNvSpPr/>
          <p:nvPr/>
        </p:nvSpPr>
        <p:spPr>
          <a:xfrm>
            <a:off x="5989320" y="4617720"/>
            <a:ext cx="365760" cy="182880"/>
          </a:xfrm>
          <a:prstGeom prst="rightArrow">
            <a:avLst/>
          </a:prstGeom>
          <a:solidFill>
            <a:srgbClr val="00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92240" y="4389120"/>
            <a:ext cx="2011680" cy="640080"/>
          </a:xfrm>
          <a:prstGeom prst="roundRect">
            <a:avLst/>
          </a:prstGeom>
          <a:solidFill>
            <a:srgbClr val="1A20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480560"/>
            <a:ext cx="2011680" cy="457200"/>
          </a:xfrm>
          <a:prstGeom prst="rect">
            <a:avLst/>
          </a:prstGeom>
          <a:noFill/>
        </p:spPr>
        <p:txBody>
          <a:bodyPr wrap="square">
            <a:spAutoFit/>
          </a:bodyPr>
          <a:lstStyle/>
          <a:p>
            <a:pPr algn="ctr"/>
            <a:r>
              <a:rPr sz="1600" b="1">
                <a:solidFill>
                  <a:srgbClr val="8B5CF6"/>
                </a:solidFill>
                <a:latin typeface="Calibri"/>
              </a:rPr>
              <a:t>DECISION</a:t>
            </a:r>
          </a:p>
        </p:txBody>
      </p:sp>
      <p:sp>
        <p:nvSpPr>
          <p:cNvPr id="14" name="Right Arrow 13"/>
          <p:cNvSpPr/>
          <p:nvPr/>
        </p:nvSpPr>
        <p:spPr>
          <a:xfrm>
            <a:off x="8549640" y="4617720"/>
            <a:ext cx="365760" cy="18288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52560" y="4389120"/>
            <a:ext cx="2011680" cy="640080"/>
          </a:xfrm>
          <a:prstGeom prst="roundRect">
            <a:avLst/>
          </a:prstGeom>
          <a:solidFill>
            <a:srgbClr val="1A20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4480560"/>
            <a:ext cx="2011680" cy="457200"/>
          </a:xfrm>
          <a:prstGeom prst="rect">
            <a:avLst/>
          </a:prstGeom>
          <a:noFill/>
        </p:spPr>
        <p:txBody>
          <a:bodyPr wrap="square">
            <a:spAutoFit/>
          </a:bodyPr>
          <a:lstStyle/>
          <a:p>
            <a:pPr algn="ctr"/>
            <a:r>
              <a:rPr sz="1600" b="1">
                <a:solidFill>
                  <a:srgbClr val="10B981"/>
                </a:solidFill>
                <a:latin typeface="Calibri"/>
              </a:rPr>
              <a:t>ACTION</a:t>
            </a:r>
          </a:p>
        </p:txBody>
      </p:sp>
      <p:sp>
        <p:nvSpPr>
          <p:cNvPr id="17" name="TextBox 16"/>
          <p:cNvSpPr txBox="1"/>
          <p:nvPr/>
        </p:nvSpPr>
        <p:spPr>
          <a:xfrm>
            <a:off x="1371600" y="5303520"/>
            <a:ext cx="9144000" cy="457200"/>
          </a:xfrm>
          <a:prstGeom prst="rect">
            <a:avLst/>
          </a:prstGeom>
          <a:noFill/>
        </p:spPr>
        <p:txBody>
          <a:bodyPr wrap="square">
            <a:spAutoFit/>
          </a:bodyPr>
          <a:lstStyle/>
          <a:p>
            <a:pPr algn="ctr"/>
            <a:r>
              <a:rPr sz="1200" b="0">
                <a:solidFill>
                  <a:srgbClr val="48526A"/>
                </a:solidFill>
                <a:latin typeface="Calibri"/>
              </a:rPr>
              <a:t>OPSINTEL  •  AI-Powered Automated IT Operations Reporting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